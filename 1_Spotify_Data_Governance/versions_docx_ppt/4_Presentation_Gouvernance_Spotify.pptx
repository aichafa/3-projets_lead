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L'ENJEU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agir maintenant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E7F0F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Silos de données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fragmentées entre départements, sans source unique de vérité.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25112" y="160020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E7F0FB"/>
          </a:solidFill>
          <a:ln/>
        </p:spPr>
      </p:sp>
      <p:sp>
        <p:nvSpPr>
          <p:cNvPr id="8" name="Text 6"/>
          <p:cNvSpPr/>
          <p:nvPr/>
        </p:nvSpPr>
        <p:spPr>
          <a:xfrm>
            <a:off x="4553712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53712" y="21945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RGPD, CCPA et PCI-DSS à respecter sur un périmètre mondial.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01584" y="160020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E7F0FB"/>
          </a:solidFill>
          <a:ln/>
        </p:spPr>
      </p:sp>
      <p:sp>
        <p:nvSpPr>
          <p:cNvPr id="11" name="Text 9"/>
          <p:cNvSpPr/>
          <p:nvPr/>
        </p:nvSpPr>
        <p:spPr>
          <a:xfrm>
            <a:off x="8330184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30184" y="21945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qualité des données conditionne la pertinence des recommandations.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11091672" cy="2194560"/>
          </a:xfrm>
          <a:prstGeom prst="roundRect">
            <a:avLst>
              <a:gd name="adj" fmla="val 3750"/>
            </a:avLst>
          </a:prstGeom>
          <a:solidFill>
            <a:srgbClr val="F1EFE8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97764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 / 5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3931920" y="4069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Maturité de gouvernance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931920" y="4526280"/>
            <a:ext cx="7406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forte maturité technique (architecture et analytique à 4 sur 5) mais une maturité organisationnelle plus faible sur la gouvernance, la conformité, l'accessibilité et l'intégration des données.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objectifs et leur valeur métier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1915"/>
            </a:avLst>
          </a:prstGeom>
          <a:solidFill>
            <a:srgbClr val="E7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Améliorer la qualité des données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Assurer la conformité réglementaire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Protéger la vie privée des utilisateurs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Décloisonner l'accès aux données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45352" y="1600200"/>
            <a:ext cx="5394960" cy="4297680"/>
          </a:xfrm>
          <a:prstGeom prst="roundRect">
            <a:avLst>
              <a:gd name="adj" fmla="val 1915"/>
            </a:avLst>
          </a:prstGeom>
          <a:solidFill>
            <a:srgbClr val="F1EFE8"/>
          </a:solidFill>
          <a:ln/>
        </p:spPr>
      </p:sp>
      <p:sp>
        <p:nvSpPr>
          <p:cNvPr id="8" name="Text 6"/>
          <p:cNvSpPr/>
          <p:nvPr/>
        </p:nvSpPr>
        <p:spPr>
          <a:xfrm>
            <a:off x="6565392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métier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65392" y="233172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décisions fondées sur des données fiables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conformité maîtrisée, moins de risques de sanctions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confiance des utilisateurs préservée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organisation prête à passer à l'échelle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CADRE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cadre fondé sur neuf principes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916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Responsabilité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25112" y="16916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</p:sp>
      <p:sp>
        <p:nvSpPr>
          <p:cNvPr id="7" name="Text 5"/>
          <p:cNvSpPr/>
          <p:nvPr/>
        </p:nvSpPr>
        <p:spPr>
          <a:xfrm>
            <a:off x="4462272" y="16916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101584" y="16916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</p:sp>
      <p:sp>
        <p:nvSpPr>
          <p:cNvPr id="9" name="Text 7"/>
          <p:cNvSpPr/>
          <p:nvPr/>
        </p:nvSpPr>
        <p:spPr>
          <a:xfrm>
            <a:off x="8238744" y="16916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25112" y="30632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4462272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101584" y="30632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</p:sp>
      <p:sp>
        <p:nvSpPr>
          <p:cNvPr id="15" name="Text 13"/>
          <p:cNvSpPr/>
          <p:nvPr/>
        </p:nvSpPr>
        <p:spPr>
          <a:xfrm>
            <a:off x="8238744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Minimisation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44348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des utilisateurs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25112" y="44348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</p:sp>
      <p:sp>
        <p:nvSpPr>
          <p:cNvPr id="19" name="Text 17"/>
          <p:cNvSpPr/>
          <p:nvPr/>
        </p:nvSpPr>
        <p:spPr>
          <a:xfrm>
            <a:off x="4462272" y="44348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Amélioration continue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01584" y="44348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</p:sp>
      <p:sp>
        <p:nvSpPr>
          <p:cNvPr id="21" name="Text 19"/>
          <p:cNvSpPr/>
          <p:nvPr/>
        </p:nvSpPr>
        <p:spPr>
          <a:xfrm>
            <a:off x="8238744" y="44348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éthique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 et responsabilités</a:t>
            </a:r>
            <a:endParaRPr lang="en-US" sz="2800" dirty="0"/>
          </a:p>
        </p:txBody>
      </p:sp>
      <p:pic>
        <p:nvPicPr>
          <p:cNvPr id="4" name="Image 0" descr="/home/claude/org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498080" cy="4389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75320" y="1508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Responsabilités clés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75320" y="1965960"/>
            <a:ext cx="34290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CDO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stratégie de gouvernance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Comité de gouvernance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validation des politiques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 et juridique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conformité et risques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Stewards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qualité et accès par domaine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Steward IA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biais et données d'entraînement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métier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propriétaires des données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ŒUVRE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mise en œuvre progressive</a:t>
            </a:r>
            <a:endParaRPr lang="en-US" sz="2800" dirty="0"/>
          </a:p>
        </p:txBody>
      </p:sp>
      <p:pic>
        <p:nvPicPr>
          <p:cNvPr id="4" name="Image 0" descr="/home/claude/trajec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234440"/>
            <a:ext cx="8778240" cy="25328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023360"/>
            <a:ext cx="5486400" cy="2286000"/>
          </a:xfrm>
          <a:prstGeom prst="roundRect">
            <a:avLst>
              <a:gd name="adj" fmla="val 3600"/>
            </a:avLst>
          </a:prstGeom>
          <a:solidFill>
            <a:srgbClr val="E7F0FB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4206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— outils du marché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22960" y="461772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Collibra — catalogue de données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Ataccama ONE — qualité des données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OneTrust — conformité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— sécurité et supervision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45352" y="402336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F1EFE8"/>
          </a:solidFill>
          <a:ln/>
        </p:spPr>
      </p:sp>
      <p:sp>
        <p:nvSpPr>
          <p:cNvPr id="9" name="Text 6"/>
          <p:cNvSpPr/>
          <p:nvPr/>
        </p:nvSpPr>
        <p:spPr>
          <a:xfrm>
            <a:off x="6519672" y="4206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Construire — avantage propre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519672" y="461772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algorithmique — moteur de recommandation et surveillance des biais — est développé en interne, car c'est ce qui différencie Spotify.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pilote ciblé, des résultats mesurables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669280" cy="4297680"/>
          </a:xfrm>
          <a:prstGeom prst="roundRect">
            <a:avLst>
              <a:gd name="adj" fmla="val 1915"/>
            </a:avLst>
          </a:prstGeom>
          <a:solidFill>
            <a:srgbClr val="E7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pilote : métadonnées de contenu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5120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: les données décrivant morceaux et podcasts, qui alimentent la recommandation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: qualité, conformité, décloisonnement de l'accès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: responsable de pilote, Data Steward, DPO, profil technique, métier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Jalons : lancement, nettoyage, audit, mise en place, revue, bilan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519672" y="1600200"/>
            <a:ext cx="5120640" cy="4297680"/>
          </a:xfrm>
          <a:prstGeom prst="roundRect">
            <a:avLst>
              <a:gd name="adj" fmla="val 1915"/>
            </a:avLst>
          </a:prstGeom>
          <a:solidFill>
            <a:srgbClr val="F1EFE8"/>
          </a:solidFill>
          <a:ln/>
        </p:spPr>
      </p:sp>
      <p:sp>
        <p:nvSpPr>
          <p:cNvPr id="8" name="Text 6"/>
          <p:cNvSpPr/>
          <p:nvPr/>
        </p:nvSpPr>
        <p:spPr>
          <a:xfrm>
            <a:off x="6839712" y="1828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de réussite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839712" y="2331720"/>
            <a:ext cx="45720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des Data Stewards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conformité (RGPD, CCPA, PCI-DSS)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des données par dimension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des jeux couverts par un contrat de données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de correction des anomalies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et décision attendue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3840480"/>
          </a:xfrm>
          <a:prstGeom prst="roundRect">
            <a:avLst>
              <a:gd name="adj" fmla="val 2143"/>
            </a:avLst>
          </a:prstGeom>
          <a:solidFill>
            <a:srgbClr val="E7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le cadre apporte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fiables et décloisonnées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conformité maîtrisée à l'échelle mondiale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confiance des utilisateurs préservée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gouvernance prête à passer à l'échelle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45352" y="160020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1EFE8"/>
          </a:solidFill>
          <a:ln/>
        </p:spPr>
      </p:sp>
      <p:sp>
        <p:nvSpPr>
          <p:cNvPr id="8" name="Text 6"/>
          <p:cNvSpPr/>
          <p:nvPr/>
        </p:nvSpPr>
        <p:spPr>
          <a:xfrm>
            <a:off x="6565392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65392" y="233172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le cadre et lancer la phase 1 (socle centralisé)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Démarrer le pilote sur les métadonnées de contenu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Mesurer, puis étendre au reste de l'organisation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2026-08-13T14:57:47Z</dcterms:created>
  <dcterms:modified xsi:type="dcterms:W3CDTF">2026-08-13T14:57:47Z</dcterms:modified>
</cp:coreProperties>
</file>