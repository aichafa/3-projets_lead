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53822"/>
            <a:ext cx="5080000" cy="228600"/>
          </a:xfrm>
          <a:prstGeom prst="rect">
            <a:avLst/>
          </a:prstGeom>
          <a:noFill/>
          <a:ln/>
        </p:spPr>
        <p:txBody>
          <a:bodyPr wrap="square" lIns="0" tIns="0" rIns="0" bIns="0" rtlCol="0" anchor="t"/>
          <a:lstStyle/>
          <a:p>
            <a:pPr indent="0" marL="0">
              <a:buNone/>
            </a:pPr>
            <a:r>
              <a:rPr lang="en-US" sz="1200" b="1" spc="200" kern="0" dirty="0">
                <a:solidFill>
                  <a:srgbClr val="2E5496"/>
                </a:solidFill>
                <a:latin typeface="Calibri" pitchFamily="34" charset="0"/>
                <a:ea typeface="Calibri" pitchFamily="34" charset="-122"/>
                <a:cs typeface="Calibri" pitchFamily="34" charset="-120"/>
              </a:rPr>
              <a:t>PROJET SPOTIFY</a:t>
            </a:r>
            <a:endParaRPr lang="en-US" sz="1200" dirty="0"/>
          </a:p>
        </p:txBody>
      </p:sp>
      <p:sp>
        <p:nvSpPr>
          <p:cNvPr id="3" name="Text 1"/>
          <p:cNvSpPr txBox="1"/>
          <p:nvPr/>
        </p:nvSpPr>
        <p:spPr>
          <a:xfrm>
            <a:off x="502920" y="662940"/>
            <a:ext cx="10922000" cy="571500"/>
          </a:xfrm>
          <a:prstGeom prst="rect">
            <a:avLst/>
          </a:prstGeom>
          <a:noFill/>
          <a:ln/>
        </p:spPr>
        <p:txBody>
          <a:bodyPr wrap="square" lIns="0" tIns="0" rIns="0" bIns="0" rtlCol="0" anchor="t"/>
          <a:lstStyle/>
          <a:p>
            <a:pPr indent="0" marL="0">
              <a:buNone/>
            </a:pPr>
            <a:r>
              <a:rPr lang="en-US" sz="3000" b="1" dirty="0">
                <a:solidFill>
                  <a:srgbClr val="1F3864"/>
                </a:solidFill>
                <a:latin typeface="Calibri" pitchFamily="34" charset="0"/>
                <a:ea typeface="Calibri" pitchFamily="34" charset="-122"/>
                <a:cs typeface="Calibri" pitchFamily="34" charset="-120"/>
              </a:rPr>
              <a:t>Organigramme des rôles et responsabilités</a:t>
            </a:r>
            <a:endParaRPr lang="en-US" sz="3000" dirty="0"/>
          </a:p>
        </p:txBody>
      </p:sp>
      <p:pic>
        <p:nvPicPr>
          <p:cNvPr id="4" name="Image 0" descr="Organigramme : CDO, comité de gouvernance, DPO et équipe juridique, puis directions métier et Data Stewards">    </p:cNvPr>
          <p:cNvPicPr>
            <a:picLocks noChangeAspect="1"/>
          </p:cNvPicPr>
          <p:nvPr/>
        </p:nvPicPr>
        <p:blipFill>
          <a:blip r:embed="rId1"/>
          <a:stretch>
            <a:fillRect/>
          </a:stretch>
        </p:blipFill>
        <p:spPr>
          <a:xfrm>
            <a:off x="457200" y="1371600"/>
            <a:ext cx="7498080" cy="4389120"/>
          </a:xfrm>
          <a:prstGeom prst="rect">
            <a:avLst/>
          </a:prstGeom>
        </p:spPr>
      </p:pic>
      <p:sp>
        <p:nvSpPr>
          <p:cNvPr id="5" name="Text 2"/>
          <p:cNvSpPr txBox="1"/>
          <p:nvPr/>
        </p:nvSpPr>
        <p:spPr>
          <a:xfrm>
            <a:off x="8276590" y="1470025"/>
            <a:ext cx="3683000" cy="285750"/>
          </a:xfrm>
          <a:prstGeom prst="rect">
            <a:avLst/>
          </a:prstGeom>
          <a:noFill/>
          <a:ln/>
        </p:spPr>
        <p:txBody>
          <a:bodyPr wrap="square" lIns="0" tIns="0" rIns="0" bIns="0" rtlCol="0" anchor="t"/>
          <a:lstStyle/>
          <a:p>
            <a:pPr indent="0" marL="0">
              <a:buNone/>
            </a:pPr>
            <a:r>
              <a:rPr lang="en-US" sz="1500" b="1" dirty="0">
                <a:solidFill>
                  <a:srgbClr val="2E5496"/>
                </a:solidFill>
                <a:latin typeface="Calibri" pitchFamily="34" charset="0"/>
                <a:ea typeface="Calibri" pitchFamily="34" charset="-122"/>
                <a:cs typeface="Calibri" pitchFamily="34" charset="-120"/>
              </a:rPr>
              <a:t>Responsabilités clés</a:t>
            </a:r>
            <a:endParaRPr lang="en-US" sz="1500" dirty="0"/>
          </a:p>
        </p:txBody>
      </p:sp>
      <p:sp>
        <p:nvSpPr>
          <p:cNvPr id="6" name="Text 3"/>
          <p:cNvSpPr txBox="1"/>
          <p:nvPr/>
        </p:nvSpPr>
        <p:spPr>
          <a:xfrm>
            <a:off x="8276590" y="18634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CDO</a:t>
            </a:r>
            <a:pPr indent="0" marL="0">
              <a:buNone/>
            </a:pPr>
            <a:r>
              <a:rPr lang="en-US" sz="1250" dirty="0">
                <a:solidFill>
                  <a:srgbClr val="222222"/>
                </a:solidFill>
                <a:latin typeface="Calibri" pitchFamily="34" charset="0"/>
                <a:ea typeface="Calibri" pitchFamily="34" charset="-122"/>
                <a:cs typeface="Calibri" pitchFamily="34" charset="-120"/>
              </a:rPr>
              <a:t>  stratégie et arbitrages de gouvernance</a:t>
            </a:r>
            <a:endParaRPr lang="en-US" sz="1250" dirty="0"/>
          </a:p>
        </p:txBody>
      </p:sp>
      <p:sp>
        <p:nvSpPr>
          <p:cNvPr id="7" name="Text 4"/>
          <p:cNvSpPr txBox="1"/>
          <p:nvPr/>
        </p:nvSpPr>
        <p:spPr>
          <a:xfrm>
            <a:off x="8276590" y="21682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Comité de gouvernance</a:t>
            </a:r>
            <a:pPr indent="0" marL="0">
              <a:buNone/>
            </a:pPr>
            <a:r>
              <a:rPr lang="en-US" sz="1250" dirty="0">
                <a:solidFill>
                  <a:srgbClr val="222222"/>
                </a:solidFill>
                <a:latin typeface="Calibri" pitchFamily="34" charset="0"/>
                <a:ea typeface="Calibri" pitchFamily="34" charset="-122"/>
                <a:cs typeface="Calibri" pitchFamily="34" charset="-120"/>
              </a:rPr>
              <a:t>  validation des politiques</a:t>
            </a:r>
            <a:endParaRPr lang="en-US" sz="1250" dirty="0"/>
          </a:p>
        </p:txBody>
      </p:sp>
      <p:sp>
        <p:nvSpPr>
          <p:cNvPr id="8" name="Text 5"/>
          <p:cNvSpPr txBox="1"/>
          <p:nvPr/>
        </p:nvSpPr>
        <p:spPr>
          <a:xfrm>
            <a:off x="8276590" y="24730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DPO</a:t>
            </a:r>
            <a:pPr indent="0" marL="0">
              <a:buNone/>
            </a:pPr>
            <a:r>
              <a:rPr lang="en-US" sz="1250" dirty="0">
                <a:solidFill>
                  <a:srgbClr val="222222"/>
                </a:solidFill>
                <a:latin typeface="Calibri" pitchFamily="34" charset="0"/>
                <a:ea typeface="Calibri" pitchFamily="34" charset="-122"/>
                <a:cs typeface="Calibri" pitchFamily="34" charset="-120"/>
              </a:rPr>
              <a:t>  conformité RGPD, CCPA</a:t>
            </a:r>
            <a:endParaRPr lang="en-US" sz="1250" dirty="0"/>
          </a:p>
        </p:txBody>
      </p:sp>
      <p:sp>
        <p:nvSpPr>
          <p:cNvPr id="9" name="Text 6"/>
          <p:cNvSpPr txBox="1"/>
          <p:nvPr/>
        </p:nvSpPr>
        <p:spPr>
          <a:xfrm>
            <a:off x="8276590" y="27778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Équipe juridique</a:t>
            </a:r>
            <a:pPr indent="0" marL="0">
              <a:buNone/>
            </a:pPr>
            <a:r>
              <a:rPr lang="en-US" sz="1250" dirty="0">
                <a:solidFill>
                  <a:srgbClr val="222222"/>
                </a:solidFill>
                <a:latin typeface="Calibri" pitchFamily="34" charset="0"/>
                <a:ea typeface="Calibri" pitchFamily="34" charset="-122"/>
                <a:cs typeface="Calibri" pitchFamily="34" charset="-120"/>
              </a:rPr>
              <a:t>  conseil légal et gestion des risques</a:t>
            </a:r>
            <a:endParaRPr lang="en-US" sz="1250" dirty="0"/>
          </a:p>
        </p:txBody>
      </p:sp>
      <p:sp>
        <p:nvSpPr>
          <p:cNvPr id="10" name="Text 7"/>
          <p:cNvSpPr txBox="1"/>
          <p:nvPr/>
        </p:nvSpPr>
        <p:spPr>
          <a:xfrm>
            <a:off x="8276590" y="30826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Data Stewards</a:t>
            </a:r>
            <a:pPr indent="0" marL="0">
              <a:buNone/>
            </a:pPr>
            <a:r>
              <a:rPr lang="en-US" sz="1250" dirty="0">
                <a:solidFill>
                  <a:srgbClr val="222222"/>
                </a:solidFill>
                <a:latin typeface="Calibri" pitchFamily="34" charset="0"/>
                <a:ea typeface="Calibri" pitchFamily="34" charset="-122"/>
                <a:cs typeface="Calibri" pitchFamily="34" charset="-120"/>
              </a:rPr>
              <a:t>  qualité et accès par domaine</a:t>
            </a:r>
            <a:endParaRPr lang="en-US" sz="1250" dirty="0"/>
          </a:p>
        </p:txBody>
      </p:sp>
      <p:sp>
        <p:nvSpPr>
          <p:cNvPr id="11" name="Text 8"/>
          <p:cNvSpPr txBox="1"/>
          <p:nvPr/>
        </p:nvSpPr>
        <p:spPr>
          <a:xfrm>
            <a:off x="8276590" y="33874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Responsable ingénierie</a:t>
            </a:r>
            <a:pPr indent="0" marL="0">
              <a:buNone/>
            </a:pPr>
            <a:r>
              <a:rPr lang="en-US" sz="1250" dirty="0">
                <a:solidFill>
                  <a:srgbClr val="222222"/>
                </a:solidFill>
                <a:latin typeface="Calibri" pitchFamily="34" charset="0"/>
                <a:ea typeface="Calibri" pitchFamily="34" charset="-122"/>
                <a:cs typeface="Calibri" pitchFamily="34" charset="-120"/>
              </a:rPr>
              <a:t>  infrastructure et sécurité</a:t>
            </a:r>
            <a:endParaRPr lang="en-US" sz="1250" dirty="0"/>
          </a:p>
        </p:txBody>
      </p:sp>
      <p:sp>
        <p:nvSpPr>
          <p:cNvPr id="12" name="Text 9"/>
          <p:cNvSpPr txBox="1"/>
          <p:nvPr/>
        </p:nvSpPr>
        <p:spPr>
          <a:xfrm>
            <a:off x="8276590" y="36922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Directeur marketing</a:t>
            </a:r>
            <a:pPr indent="0" marL="0">
              <a:buNone/>
            </a:pPr>
            <a:r>
              <a:rPr lang="en-US" sz="1250" dirty="0">
                <a:solidFill>
                  <a:srgbClr val="222222"/>
                </a:solidFill>
                <a:latin typeface="Calibri" pitchFamily="34" charset="0"/>
                <a:ea typeface="Calibri" pitchFamily="34" charset="-122"/>
                <a:cs typeface="Calibri" pitchFamily="34" charset="-120"/>
              </a:rPr>
              <a:t>  données marketing conformes</a:t>
            </a:r>
            <a:endParaRPr lang="en-US" sz="1250" dirty="0"/>
          </a:p>
        </p:txBody>
      </p:sp>
      <p:sp>
        <p:nvSpPr>
          <p:cNvPr id="13" name="Text 10"/>
          <p:cNvSpPr txBox="1"/>
          <p:nvPr/>
        </p:nvSpPr>
        <p:spPr>
          <a:xfrm>
            <a:off x="8276590" y="3997008"/>
            <a:ext cx="3683000" cy="238125"/>
          </a:xfrm>
          <a:prstGeom prst="rect">
            <a:avLst/>
          </a:prstGeom>
          <a:noFill/>
          <a:ln/>
        </p:spPr>
        <p:txBody>
          <a:bodyPr wrap="square" lIns="0" tIns="0" rIns="0" bIns="0" rtlCol="0" anchor="t"/>
          <a:lstStyle/>
          <a:p>
            <a:pPr indent="0" marL="0">
              <a:buNone/>
            </a:pPr>
            <a:r>
              <a:rPr lang="en-US" sz="1250" b="1" dirty="0">
                <a:solidFill>
                  <a:srgbClr val="1F3864"/>
                </a:solidFill>
                <a:latin typeface="Calibri" pitchFamily="34" charset="0"/>
                <a:ea typeface="Calibri" pitchFamily="34" charset="-122"/>
                <a:cs typeface="Calibri" pitchFamily="34" charset="-120"/>
              </a:rPr>
              <a:t>Chefs de produit</a:t>
            </a:r>
            <a:pPr indent="0" marL="0">
              <a:buNone/>
            </a:pPr>
            <a:r>
              <a:rPr lang="en-US" sz="1250" dirty="0">
                <a:solidFill>
                  <a:srgbClr val="222222"/>
                </a:solidFill>
                <a:latin typeface="Calibri" pitchFamily="34" charset="0"/>
                <a:ea typeface="Calibri" pitchFamily="34" charset="-122"/>
                <a:cs typeface="Calibri" pitchFamily="34" charset="-120"/>
              </a:rPr>
              <a:t>  données produit fiables</a:t>
            </a:r>
            <a:endParaRPr lang="en-US" sz="1250" dirty="0"/>
          </a:p>
        </p:txBody>
      </p:sp>
      <p:sp>
        <p:nvSpPr>
          <p:cNvPr id="14" name="Text 11"/>
          <p:cNvSpPr txBox="1"/>
          <p:nvPr/>
        </p:nvSpPr>
        <p:spPr>
          <a:xfrm>
            <a:off x="502920" y="5932996"/>
            <a:ext cx="11150600" cy="355600"/>
          </a:xfrm>
          <a:prstGeom prst="rect">
            <a:avLst/>
          </a:prstGeom>
          <a:noFill/>
          <a:ln/>
        </p:spPr>
        <p:txBody>
          <a:bodyPr wrap="square" lIns="0" tIns="0" rIns="0" bIns="0" rtlCol="0" anchor="t"/>
          <a:lstStyle/>
          <a:p>
            <a:pPr algn="just" indent="0" marL="0">
              <a:lnSpc>
                <a:spcPts val="1260"/>
              </a:lnSpc>
              <a:buNone/>
            </a:pPr>
            <a:r>
              <a:rPr lang="en-US" sz="1050" b="1" dirty="0">
                <a:solidFill>
                  <a:srgbClr val="2E5496"/>
                </a:solidFill>
                <a:latin typeface="Calibri" pitchFamily="34" charset="0"/>
                <a:ea typeface="Calibri" pitchFamily="34" charset="-122"/>
                <a:cs typeface="Calibri" pitchFamily="34" charset="-120"/>
              </a:rPr>
              <a:t>Note 1.  </a:t>
            </a:r>
            <a:pPr algn="just" indent="0" marL="0">
              <a:lnSpc>
                <a:spcPts val="1260"/>
              </a:lnSpc>
              <a:buNone/>
            </a:pPr>
            <a:r>
              <a:rPr lang="en-US" sz="1050" i="1" dirty="0">
                <a:solidFill>
                  <a:srgbClr val="595959"/>
                </a:solidFill>
                <a:latin typeface="Calibri" pitchFamily="34" charset="0"/>
                <a:ea typeface="Calibri" pitchFamily="34" charset="-122"/>
                <a:cs typeface="Calibri" pitchFamily="34" charset="-120"/>
              </a:rPr>
              <a:t>Les Data Stewards sont rattachés fonctionnellement aux directions métier (ingénierie, marketing, produit) pour garantir la qualité au plus près de la donnée, tout en restant coordonnés par le comité de gouvernance afin de préserver une source unique de vérité.</a:t>
            </a:r>
            <a:endParaRPr lang="en-US" sz="1050" dirty="0"/>
          </a:p>
        </p:txBody>
      </p:sp>
      <p:sp>
        <p:nvSpPr>
          <p:cNvPr id="15" name="Text 12"/>
          <p:cNvSpPr txBox="1"/>
          <p:nvPr/>
        </p:nvSpPr>
        <p:spPr>
          <a:xfrm>
            <a:off x="502920" y="6303836"/>
            <a:ext cx="11150600" cy="355600"/>
          </a:xfrm>
          <a:prstGeom prst="rect">
            <a:avLst/>
          </a:prstGeom>
          <a:noFill/>
          <a:ln/>
        </p:spPr>
        <p:txBody>
          <a:bodyPr wrap="square" lIns="0" tIns="0" rIns="0" bIns="0" rtlCol="0" anchor="t"/>
          <a:lstStyle/>
          <a:p>
            <a:pPr algn="just" indent="0" marL="0">
              <a:lnSpc>
                <a:spcPts val="1260"/>
              </a:lnSpc>
              <a:buNone/>
            </a:pPr>
            <a:r>
              <a:rPr lang="en-US" sz="1050" b="1" dirty="0">
                <a:solidFill>
                  <a:srgbClr val="2E5496"/>
                </a:solidFill>
                <a:latin typeface="Calibri" pitchFamily="34" charset="0"/>
                <a:ea typeface="Calibri" pitchFamily="34" charset="-122"/>
                <a:cs typeface="Calibri" pitchFamily="34" charset="-120"/>
              </a:rPr>
              <a:t>Note 2.  </a:t>
            </a:r>
            <a:pPr algn="just" indent="0" marL="0">
              <a:lnSpc>
                <a:spcPts val="1260"/>
              </a:lnSpc>
              <a:buNone/>
            </a:pPr>
            <a:r>
              <a:rPr lang="en-US" sz="1050" i="1" dirty="0">
                <a:solidFill>
                  <a:srgbClr val="595959"/>
                </a:solidFill>
                <a:latin typeface="Calibri" pitchFamily="34" charset="0"/>
                <a:ea typeface="Calibri" pitchFamily="34" charset="-122"/>
                <a:cs typeface="Calibri" pitchFamily="34" charset="-120"/>
              </a:rPr>
              <a:t>La curation de contenu et les algorithmes de recommandation disposent d'un Data Steward dédié, chargé de surveiller les biais et la qualité des données d'entraînement, en cohérence avec le principe d'usage éthique.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Organigramme des rôles et responsabilités</dc:title>
  <dc:subject>PptxGenJS Presentation</dc:subject>
  <dc:creator>Aïcha Fathellah</dc:creator>
  <cp:lastModifiedBy>Aïcha Fathellah</cp:lastModifiedBy>
  <cp:revision>1</cp:revision>
  <dcterms:created xsi:type="dcterms:W3CDTF">2026-10-11T15:25:33Z</dcterms:created>
  <dcterms:modified xsi:type="dcterms:W3CDTF">2026-10-11T15:25:33Z</dcterms:modified>
</cp:coreProperties>
</file>