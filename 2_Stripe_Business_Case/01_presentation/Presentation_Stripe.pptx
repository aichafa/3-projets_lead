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ésentation" id="{E2B54CF2-6B3D-1C60-A7BE-8088D0B69AA9}">
          <p14:sldIdLst>
            <p14:sldId id="256"/>
            <p14:sldId id="257"/>
            <p14:sldId id="258"/>
            <p14:sldId id="259"/>
            <p14:sldId id="260"/>
            <p14:sldId id="261"/>
            <p14:sldId id="262"/>
            <p14:sldId id="263"/>
          </p14:sldIdLst>
        </p14:section>
        <p14:section name="Annexes" id="{24CD40A6-EAC9-FA15-6EAB-ADF06CB82A7A}">
          <p14:sldIdLst>
            <p14:sldId id="264"/>
            <p14:sldId id="265"/>
            <p14:sldId id="266"/>
            <p14:sldId id="267"/>
            <p14:sldId id="268"/>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0" d="100"/>
          <a:sy n="120" d="100"/>
        </p:scale>
        <p:origin x="198"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400" b="0" i="0" u="none" strike="noStrike">
                <a:solidFill>
                  <a:srgbClr val="1F3864"/>
                </a:solidFill>
                <a:latin typeface="+mn-lt"/>
              </a:defRPr>
            </a:pPr>
            <a:r>
              <a:rPr lang="fr-FR" sz="1400" b="0" i="0" u="none" strike="noStrike">
                <a:solidFill>
                  <a:srgbClr val="1F3864"/>
                </a:solidFill>
                <a:latin typeface="+mn-lt"/>
              </a:rPr>
              <a:t>Part de litiges pour fraude selon la décision du modèle (%)</a:t>
            </a:r>
          </a:p>
        </c:rich>
      </c:tx>
      <c:overlay val="0"/>
    </c:title>
    <c:autoTitleDeleted val="0"/>
    <c:plotArea>
      <c:layout/>
      <c:barChart>
        <c:barDir val="col"/>
        <c:grouping val="clustered"/>
        <c:varyColors val="0"/>
        <c:ser>
          <c:idx val="0"/>
          <c:order val="0"/>
          <c:tx>
            <c:strRef>
              <c:f>Sheet1!$B$1</c:f>
              <c:strCache>
                <c:ptCount val="1"/>
                <c:pt idx="0">
                  <c:v>Part de litiges pour fraude</c:v>
                </c:pt>
              </c:strCache>
            </c:strRef>
          </c:tx>
          <c:spPr>
            <a:solidFill>
              <a:srgbClr val="7030A0"/>
            </a:solidFill>
            <a:effectLst/>
          </c:spPr>
          <c:invertIfNegative val="0"/>
          <c:dLbls>
            <c:numFmt formatCode="0.00" sourceLinked="0"/>
            <c:spPr>
              <a:noFill/>
              <a:ln>
                <a:noFill/>
              </a:ln>
              <a:effectLst/>
            </c:spPr>
            <c:txPr>
              <a:bodyPr/>
              <a:lstStyle/>
              <a:p>
                <a:pPr>
                  <a:defRPr sz="1400" b="0" i="0" u="none" strike="noStrike">
                    <a:solidFill>
                      <a:srgbClr val="262626"/>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Bloquer (0,8 et plus)</c:v>
                </c:pt>
                <c:pt idx="1">
                  <c:v>Vérifier (0,5 à 0,8)</c:v>
                </c:pt>
                <c:pt idx="2">
                  <c:v>Accepter (moins de 0,5)</c:v>
                </c:pt>
              </c:strCache>
            </c:strRef>
          </c:cat>
          <c:val>
            <c:numRef>
              <c:f>Sheet1!$B$2:$B$4</c:f>
              <c:numCache>
                <c:formatCode>General</c:formatCode>
                <c:ptCount val="3"/>
                <c:pt idx="0">
                  <c:v>25.71</c:v>
                </c:pt>
                <c:pt idx="1">
                  <c:v>3.23</c:v>
                </c:pt>
                <c:pt idx="2">
                  <c:v>0.04</c:v>
                </c:pt>
              </c:numCache>
            </c:numRef>
          </c:val>
          <c:extLst>
            <c:ext xmlns:c16="http://schemas.microsoft.com/office/drawing/2014/chart" uri="{C3380CC4-5D6E-409C-BE32-E72D297353CC}">
              <c16:uniqueId val="{00000000-51F9-4FEE-B782-60A3C7DA832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04040"/>
                </a:solidFill>
                <a:latin typeface="+mn-lt"/>
              </a:defRPr>
            </a:pPr>
            <a:endParaRPr lang="en-US"/>
          </a:p>
        </c:txPr>
        <c:crossAx val="2094734552"/>
        <c:crosses val="autoZero"/>
        <c:auto val="1"/>
        <c:lblAlgn val="ctr"/>
        <c:lblOffset val="100"/>
        <c:noMultiLvlLbl val="1"/>
      </c:catAx>
      <c:valAx>
        <c:axId val="2094734552"/>
        <c:scaling>
          <c:orientation val="minMax"/>
          <c:max val="30"/>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04040"/>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655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Bonjour. Je vais vous présenter l'architecture de données que j'ai conçue et mise en œuvre pour Stripe : une base transactionnelle, un entrepôt analytique et une base NoSQL, reliés par un pipeline temps réel, avec deux modèles d'intelligence artificielle, la sécurité et la supervision. (10 secondes)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Stripe traite des milliards de transactions. Le scénario décrit cinq difficultés : des transactions qui doivent rester disponibles et cohérentes, des analyses avancées, des données variées et non structurées, l'intégration entre les systèmes, et la conformité au RGPD, à PCI-DSS et à la CCPA. Mon objectif : que chaque donnée naisse une seule fois, dans la base transactionnelle, puis alimente tout le reste. (25 secondes)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Voici l'architecture complète, seize services. En haut, le temps réel : un paiement est enregistré dans PostgreSQL ; Debezium capte la modification dans le journal des transactions, Kafka la diffuse, le consommateur calcule dix indices et un score de fraude, écrit la fiche enrichie dans MongoDB et renvoie le score à la base. Au milieu, le réplica pour la reprise après sinistre et le service d'entraînement. En dessous, Airflow alimente l'entrepôt toutes les quinze minutes, contrôle la conformité chaque jour et réentraîne les modèles chaque semaine. En bas, Grafana supervise le tout, en lecture seule. Chaque couleur correspond à une couche. (60 secondes)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Chaque base a son usage. La base transactionnelle, en troisième forme normale, garantit l'intégrité : douze tables, des clés étrangères composées, des déclencheurs exécutés dans la même transaction, et un réplica en continu. L'entrepôt adopte un schéma en étoile, partitionné par mois, avec des agrégats et des vues matérialisées pour des requêtes rapides. MongoDB accueille les données variées : documents JSON validés, messages XML, fichiers binaires, et il sert de magasin de variables et de registre pour les modèles. Les trois bases partagent les mêmes identifiants. (45 secondes)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Le pipeline combine le temps réel et les lots. Chaque paiement suit six étapes, en 540 millisecondes en médiane. Trois garanties : aucune perte, car le slot de réplication conserve le journal tant que Debezium ne l'a pas lu et la position Kafka n'est validée qu'après traitement ; l'ordre, car la clé Kafka est le client ; et l'absence de doublon, par des écritures idempotentes. Je l'ai constaté lors d'un redémarrage de la base : la capture s'est interrompue, puis, à sa relance, les paiements en attente ont été transmis et notés. En parallèle, Airflow alimente l'entrepôt, contrôle la conformité et réentraîne les modèles. (45 secondes)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La sécurité est conçue en couches. Les échanges avec la base transactionnelle sont chiffrés en TLS 1.3, et une connexion en clair est refusée. Chaque programme a son propre compte, avec des droits définis jusqu'à la colonne : le consommateur lit le pays d'un client, jamais son e-mail. Quarante-cinq tests automatisés le prouvent. Treize contrôles de conformité et de disponibilité s'exécutent chaque jour. Enfin, Grafana supervise l'infrastructure : il a par exemple détecté un cache insuffisant, que j'ai traité en augmentant la mémoire de PostgreSQL. (45 secondes)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Les résultats confirment l'architecture. Parmi les paiements bloqués par le modèle, 25,7 % ont ensuite donné lieu à un litige pour fraude, contre 0,04 % parmi les paiements acceptés : le modèle concentre la fraude. Ce chiffre est indicatif, car l'historique a été noté par un modèle entraîné sur ces mêmes données ; la mesure rigoureuse est l'AUC de 0,99, calculée sur les 20 % de paiements les plus récents, que le modèle n'avait jamais vus. Côté métier, l'entrepôt montre que les Champions, un quart des clients, réalisent 55 % du chiffre d'affaires. Dix-sept requêtes répondent aux questions métier, dont une qui suit un même paiement dans les trois bases grâce à son identifiant. (30 secondes)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La démonstration tourne sur un seul poste, avec des limites que j'assume : pas de redondance, un rythme de paiements volontairement accéléré, une bascule manuelle et un chiffrement limité à la base transactionnelle. L'architecture cible conserve la même conception et la transpose sur des services gérés, répartis sur trois zones, avec Kubernetes et Terraform. En résumé : une architecture complète, testée et reproductible. Je vous remercie, et je suis prête pour vos questions. (20 secondes)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377440"/>
            <a:ext cx="10698480" cy="1097280"/>
          </a:xfrm>
          <a:prstGeom prst="rect">
            <a:avLst/>
          </a:prstGeom>
          <a:noFill/>
          <a:ln/>
        </p:spPr>
        <p:txBody>
          <a:bodyPr wrap="square" rtlCol="0"/>
          <a:lstStyle>
            <a:lvl1pPr marL="0" indent="0" algn="ctr">
              <a:buNone/>
              <a:defRPr lang="en-US" sz="4000" b="1" dirty="0">
                <a:solidFill>
                  <a:schemeClr val="bg1"/>
                </a:solidFill>
              </a:defRPr>
            </a:lvl1pPr>
          </a:lstStyle>
          <a:p>
            <a:pPr marL="0" indent="0" algn="ctr">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CLU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U">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95959"/>
                </a:solidFill>
              </a:rPr>
              <a:t>Projet Stripe - Aïcha Fathellah</a:t>
            </a:r>
            <a:endParaRPr lang="en-US" sz="1000" dirty="0"/>
          </a:p>
        </p:txBody>
      </p:sp>
      <p:sp>
        <p:nvSpPr>
          <p:cNvPr id="3" name="Text 1"/>
          <p:cNvSpPr>
            <a:spLocks noGrp="1"/>
          </p:cNvSpPr>
          <p:nvPr>
            <p:ph type="title" idx="101" hasCustomPrompt="1"/>
          </p:nvPr>
        </p:nvSpPr>
        <p:spPr>
          <a:xfrm>
            <a:off x="548640" y="274320"/>
            <a:ext cx="11064240" cy="73152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595959"/>
                </a:solidFill>
              </a:defRPr>
            </a:lvl1pPr>
          </a:lstStyle>
          <a:p>
            <a:pPr algn="r"/>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595959"/>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4.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21.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2240280"/>
            <a:ext cx="10515600" cy="365760"/>
          </a:xfrm>
          <a:prstGeom prst="rect">
            <a:avLst/>
          </a:prstGeom>
          <a:noFill/>
          <a:ln/>
        </p:spPr>
        <p:txBody>
          <a:bodyPr wrap="square" lIns="0" tIns="0" rIns="0" bIns="0" rtlCol="0" anchor="ctr"/>
          <a:lstStyle/>
          <a:p>
            <a:pPr marL="0" indent="0">
              <a:buNone/>
            </a:pPr>
            <a:r>
              <a:rPr lang="en-US" sz="1600" b="1" kern="0" spc="600" dirty="0">
                <a:solidFill>
                  <a:srgbClr val="9DC3E6"/>
                </a:solidFill>
                <a:latin typeface="Calibri" pitchFamily="34" charset="0"/>
                <a:ea typeface="Calibri" pitchFamily="34" charset="-122"/>
                <a:cs typeface="Calibri" pitchFamily="34" charset="-120"/>
              </a:rPr>
              <a:t>PROJET STRIPE</a:t>
            </a:r>
            <a:endParaRPr lang="en-US" sz="1600" dirty="0"/>
          </a:p>
        </p:txBody>
      </p:sp>
      <p:sp>
        <p:nvSpPr>
          <p:cNvPr id="3" name="Text 1"/>
          <p:cNvSpPr txBox="1"/>
          <p:nvPr/>
        </p:nvSpPr>
        <p:spPr>
          <a:xfrm>
            <a:off x="822960" y="2651760"/>
            <a:ext cx="10515600" cy="132588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Architecture de données intégrée</a:t>
            </a:r>
            <a:endParaRPr lang="en-US" sz="4000" dirty="0"/>
          </a:p>
          <a:p>
            <a:pPr marL="0" indent="0">
              <a:buNone/>
            </a:pPr>
            <a:r>
              <a:rPr lang="en-US" sz="4000" b="1" dirty="0">
                <a:solidFill>
                  <a:srgbClr val="FFFFFF"/>
                </a:solidFill>
                <a:latin typeface="Calibri" pitchFamily="34" charset="0"/>
                <a:ea typeface="Calibri" pitchFamily="34" charset="-122"/>
                <a:cs typeface="Calibri" pitchFamily="34" charset="-120"/>
              </a:rPr>
              <a:t>OLTP, OLAP et NoSQL</a:t>
            </a:r>
            <a:endParaRPr lang="en-US" sz="4000" dirty="0"/>
          </a:p>
        </p:txBody>
      </p:sp>
      <p:sp>
        <p:nvSpPr>
          <p:cNvPr id="4" name="Text 2"/>
          <p:cNvSpPr txBox="1"/>
          <p:nvPr/>
        </p:nvSpPr>
        <p:spPr>
          <a:xfrm>
            <a:off x="822960" y="4023360"/>
            <a:ext cx="10515600" cy="411480"/>
          </a:xfrm>
          <a:prstGeom prst="rect">
            <a:avLst/>
          </a:prstGeom>
          <a:noFill/>
          <a:ln/>
        </p:spPr>
        <p:txBody>
          <a:bodyPr wrap="square" lIns="0" tIns="0" rIns="0" bIns="0" rtlCol="0" anchor="ctr"/>
          <a:lstStyle/>
          <a:p>
            <a:pPr marL="0" indent="0">
              <a:buNone/>
            </a:pPr>
            <a:r>
              <a:rPr lang="en-US" sz="1800" dirty="0">
                <a:solidFill>
                  <a:srgbClr val="DEEBF7"/>
                </a:solidFill>
                <a:latin typeface="Calibri" pitchFamily="34" charset="0"/>
                <a:ea typeface="Calibri" pitchFamily="34" charset="-122"/>
                <a:cs typeface="Calibri" pitchFamily="34" charset="-120"/>
              </a:rPr>
              <a:t>Plateforme de paiement : transactions, analyse, temps réel, détection de fraude et personnalisation</a:t>
            </a:r>
            <a:endParaRPr lang="en-US" sz="1800" dirty="0"/>
          </a:p>
        </p:txBody>
      </p:sp>
      <p:sp>
        <p:nvSpPr>
          <p:cNvPr id="5" name="Text 3"/>
          <p:cNvSpPr txBox="1"/>
          <p:nvPr/>
        </p:nvSpPr>
        <p:spPr>
          <a:xfrm>
            <a:off x="822960" y="4526280"/>
            <a:ext cx="73152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Aïcha Fathellah  |  Octobre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64240" cy="731520"/>
          </a:xfrm>
          <a:prstGeom prst="rect">
            <a:avLst/>
          </a:prstGeom>
          <a:noFill/>
          <a:ln/>
        </p:spPr>
        <p:txBody>
          <a:bodyPr wrap="square" lIns="0" tIns="0" rIns="0" bIns="0" rtlCol="0" anchor="ctr"/>
          <a:lstStyle/>
          <a:p>
            <a:pPr marL="0" indent="0" algn="l">
              <a:buNone/>
            </a:pPr>
            <a:r>
              <a:rPr lang="en-US" sz="3000" b="1" dirty="0">
                <a:solidFill>
                  <a:schemeClr val="tx2"/>
                </a:solidFill>
              </a:rPr>
              <a:t>Le besoin : une architecture unifiée pour une croissance mondiale</a:t>
            </a:r>
            <a:endParaRPr lang="en-US" sz="3000" dirty="0"/>
          </a:p>
        </p:txBody>
      </p:sp>
      <p:sp>
        <p:nvSpPr>
          <p:cNvPr id="3" name="Shape 1"/>
          <p:cNvSpPr/>
          <p:nvPr/>
        </p:nvSpPr>
        <p:spPr>
          <a:xfrm>
            <a:off x="548640" y="1325880"/>
            <a:ext cx="2066544" cy="2971800"/>
          </a:xfrm>
          <a:prstGeom prst="roundRect">
            <a:avLst>
              <a:gd name="adj" fmla="val 5310"/>
            </a:avLst>
          </a:prstGeom>
          <a:solidFill>
            <a:srgbClr val="F4F8FC"/>
          </a:solidFill>
          <a:ln w="9525">
            <a:solidFill>
              <a:srgbClr val="D9D9D9"/>
            </a:solidFill>
            <a:prstDash val="solid"/>
          </a:ln>
        </p:spPr>
        <p:txBody>
          <a:bodyPr/>
          <a:lstStyle/>
          <a:p>
            <a:endParaRPr lang="fr-FR"/>
          </a:p>
        </p:txBody>
      </p:sp>
      <p:sp>
        <p:nvSpPr>
          <p:cNvPr id="4" name="Shape 2"/>
          <p:cNvSpPr/>
          <p:nvPr/>
        </p:nvSpPr>
        <p:spPr>
          <a:xfrm>
            <a:off x="1216152" y="1600200"/>
            <a:ext cx="731520" cy="731520"/>
          </a:xfrm>
          <a:prstGeom prst="ellipse">
            <a:avLst/>
          </a:prstGeom>
          <a:solidFill>
            <a:srgbClr val="1F3864"/>
          </a:solidFill>
          <a:ln w="12700">
            <a:solidFill>
              <a:srgbClr val="1F3864"/>
            </a:solidFill>
            <a:prstDash val="solid"/>
          </a:ln>
        </p:spPr>
        <p:txBody>
          <a:bodyPr/>
          <a:lstStyle/>
          <a:p>
            <a:endParaRPr lang="fr-FR"/>
          </a:p>
        </p:txBody>
      </p:sp>
      <p:pic>
        <p:nvPicPr>
          <p:cNvPr id="5" name="Image 0" descr="pictogramme"/>
          <p:cNvPicPr>
            <a:picLocks noChangeAspect="1"/>
          </p:cNvPicPr>
          <p:nvPr/>
        </p:nvPicPr>
        <p:blipFill>
          <a:blip r:embed="rId3"/>
          <a:stretch>
            <a:fillRect/>
          </a:stretch>
        </p:blipFill>
        <p:spPr>
          <a:xfrm>
            <a:off x="1399032" y="1783080"/>
            <a:ext cx="365760" cy="365760"/>
          </a:xfrm>
          <a:prstGeom prst="rect">
            <a:avLst/>
          </a:prstGeom>
        </p:spPr>
      </p:pic>
      <p:sp>
        <p:nvSpPr>
          <p:cNvPr id="6" name="Text 3"/>
          <p:cNvSpPr txBox="1"/>
          <p:nvPr/>
        </p:nvSpPr>
        <p:spPr>
          <a:xfrm>
            <a:off x="685800" y="2514600"/>
            <a:ext cx="1792224" cy="411480"/>
          </a:xfrm>
          <a:prstGeom prst="rect">
            <a:avLst/>
          </a:prstGeom>
          <a:noFill/>
          <a:ln/>
        </p:spPr>
        <p:txBody>
          <a:bodyPr wrap="square" lIns="0" tIns="0" rIns="0" bIns="0" rtlCol="0" anchor="ctr"/>
          <a:lstStyle/>
          <a:p>
            <a:pPr marL="0" indent="0" algn="ctr">
              <a:buNone/>
            </a:pPr>
            <a:r>
              <a:rPr lang="en-US" sz="1800" b="1" dirty="0">
                <a:solidFill>
                  <a:srgbClr val="1F3864"/>
                </a:solidFill>
                <a:latin typeface="Calibri" pitchFamily="34" charset="0"/>
                <a:ea typeface="Calibri" pitchFamily="34" charset="-122"/>
                <a:cs typeface="Calibri" pitchFamily="34" charset="-120"/>
              </a:rPr>
              <a:t>Transactions</a:t>
            </a:r>
            <a:endParaRPr lang="en-US" sz="1800" dirty="0"/>
          </a:p>
        </p:txBody>
      </p:sp>
      <p:sp>
        <p:nvSpPr>
          <p:cNvPr id="7" name="Text 4"/>
          <p:cNvSpPr txBox="1"/>
          <p:nvPr/>
        </p:nvSpPr>
        <p:spPr>
          <a:xfrm>
            <a:off x="731520" y="2971800"/>
            <a:ext cx="1700784" cy="1463040"/>
          </a:xfrm>
          <a:prstGeom prst="rect">
            <a:avLst/>
          </a:prstGeom>
          <a:noFill/>
          <a:ln/>
        </p:spPr>
        <p:txBody>
          <a:bodyPr wrap="square" lIns="0" tIns="0" rIns="0" bIns="0" rtlCol="0" anchor="t"/>
          <a:lstStyle/>
          <a:p>
            <a:pPr marL="0" indent="0" algn="ctr">
              <a:buNone/>
            </a:pPr>
            <a:r>
              <a:rPr lang="en-US" sz="1400" dirty="0">
                <a:solidFill>
                  <a:srgbClr val="262626"/>
                </a:solidFill>
                <a:latin typeface="Calibri" pitchFamily="34" charset="0"/>
                <a:ea typeface="Calibri" pitchFamily="34" charset="-122"/>
                <a:cs typeface="Calibri" pitchFamily="34" charset="-120"/>
              </a:rPr>
              <a:t>Paiements, remboursements, litiges, abonnements : disponibles et cohérents</a:t>
            </a:r>
            <a:endParaRPr lang="en-US" sz="1400" dirty="0"/>
          </a:p>
        </p:txBody>
      </p:sp>
      <p:sp>
        <p:nvSpPr>
          <p:cNvPr id="8" name="Shape 5"/>
          <p:cNvSpPr/>
          <p:nvPr/>
        </p:nvSpPr>
        <p:spPr>
          <a:xfrm>
            <a:off x="2798064" y="1325880"/>
            <a:ext cx="2066544" cy="2971800"/>
          </a:xfrm>
          <a:prstGeom prst="roundRect">
            <a:avLst>
              <a:gd name="adj" fmla="val 5310"/>
            </a:avLst>
          </a:prstGeom>
          <a:solidFill>
            <a:srgbClr val="F4F8FC"/>
          </a:solidFill>
          <a:ln w="9525">
            <a:solidFill>
              <a:srgbClr val="D9D9D9"/>
            </a:solidFill>
            <a:prstDash val="solid"/>
          </a:ln>
        </p:spPr>
        <p:txBody>
          <a:bodyPr/>
          <a:lstStyle/>
          <a:p>
            <a:endParaRPr lang="fr-FR"/>
          </a:p>
        </p:txBody>
      </p:sp>
      <p:sp>
        <p:nvSpPr>
          <p:cNvPr id="9" name="Shape 6"/>
          <p:cNvSpPr/>
          <p:nvPr/>
        </p:nvSpPr>
        <p:spPr>
          <a:xfrm>
            <a:off x="3465576" y="1600200"/>
            <a:ext cx="731520" cy="731520"/>
          </a:xfrm>
          <a:prstGeom prst="ellipse">
            <a:avLst/>
          </a:prstGeom>
          <a:solidFill>
            <a:srgbClr val="375623"/>
          </a:solidFill>
          <a:ln w="12700">
            <a:solidFill>
              <a:srgbClr val="375623"/>
            </a:solidFill>
            <a:prstDash val="solid"/>
          </a:ln>
        </p:spPr>
        <p:txBody>
          <a:bodyPr/>
          <a:lstStyle/>
          <a:p>
            <a:endParaRPr lang="fr-FR"/>
          </a:p>
        </p:txBody>
      </p:sp>
      <p:pic>
        <p:nvPicPr>
          <p:cNvPr id="10" name="Image 1" descr="pictogramme"/>
          <p:cNvPicPr>
            <a:picLocks noChangeAspect="1"/>
          </p:cNvPicPr>
          <p:nvPr/>
        </p:nvPicPr>
        <p:blipFill>
          <a:blip r:embed="rId4"/>
          <a:stretch>
            <a:fillRect/>
          </a:stretch>
        </p:blipFill>
        <p:spPr>
          <a:xfrm>
            <a:off x="3648456" y="1783080"/>
            <a:ext cx="365760" cy="365760"/>
          </a:xfrm>
          <a:prstGeom prst="rect">
            <a:avLst/>
          </a:prstGeom>
        </p:spPr>
      </p:pic>
      <p:sp>
        <p:nvSpPr>
          <p:cNvPr id="11" name="Text 7"/>
          <p:cNvSpPr txBox="1"/>
          <p:nvPr/>
        </p:nvSpPr>
        <p:spPr>
          <a:xfrm>
            <a:off x="2935224" y="2514600"/>
            <a:ext cx="1792224" cy="411480"/>
          </a:xfrm>
          <a:prstGeom prst="rect">
            <a:avLst/>
          </a:prstGeom>
          <a:noFill/>
          <a:ln/>
        </p:spPr>
        <p:txBody>
          <a:bodyPr wrap="square" lIns="0" tIns="0" rIns="0" bIns="0" rtlCol="0" anchor="ctr"/>
          <a:lstStyle/>
          <a:p>
            <a:pPr marL="0" indent="0" algn="ctr">
              <a:buNone/>
            </a:pPr>
            <a:r>
              <a:rPr lang="en-US" sz="1800" b="1" dirty="0">
                <a:solidFill>
                  <a:srgbClr val="375623"/>
                </a:solidFill>
                <a:latin typeface="Calibri" pitchFamily="34" charset="0"/>
                <a:ea typeface="Calibri" pitchFamily="34" charset="-122"/>
                <a:cs typeface="Calibri" pitchFamily="34" charset="-120"/>
              </a:rPr>
              <a:t>Analyses</a:t>
            </a:r>
            <a:endParaRPr lang="en-US" sz="1800" dirty="0"/>
          </a:p>
        </p:txBody>
      </p:sp>
      <p:sp>
        <p:nvSpPr>
          <p:cNvPr id="12" name="Text 8"/>
          <p:cNvSpPr txBox="1"/>
          <p:nvPr/>
        </p:nvSpPr>
        <p:spPr>
          <a:xfrm>
            <a:off x="2980944" y="2971800"/>
            <a:ext cx="1700784" cy="1463040"/>
          </a:xfrm>
          <a:prstGeom prst="rect">
            <a:avLst/>
          </a:prstGeom>
          <a:noFill/>
          <a:ln/>
        </p:spPr>
        <p:txBody>
          <a:bodyPr wrap="square" lIns="0" tIns="0" rIns="0" bIns="0" rtlCol="0" anchor="t"/>
          <a:lstStyle/>
          <a:p>
            <a:pPr marL="0" indent="0" algn="ctr">
              <a:buNone/>
            </a:pPr>
            <a:r>
              <a:rPr lang="en-US" sz="1400" dirty="0">
                <a:solidFill>
                  <a:srgbClr val="262626"/>
                </a:solidFill>
                <a:latin typeface="Calibri" pitchFamily="34" charset="0"/>
                <a:ea typeface="Calibri" pitchFamily="34" charset="-122"/>
                <a:cs typeface="Calibri" pitchFamily="34" charset="-120"/>
              </a:rPr>
              <a:t>Chiffre d'affaires, segmentation, conformité en temps quasi réel</a:t>
            </a:r>
            <a:endParaRPr lang="en-US" sz="1400" dirty="0"/>
          </a:p>
        </p:txBody>
      </p:sp>
      <p:sp>
        <p:nvSpPr>
          <p:cNvPr id="13" name="Shape 9"/>
          <p:cNvSpPr/>
          <p:nvPr/>
        </p:nvSpPr>
        <p:spPr>
          <a:xfrm>
            <a:off x="5047488" y="1325880"/>
            <a:ext cx="2066544" cy="2971800"/>
          </a:xfrm>
          <a:prstGeom prst="roundRect">
            <a:avLst>
              <a:gd name="adj" fmla="val 5310"/>
            </a:avLst>
          </a:prstGeom>
          <a:solidFill>
            <a:srgbClr val="F4F8FC"/>
          </a:solidFill>
          <a:ln w="9525">
            <a:solidFill>
              <a:srgbClr val="D9D9D9"/>
            </a:solidFill>
            <a:prstDash val="solid"/>
          </a:ln>
        </p:spPr>
        <p:txBody>
          <a:bodyPr/>
          <a:lstStyle/>
          <a:p>
            <a:endParaRPr lang="fr-FR"/>
          </a:p>
        </p:txBody>
      </p:sp>
      <p:sp>
        <p:nvSpPr>
          <p:cNvPr id="14" name="Shape 10"/>
          <p:cNvSpPr/>
          <p:nvPr/>
        </p:nvSpPr>
        <p:spPr>
          <a:xfrm>
            <a:off x="5715000" y="1600200"/>
            <a:ext cx="731520" cy="731520"/>
          </a:xfrm>
          <a:prstGeom prst="ellipse">
            <a:avLst/>
          </a:prstGeom>
          <a:solidFill>
            <a:srgbClr val="0E6B6B"/>
          </a:solidFill>
          <a:ln w="12700">
            <a:solidFill>
              <a:srgbClr val="0E6B6B"/>
            </a:solidFill>
            <a:prstDash val="solid"/>
          </a:ln>
        </p:spPr>
        <p:txBody>
          <a:bodyPr/>
          <a:lstStyle/>
          <a:p>
            <a:endParaRPr lang="fr-FR"/>
          </a:p>
        </p:txBody>
      </p:sp>
      <p:pic>
        <p:nvPicPr>
          <p:cNvPr id="15" name="Image 2" descr="pictogramme"/>
          <p:cNvPicPr>
            <a:picLocks noChangeAspect="1"/>
          </p:cNvPicPr>
          <p:nvPr/>
        </p:nvPicPr>
        <p:blipFill>
          <a:blip r:embed="rId5"/>
          <a:stretch>
            <a:fillRect/>
          </a:stretch>
        </p:blipFill>
        <p:spPr>
          <a:xfrm>
            <a:off x="5897880" y="1783080"/>
            <a:ext cx="365760" cy="365760"/>
          </a:xfrm>
          <a:prstGeom prst="rect">
            <a:avLst/>
          </a:prstGeom>
        </p:spPr>
      </p:pic>
      <p:sp>
        <p:nvSpPr>
          <p:cNvPr id="16" name="Text 11"/>
          <p:cNvSpPr txBox="1"/>
          <p:nvPr/>
        </p:nvSpPr>
        <p:spPr>
          <a:xfrm>
            <a:off x="5184648" y="2514600"/>
            <a:ext cx="1792224" cy="411480"/>
          </a:xfrm>
          <a:prstGeom prst="rect">
            <a:avLst/>
          </a:prstGeom>
          <a:noFill/>
          <a:ln/>
        </p:spPr>
        <p:txBody>
          <a:bodyPr wrap="square" lIns="0" tIns="0" rIns="0" bIns="0" rtlCol="0" anchor="ctr"/>
          <a:lstStyle/>
          <a:p>
            <a:pPr marL="0" indent="0" algn="ctr">
              <a:buNone/>
            </a:pPr>
            <a:r>
              <a:rPr lang="en-US" sz="1800" b="1" dirty="0">
                <a:solidFill>
                  <a:srgbClr val="0E6B6B"/>
                </a:solidFill>
                <a:latin typeface="Calibri" pitchFamily="34" charset="0"/>
                <a:ea typeface="Calibri" pitchFamily="34" charset="-122"/>
                <a:cs typeface="Calibri" pitchFamily="34" charset="-120"/>
              </a:rPr>
              <a:t>Données variées</a:t>
            </a:r>
            <a:endParaRPr lang="en-US" sz="1800" dirty="0"/>
          </a:p>
        </p:txBody>
      </p:sp>
      <p:sp>
        <p:nvSpPr>
          <p:cNvPr id="17" name="Text 12"/>
          <p:cNvSpPr txBox="1"/>
          <p:nvPr/>
        </p:nvSpPr>
        <p:spPr>
          <a:xfrm>
            <a:off x="5230368" y="2971800"/>
            <a:ext cx="1700784" cy="1463040"/>
          </a:xfrm>
          <a:prstGeom prst="rect">
            <a:avLst/>
          </a:prstGeom>
          <a:noFill/>
          <a:ln/>
        </p:spPr>
        <p:txBody>
          <a:bodyPr wrap="square" lIns="0" tIns="0" rIns="0" bIns="0" rtlCol="0" anchor="t"/>
          <a:lstStyle/>
          <a:p>
            <a:pPr marL="0" indent="0" algn="ctr">
              <a:buNone/>
            </a:pPr>
            <a:r>
              <a:rPr lang="en-US" sz="1400" dirty="0">
                <a:solidFill>
                  <a:srgbClr val="262626"/>
                </a:solidFill>
                <a:latin typeface="Calibri" pitchFamily="34" charset="0"/>
                <a:ea typeface="Calibri" pitchFamily="34" charset="-122"/>
                <a:cs typeface="Calibri" pitchFamily="34" charset="-120"/>
              </a:rPr>
              <a:t>Journaux, avis, navigation : JSON, XML et fichiers binaires</a:t>
            </a:r>
            <a:endParaRPr lang="en-US" sz="1400" dirty="0"/>
          </a:p>
        </p:txBody>
      </p:sp>
      <p:sp>
        <p:nvSpPr>
          <p:cNvPr id="18" name="Shape 13"/>
          <p:cNvSpPr/>
          <p:nvPr/>
        </p:nvSpPr>
        <p:spPr>
          <a:xfrm>
            <a:off x="7296912" y="1325880"/>
            <a:ext cx="2066544" cy="2971800"/>
          </a:xfrm>
          <a:prstGeom prst="roundRect">
            <a:avLst>
              <a:gd name="adj" fmla="val 5310"/>
            </a:avLst>
          </a:prstGeom>
          <a:solidFill>
            <a:srgbClr val="F4F8FC"/>
          </a:solidFill>
          <a:ln w="9525">
            <a:solidFill>
              <a:srgbClr val="D9D9D9"/>
            </a:solidFill>
            <a:prstDash val="solid"/>
          </a:ln>
        </p:spPr>
        <p:txBody>
          <a:bodyPr/>
          <a:lstStyle/>
          <a:p>
            <a:endParaRPr lang="fr-FR"/>
          </a:p>
        </p:txBody>
      </p:sp>
      <p:sp>
        <p:nvSpPr>
          <p:cNvPr id="19" name="Shape 14"/>
          <p:cNvSpPr/>
          <p:nvPr/>
        </p:nvSpPr>
        <p:spPr>
          <a:xfrm>
            <a:off x="7964424" y="1600200"/>
            <a:ext cx="731520" cy="731520"/>
          </a:xfrm>
          <a:prstGeom prst="ellipse">
            <a:avLst/>
          </a:prstGeom>
          <a:solidFill>
            <a:srgbClr val="C55A11"/>
          </a:solidFill>
          <a:ln w="12700">
            <a:solidFill>
              <a:srgbClr val="C55A11"/>
            </a:solidFill>
            <a:prstDash val="solid"/>
          </a:ln>
        </p:spPr>
        <p:txBody>
          <a:bodyPr/>
          <a:lstStyle/>
          <a:p>
            <a:endParaRPr lang="fr-FR"/>
          </a:p>
        </p:txBody>
      </p:sp>
      <p:pic>
        <p:nvPicPr>
          <p:cNvPr id="20" name="Image 3" descr="pictogramme"/>
          <p:cNvPicPr>
            <a:picLocks noChangeAspect="1"/>
          </p:cNvPicPr>
          <p:nvPr/>
        </p:nvPicPr>
        <p:blipFill>
          <a:blip r:embed="rId6"/>
          <a:stretch>
            <a:fillRect/>
          </a:stretch>
        </p:blipFill>
        <p:spPr>
          <a:xfrm>
            <a:off x="8147304" y="1783080"/>
            <a:ext cx="365760" cy="365760"/>
          </a:xfrm>
          <a:prstGeom prst="rect">
            <a:avLst/>
          </a:prstGeom>
        </p:spPr>
      </p:pic>
      <p:sp>
        <p:nvSpPr>
          <p:cNvPr id="21" name="Text 15"/>
          <p:cNvSpPr txBox="1"/>
          <p:nvPr/>
        </p:nvSpPr>
        <p:spPr>
          <a:xfrm>
            <a:off x="7434072" y="2514600"/>
            <a:ext cx="1792224" cy="411480"/>
          </a:xfrm>
          <a:prstGeom prst="rect">
            <a:avLst/>
          </a:prstGeom>
          <a:noFill/>
          <a:ln/>
        </p:spPr>
        <p:txBody>
          <a:bodyPr wrap="square" lIns="0" tIns="0" rIns="0" bIns="0" rtlCol="0" anchor="ctr"/>
          <a:lstStyle/>
          <a:p>
            <a:pPr marL="0" indent="0" algn="ctr">
              <a:buNone/>
            </a:pPr>
            <a:r>
              <a:rPr lang="en-US" sz="1800" b="1" dirty="0">
                <a:solidFill>
                  <a:srgbClr val="C55A11"/>
                </a:solidFill>
                <a:latin typeface="Calibri" pitchFamily="34" charset="0"/>
                <a:ea typeface="Calibri" pitchFamily="34" charset="-122"/>
                <a:cs typeface="Calibri" pitchFamily="34" charset="-120"/>
              </a:rPr>
              <a:t>Intégration</a:t>
            </a:r>
            <a:endParaRPr lang="en-US" sz="1800" dirty="0"/>
          </a:p>
        </p:txBody>
      </p:sp>
      <p:sp>
        <p:nvSpPr>
          <p:cNvPr id="22" name="Text 16"/>
          <p:cNvSpPr txBox="1"/>
          <p:nvPr/>
        </p:nvSpPr>
        <p:spPr>
          <a:xfrm>
            <a:off x="7479792" y="2971800"/>
            <a:ext cx="1700784" cy="1463040"/>
          </a:xfrm>
          <a:prstGeom prst="rect">
            <a:avLst/>
          </a:prstGeom>
          <a:noFill/>
          <a:ln/>
        </p:spPr>
        <p:txBody>
          <a:bodyPr wrap="square" lIns="0" tIns="0" rIns="0" bIns="0" rtlCol="0" anchor="t"/>
          <a:lstStyle/>
          <a:p>
            <a:pPr marL="0" indent="0" algn="ctr">
              <a:buNone/>
            </a:pPr>
            <a:r>
              <a:rPr lang="en-US" sz="1400" dirty="0">
                <a:solidFill>
                  <a:srgbClr val="262626"/>
                </a:solidFill>
                <a:latin typeface="Calibri" pitchFamily="34" charset="0"/>
                <a:ea typeface="Calibri" pitchFamily="34" charset="-122"/>
                <a:cs typeface="Calibri" pitchFamily="34" charset="-120"/>
              </a:rPr>
              <a:t>Flux continu et cohérent entre les trois bases</a:t>
            </a:r>
            <a:endParaRPr lang="en-US" sz="1400" dirty="0"/>
          </a:p>
        </p:txBody>
      </p:sp>
      <p:sp>
        <p:nvSpPr>
          <p:cNvPr id="23" name="Shape 17"/>
          <p:cNvSpPr/>
          <p:nvPr/>
        </p:nvSpPr>
        <p:spPr>
          <a:xfrm>
            <a:off x="9546336" y="1325880"/>
            <a:ext cx="2066544" cy="2971800"/>
          </a:xfrm>
          <a:prstGeom prst="roundRect">
            <a:avLst>
              <a:gd name="adj" fmla="val 5310"/>
            </a:avLst>
          </a:prstGeom>
          <a:solidFill>
            <a:srgbClr val="F4F8FC"/>
          </a:solidFill>
          <a:ln w="9525">
            <a:solidFill>
              <a:srgbClr val="D9D9D9"/>
            </a:solidFill>
            <a:prstDash val="solid"/>
          </a:ln>
        </p:spPr>
        <p:txBody>
          <a:bodyPr/>
          <a:lstStyle/>
          <a:p>
            <a:endParaRPr lang="fr-FR"/>
          </a:p>
        </p:txBody>
      </p:sp>
      <p:sp>
        <p:nvSpPr>
          <p:cNvPr id="24" name="Shape 18"/>
          <p:cNvSpPr/>
          <p:nvPr/>
        </p:nvSpPr>
        <p:spPr>
          <a:xfrm>
            <a:off x="10213848" y="1600200"/>
            <a:ext cx="731520" cy="731520"/>
          </a:xfrm>
          <a:prstGeom prst="ellipse">
            <a:avLst/>
          </a:prstGeom>
          <a:solidFill>
            <a:srgbClr val="44546A"/>
          </a:solidFill>
          <a:ln w="12700">
            <a:solidFill>
              <a:srgbClr val="44546A"/>
            </a:solidFill>
            <a:prstDash val="solid"/>
          </a:ln>
        </p:spPr>
        <p:txBody>
          <a:bodyPr/>
          <a:lstStyle/>
          <a:p>
            <a:endParaRPr lang="fr-FR"/>
          </a:p>
        </p:txBody>
      </p:sp>
      <p:pic>
        <p:nvPicPr>
          <p:cNvPr id="25" name="Image 4" descr="pictogramme"/>
          <p:cNvPicPr>
            <a:picLocks noChangeAspect="1"/>
          </p:cNvPicPr>
          <p:nvPr/>
        </p:nvPicPr>
        <p:blipFill>
          <a:blip r:embed="rId7"/>
          <a:stretch>
            <a:fillRect/>
          </a:stretch>
        </p:blipFill>
        <p:spPr>
          <a:xfrm>
            <a:off x="10396728" y="1783080"/>
            <a:ext cx="365760" cy="365760"/>
          </a:xfrm>
          <a:prstGeom prst="rect">
            <a:avLst/>
          </a:prstGeom>
        </p:spPr>
      </p:pic>
      <p:sp>
        <p:nvSpPr>
          <p:cNvPr id="26" name="Text 19"/>
          <p:cNvSpPr txBox="1"/>
          <p:nvPr/>
        </p:nvSpPr>
        <p:spPr>
          <a:xfrm>
            <a:off x="9683496" y="2514600"/>
            <a:ext cx="1792224" cy="411480"/>
          </a:xfrm>
          <a:prstGeom prst="rect">
            <a:avLst/>
          </a:prstGeom>
          <a:noFill/>
          <a:ln/>
        </p:spPr>
        <p:txBody>
          <a:bodyPr wrap="square" lIns="0" tIns="0" rIns="0" bIns="0" rtlCol="0" anchor="ctr"/>
          <a:lstStyle/>
          <a:p>
            <a:pPr marL="0" indent="0" algn="ctr">
              <a:buNone/>
            </a:pPr>
            <a:r>
              <a:rPr lang="en-US" sz="1800" b="1" dirty="0">
                <a:solidFill>
                  <a:srgbClr val="44546A"/>
                </a:solidFill>
                <a:latin typeface="Calibri" pitchFamily="34" charset="0"/>
                <a:ea typeface="Calibri" pitchFamily="34" charset="-122"/>
                <a:cs typeface="Calibri" pitchFamily="34" charset="-120"/>
              </a:rPr>
              <a:t>Conformité</a:t>
            </a:r>
            <a:endParaRPr lang="en-US" sz="1800" dirty="0"/>
          </a:p>
        </p:txBody>
      </p:sp>
      <p:sp>
        <p:nvSpPr>
          <p:cNvPr id="27" name="Text 20"/>
          <p:cNvSpPr txBox="1"/>
          <p:nvPr/>
        </p:nvSpPr>
        <p:spPr>
          <a:xfrm>
            <a:off x="9729216" y="2971800"/>
            <a:ext cx="1700784" cy="1463040"/>
          </a:xfrm>
          <a:prstGeom prst="rect">
            <a:avLst/>
          </a:prstGeom>
          <a:noFill/>
          <a:ln/>
        </p:spPr>
        <p:txBody>
          <a:bodyPr wrap="square" lIns="0" tIns="0" rIns="0" bIns="0" rtlCol="0" anchor="t"/>
          <a:lstStyle/>
          <a:p>
            <a:pPr marL="0" indent="0" algn="ctr">
              <a:buNone/>
            </a:pPr>
            <a:r>
              <a:rPr lang="en-US" sz="1400" dirty="0">
                <a:solidFill>
                  <a:srgbClr val="262626"/>
                </a:solidFill>
                <a:latin typeface="Calibri" pitchFamily="34" charset="0"/>
                <a:ea typeface="Calibri" pitchFamily="34" charset="-122"/>
                <a:cs typeface="Calibri" pitchFamily="34" charset="-120"/>
              </a:rPr>
              <a:t>RGPD, PCI-DSS, CCPA : chiffrement, accès, audit</a:t>
            </a:r>
            <a:endParaRPr lang="en-US" sz="1400" dirty="0"/>
          </a:p>
        </p:txBody>
      </p:sp>
      <p:sp>
        <p:nvSpPr>
          <p:cNvPr id="28" name="Shape 21"/>
          <p:cNvSpPr/>
          <p:nvPr/>
        </p:nvSpPr>
        <p:spPr>
          <a:xfrm>
            <a:off x="548640" y="4663440"/>
            <a:ext cx="11064240" cy="1188720"/>
          </a:xfrm>
          <a:prstGeom prst="roundRect">
            <a:avLst>
              <a:gd name="adj" fmla="val 9231"/>
            </a:avLst>
          </a:prstGeom>
          <a:solidFill>
            <a:srgbClr val="1F3864"/>
          </a:solidFill>
          <a:ln w="12700">
            <a:solidFill>
              <a:srgbClr val="1F3864"/>
            </a:solidFill>
            <a:prstDash val="solid"/>
          </a:ln>
        </p:spPr>
        <p:txBody>
          <a:bodyPr/>
          <a:lstStyle/>
          <a:p>
            <a:endParaRPr lang="fr-FR"/>
          </a:p>
        </p:txBody>
      </p:sp>
      <p:sp>
        <p:nvSpPr>
          <p:cNvPr id="29" name="Text 22"/>
          <p:cNvSpPr txBox="1"/>
          <p:nvPr/>
        </p:nvSpPr>
        <p:spPr>
          <a:xfrm>
            <a:off x="868680" y="4754880"/>
            <a:ext cx="10424160" cy="1005840"/>
          </a:xfrm>
          <a:prstGeom prst="rect">
            <a:avLst/>
          </a:prstGeom>
          <a:noFill/>
          <a:ln/>
        </p:spPr>
        <p:txBody>
          <a:bodyPr wrap="square" lIns="0" tIns="0" rIns="0" bIns="0" rtlCol="0" anchor="ctr"/>
          <a:lstStyle/>
          <a:p>
            <a:pPr marL="0" indent="0">
              <a:buNone/>
            </a:pPr>
            <a:r>
              <a:rPr lang="en-US" sz="1800" b="1" dirty="0">
                <a:solidFill>
                  <a:srgbClr val="9DC3E6"/>
                </a:solidFill>
                <a:latin typeface="Calibri" pitchFamily="34" charset="0"/>
                <a:ea typeface="Calibri" pitchFamily="34" charset="-122"/>
                <a:cs typeface="Calibri" pitchFamily="34" charset="-120"/>
              </a:rPr>
              <a:t>Objectif : </a:t>
            </a:r>
            <a:r>
              <a:rPr lang="en-US" sz="1800" dirty="0">
                <a:solidFill>
                  <a:srgbClr val="FFFFFF"/>
                </a:solidFill>
                <a:latin typeface="Calibri" pitchFamily="34" charset="0"/>
                <a:ea typeface="Calibri" pitchFamily="34" charset="-122"/>
                <a:cs typeface="Calibri" pitchFamily="34" charset="-120"/>
              </a:rPr>
              <a:t>chaque donnée naît une seule fois, dans la base transactionnelle, puis alimente en temps réel l'analyse, l'intelligence artificielle et la conformité.</a:t>
            </a:r>
            <a:endParaRPr lang="en-US" sz="1800" dirty="0"/>
          </a:p>
        </p:txBody>
      </p:sp>
      <p:sp>
        <p:nvSpPr>
          <p:cNvPr id="3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595959"/>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64240" cy="731520"/>
          </a:xfrm>
          <a:prstGeom prst="rect">
            <a:avLst/>
          </a:prstGeom>
          <a:noFill/>
          <a:ln/>
        </p:spPr>
        <p:txBody>
          <a:bodyPr wrap="square" lIns="0" tIns="0" rIns="0" bIns="0" rtlCol="0" anchor="ctr"/>
          <a:lstStyle/>
          <a:p>
            <a:pPr marL="0" indent="0" algn="l">
              <a:buNone/>
            </a:pPr>
            <a:r>
              <a:rPr lang="en-US" sz="3000" b="1" dirty="0">
                <a:solidFill>
                  <a:schemeClr val="tx2"/>
                </a:solidFill>
              </a:rPr>
              <a:t>Architecture globale : une source de vérité, trois usages</a:t>
            </a:r>
            <a:endParaRPr lang="en-US" sz="3000" dirty="0"/>
          </a:p>
        </p:txBody>
      </p:sp>
      <p:pic>
        <p:nvPicPr>
          <p:cNvPr id="3" name="Image 0" descr="Architecture globale : application de paiement, base transactionnelle, Debezium, Kafka, consommateur temps réel, MongoDB, réplica, service d'entraînement, Airflow, entrepôt analytique, rapport de conformité et Grafana."/>
          <p:cNvPicPr>
            <a:picLocks noChangeAspect="1"/>
          </p:cNvPicPr>
          <p:nvPr/>
        </p:nvPicPr>
        <p:blipFill>
          <a:blip r:embed="rId3"/>
          <a:stretch>
            <a:fillRect/>
          </a:stretch>
        </p:blipFill>
        <p:spPr>
          <a:xfrm>
            <a:off x="284560" y="1005840"/>
            <a:ext cx="11622880" cy="5394961"/>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595959"/>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64240" cy="731520"/>
          </a:xfrm>
          <a:prstGeom prst="rect">
            <a:avLst/>
          </a:prstGeom>
          <a:noFill/>
          <a:ln/>
        </p:spPr>
        <p:txBody>
          <a:bodyPr wrap="square" lIns="0" tIns="0" rIns="0" bIns="0" rtlCol="0" anchor="ctr"/>
          <a:lstStyle/>
          <a:p>
            <a:pPr marL="0" indent="0" algn="l">
              <a:buNone/>
            </a:pPr>
            <a:r>
              <a:rPr lang="en-US" sz="3000" b="1" dirty="0">
                <a:solidFill>
                  <a:schemeClr val="tx2"/>
                </a:solidFill>
              </a:rPr>
              <a:t>Trois modèles de données : à chaque base son usage</a:t>
            </a:r>
            <a:endParaRPr lang="en-US" sz="3000" dirty="0"/>
          </a:p>
        </p:txBody>
      </p:sp>
      <p:sp>
        <p:nvSpPr>
          <p:cNvPr id="3" name="Shape 1"/>
          <p:cNvSpPr/>
          <p:nvPr/>
        </p:nvSpPr>
        <p:spPr>
          <a:xfrm>
            <a:off x="548640" y="1234440"/>
            <a:ext cx="3529584" cy="4069080"/>
          </a:xfrm>
          <a:prstGeom prst="roundRect">
            <a:avLst>
              <a:gd name="adj" fmla="val 3109"/>
            </a:avLst>
          </a:prstGeom>
          <a:solidFill>
            <a:srgbClr val="DEEBF7"/>
          </a:solidFill>
          <a:ln w="9525">
            <a:solidFill>
              <a:srgbClr val="D9D9D9"/>
            </a:solidFill>
            <a:prstDash val="solid"/>
          </a:ln>
        </p:spPr>
        <p:txBody>
          <a:bodyPr/>
          <a:lstStyle/>
          <a:p>
            <a:endParaRPr lang="fr-FR"/>
          </a:p>
        </p:txBody>
      </p:sp>
      <p:sp>
        <p:nvSpPr>
          <p:cNvPr id="4" name="Shape 2"/>
          <p:cNvSpPr/>
          <p:nvPr/>
        </p:nvSpPr>
        <p:spPr>
          <a:xfrm>
            <a:off x="548640" y="1234440"/>
            <a:ext cx="3529584" cy="777240"/>
          </a:xfrm>
          <a:prstGeom prst="roundRect">
            <a:avLst>
              <a:gd name="adj" fmla="val 14118"/>
            </a:avLst>
          </a:prstGeom>
          <a:solidFill>
            <a:srgbClr val="1F3864"/>
          </a:solidFill>
          <a:ln w="12700">
            <a:solidFill>
              <a:srgbClr val="1F3864"/>
            </a:solidFill>
            <a:prstDash val="solid"/>
          </a:ln>
        </p:spPr>
        <p:txBody>
          <a:bodyPr/>
          <a:lstStyle/>
          <a:p>
            <a:endParaRPr lang="fr-FR"/>
          </a:p>
        </p:txBody>
      </p:sp>
      <p:sp>
        <p:nvSpPr>
          <p:cNvPr id="5" name="Text 3"/>
          <p:cNvSpPr txBox="1"/>
          <p:nvPr/>
        </p:nvSpPr>
        <p:spPr>
          <a:xfrm>
            <a:off x="731520" y="1280160"/>
            <a:ext cx="3163824"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Base transactionnelle</a:t>
            </a:r>
            <a:endParaRPr lang="en-US" sz="1800" dirty="0"/>
          </a:p>
        </p:txBody>
      </p:sp>
      <p:sp>
        <p:nvSpPr>
          <p:cNvPr id="6" name="Text 4"/>
          <p:cNvSpPr txBox="1"/>
          <p:nvPr/>
        </p:nvSpPr>
        <p:spPr>
          <a:xfrm>
            <a:off x="731520" y="1645920"/>
            <a:ext cx="3163824" cy="310896"/>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PostgreSQL 17</a:t>
            </a:r>
            <a:endParaRPr lang="en-US" sz="1400" dirty="0"/>
          </a:p>
        </p:txBody>
      </p:sp>
      <p:sp>
        <p:nvSpPr>
          <p:cNvPr id="7" name="Shape 5"/>
          <p:cNvSpPr/>
          <p:nvPr/>
        </p:nvSpPr>
        <p:spPr>
          <a:xfrm>
            <a:off x="713232" y="2148840"/>
            <a:ext cx="3200400" cy="1325880"/>
          </a:xfrm>
          <a:prstGeom prst="rect">
            <a:avLst/>
          </a:prstGeom>
          <a:solidFill>
            <a:srgbClr val="FFFFFF"/>
          </a:solidFill>
          <a:ln w="9525">
            <a:solidFill>
              <a:srgbClr val="D9D9D9"/>
            </a:solidFill>
            <a:prstDash val="solid"/>
          </a:ln>
        </p:spPr>
        <p:txBody>
          <a:bodyPr/>
          <a:lstStyle/>
          <a:p>
            <a:endParaRPr lang="fr-FR"/>
          </a:p>
        </p:txBody>
      </p:sp>
      <p:pic>
        <p:nvPicPr>
          <p:cNvPr id="8" name="Image 0" descr="Miniature du diagramme : Base transactionnelle"/>
          <p:cNvPicPr>
            <a:picLocks noChangeAspect="1"/>
          </p:cNvPicPr>
          <p:nvPr/>
        </p:nvPicPr>
        <p:blipFill>
          <a:blip r:embed="rId3"/>
          <a:stretch>
            <a:fillRect/>
          </a:stretch>
        </p:blipFill>
        <p:spPr>
          <a:xfrm>
            <a:off x="1501585" y="2212848"/>
            <a:ext cx="1623693" cy="1197864"/>
          </a:xfrm>
          <a:prstGeom prst="rect">
            <a:avLst/>
          </a:prstGeom>
        </p:spPr>
      </p:pic>
      <p:sp>
        <p:nvSpPr>
          <p:cNvPr id="9" name="Text 6"/>
          <p:cNvSpPr txBox="1"/>
          <p:nvPr/>
        </p:nvSpPr>
        <p:spPr>
          <a:xfrm>
            <a:off x="777240" y="3611880"/>
            <a:ext cx="3108960" cy="1600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62626"/>
                </a:solidFill>
                <a:latin typeface="Calibri" pitchFamily="34" charset="0"/>
                <a:ea typeface="Calibri" pitchFamily="34" charset="-122"/>
                <a:cs typeface="Calibri" pitchFamily="34" charset="-120"/>
              </a:rPr>
              <a:t>12 tables en troisième forme normale</a:t>
            </a:r>
            <a:endParaRPr lang="en-US" sz="1500" dirty="0"/>
          </a:p>
          <a:p>
            <a:pPr marL="342900" indent="-342900">
              <a:spcAft>
                <a:spcPts val="600"/>
              </a:spcAft>
              <a:buSzPct val="100000"/>
              <a:buChar char="•"/>
            </a:pPr>
            <a:r>
              <a:rPr lang="en-US" sz="1500" dirty="0">
                <a:solidFill>
                  <a:srgbClr val="262626"/>
                </a:solidFill>
                <a:latin typeface="Calibri" pitchFamily="34" charset="0"/>
                <a:ea typeface="Calibri" pitchFamily="34" charset="-122"/>
                <a:cs typeface="Calibri" pitchFamily="34" charset="-120"/>
              </a:rPr>
              <a:t>ACID : contraintes et déclencheurs dans la même transaction</a:t>
            </a:r>
            <a:endParaRPr lang="en-US" sz="1500" dirty="0"/>
          </a:p>
          <a:p>
            <a:pPr marL="342900" indent="-342900">
              <a:spcAft>
                <a:spcPts val="600"/>
              </a:spcAft>
              <a:buSzPct val="100000"/>
              <a:buChar char="•"/>
            </a:pPr>
            <a:r>
              <a:rPr lang="en-US" sz="1500" dirty="0">
                <a:solidFill>
                  <a:srgbClr val="262626"/>
                </a:solidFill>
                <a:latin typeface="Calibri" pitchFamily="34" charset="0"/>
                <a:ea typeface="Calibri" pitchFamily="34" charset="-122"/>
                <a:cs typeface="Calibri" pitchFamily="34" charset="-120"/>
              </a:rPr>
              <a:t>Réplica en continu, bascule par promotion</a:t>
            </a:r>
            <a:endParaRPr lang="en-US" sz="1500" dirty="0"/>
          </a:p>
        </p:txBody>
      </p:sp>
      <p:sp>
        <p:nvSpPr>
          <p:cNvPr id="10" name="Shape 7"/>
          <p:cNvSpPr/>
          <p:nvPr/>
        </p:nvSpPr>
        <p:spPr>
          <a:xfrm>
            <a:off x="4315968" y="1234440"/>
            <a:ext cx="3529584" cy="4069080"/>
          </a:xfrm>
          <a:prstGeom prst="roundRect">
            <a:avLst>
              <a:gd name="adj" fmla="val 3109"/>
            </a:avLst>
          </a:prstGeom>
          <a:solidFill>
            <a:srgbClr val="E2EFDA"/>
          </a:solidFill>
          <a:ln w="9525">
            <a:solidFill>
              <a:srgbClr val="D9D9D9"/>
            </a:solidFill>
            <a:prstDash val="solid"/>
          </a:ln>
        </p:spPr>
        <p:txBody>
          <a:bodyPr/>
          <a:lstStyle/>
          <a:p>
            <a:endParaRPr lang="fr-FR"/>
          </a:p>
        </p:txBody>
      </p:sp>
      <p:sp>
        <p:nvSpPr>
          <p:cNvPr id="11" name="Shape 8"/>
          <p:cNvSpPr/>
          <p:nvPr/>
        </p:nvSpPr>
        <p:spPr>
          <a:xfrm>
            <a:off x="4315968" y="1234440"/>
            <a:ext cx="3529584" cy="777240"/>
          </a:xfrm>
          <a:prstGeom prst="roundRect">
            <a:avLst>
              <a:gd name="adj" fmla="val 14118"/>
            </a:avLst>
          </a:prstGeom>
          <a:solidFill>
            <a:srgbClr val="375623"/>
          </a:solidFill>
          <a:ln w="12700">
            <a:solidFill>
              <a:srgbClr val="375623"/>
            </a:solidFill>
            <a:prstDash val="solid"/>
          </a:ln>
        </p:spPr>
        <p:txBody>
          <a:bodyPr/>
          <a:lstStyle/>
          <a:p>
            <a:endParaRPr lang="fr-FR"/>
          </a:p>
        </p:txBody>
      </p:sp>
      <p:sp>
        <p:nvSpPr>
          <p:cNvPr id="12" name="Text 9"/>
          <p:cNvSpPr txBox="1"/>
          <p:nvPr/>
        </p:nvSpPr>
        <p:spPr>
          <a:xfrm>
            <a:off x="4498848" y="1280160"/>
            <a:ext cx="3163824"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Entrepôt analytique</a:t>
            </a:r>
            <a:endParaRPr lang="en-US" sz="1800" dirty="0"/>
          </a:p>
        </p:txBody>
      </p:sp>
      <p:sp>
        <p:nvSpPr>
          <p:cNvPr id="13" name="Text 10"/>
          <p:cNvSpPr txBox="1"/>
          <p:nvPr/>
        </p:nvSpPr>
        <p:spPr>
          <a:xfrm>
            <a:off x="4498848" y="1645920"/>
            <a:ext cx="3163824" cy="310896"/>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Schéma en étoile</a:t>
            </a:r>
            <a:endParaRPr lang="en-US" sz="1400" dirty="0"/>
          </a:p>
        </p:txBody>
      </p:sp>
      <p:sp>
        <p:nvSpPr>
          <p:cNvPr id="14" name="Shape 11"/>
          <p:cNvSpPr/>
          <p:nvPr/>
        </p:nvSpPr>
        <p:spPr>
          <a:xfrm>
            <a:off x="4480560" y="2148840"/>
            <a:ext cx="3200400" cy="1325880"/>
          </a:xfrm>
          <a:prstGeom prst="rect">
            <a:avLst/>
          </a:prstGeom>
          <a:solidFill>
            <a:srgbClr val="FFFFFF"/>
          </a:solidFill>
          <a:ln w="9525">
            <a:solidFill>
              <a:srgbClr val="D9D9D9"/>
            </a:solidFill>
            <a:prstDash val="solid"/>
          </a:ln>
        </p:spPr>
        <p:txBody>
          <a:bodyPr/>
          <a:lstStyle/>
          <a:p>
            <a:endParaRPr lang="fr-FR"/>
          </a:p>
        </p:txBody>
      </p:sp>
      <p:pic>
        <p:nvPicPr>
          <p:cNvPr id="15" name="Image 1" descr="Miniature du diagramme : Entrepôt analytique"/>
          <p:cNvPicPr>
            <a:picLocks noChangeAspect="1"/>
          </p:cNvPicPr>
          <p:nvPr/>
        </p:nvPicPr>
        <p:blipFill>
          <a:blip r:embed="rId4"/>
          <a:stretch>
            <a:fillRect/>
          </a:stretch>
        </p:blipFill>
        <p:spPr>
          <a:xfrm>
            <a:off x="4792480" y="2212848"/>
            <a:ext cx="2576560" cy="1197864"/>
          </a:xfrm>
          <a:prstGeom prst="rect">
            <a:avLst/>
          </a:prstGeom>
        </p:spPr>
      </p:pic>
      <p:sp>
        <p:nvSpPr>
          <p:cNvPr id="16" name="Text 12"/>
          <p:cNvSpPr txBox="1"/>
          <p:nvPr/>
        </p:nvSpPr>
        <p:spPr>
          <a:xfrm>
            <a:off x="4544568" y="3611880"/>
            <a:ext cx="3108960" cy="1600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62626"/>
                </a:solidFill>
                <a:latin typeface="Calibri" pitchFamily="34" charset="0"/>
                <a:ea typeface="Calibri" pitchFamily="34" charset="-122"/>
                <a:cs typeface="Calibri" pitchFamily="34" charset="-120"/>
              </a:rPr>
              <a:t>7 dimensions, faits partitionnés par mois</a:t>
            </a:r>
            <a:endParaRPr lang="en-US" sz="1500" dirty="0"/>
          </a:p>
          <a:p>
            <a:pPr marL="342900" indent="-342900">
              <a:spcAft>
                <a:spcPts val="600"/>
              </a:spcAft>
              <a:buSzPct val="100000"/>
              <a:buChar char="•"/>
            </a:pPr>
            <a:r>
              <a:rPr lang="en-US" sz="1500" dirty="0">
                <a:solidFill>
                  <a:srgbClr val="262626"/>
                </a:solidFill>
                <a:latin typeface="Calibri" pitchFamily="34" charset="0"/>
                <a:ea typeface="Calibri" pitchFamily="34" charset="-122"/>
                <a:cs typeface="Calibri" pitchFamily="34" charset="-120"/>
              </a:rPr>
              <a:t>Agrégats quotidiens et 3 vues matérialisées</a:t>
            </a:r>
            <a:endParaRPr lang="en-US" sz="1500" dirty="0"/>
          </a:p>
          <a:p>
            <a:pPr marL="342900" indent="-342900">
              <a:spcAft>
                <a:spcPts val="600"/>
              </a:spcAft>
              <a:buSzPct val="100000"/>
              <a:buChar char="•"/>
            </a:pPr>
            <a:r>
              <a:rPr lang="en-US" sz="1500" dirty="0">
                <a:solidFill>
                  <a:srgbClr val="262626"/>
                </a:solidFill>
                <a:latin typeface="Calibri" pitchFamily="34" charset="0"/>
                <a:ea typeface="Calibri" pitchFamily="34" charset="-122"/>
                <a:cs typeface="Calibri" pitchFamily="34" charset="-120"/>
              </a:rPr>
              <a:t>Chargement incrémental toutes les 15 minutes</a:t>
            </a:r>
            <a:endParaRPr lang="en-US" sz="1500" dirty="0"/>
          </a:p>
        </p:txBody>
      </p:sp>
      <p:sp>
        <p:nvSpPr>
          <p:cNvPr id="17" name="Shape 13"/>
          <p:cNvSpPr/>
          <p:nvPr/>
        </p:nvSpPr>
        <p:spPr>
          <a:xfrm>
            <a:off x="8083296" y="1234440"/>
            <a:ext cx="3529584" cy="4069080"/>
          </a:xfrm>
          <a:prstGeom prst="roundRect">
            <a:avLst>
              <a:gd name="adj" fmla="val 3109"/>
            </a:avLst>
          </a:prstGeom>
          <a:solidFill>
            <a:srgbClr val="DDF0EF"/>
          </a:solidFill>
          <a:ln w="9525">
            <a:solidFill>
              <a:srgbClr val="D9D9D9"/>
            </a:solidFill>
            <a:prstDash val="solid"/>
          </a:ln>
        </p:spPr>
        <p:txBody>
          <a:bodyPr/>
          <a:lstStyle/>
          <a:p>
            <a:endParaRPr lang="fr-FR"/>
          </a:p>
        </p:txBody>
      </p:sp>
      <p:sp>
        <p:nvSpPr>
          <p:cNvPr id="18" name="Shape 14"/>
          <p:cNvSpPr/>
          <p:nvPr/>
        </p:nvSpPr>
        <p:spPr>
          <a:xfrm>
            <a:off x="8083296" y="1234440"/>
            <a:ext cx="3529584" cy="777240"/>
          </a:xfrm>
          <a:prstGeom prst="roundRect">
            <a:avLst>
              <a:gd name="adj" fmla="val 14118"/>
            </a:avLst>
          </a:prstGeom>
          <a:solidFill>
            <a:srgbClr val="0E6B6B"/>
          </a:solidFill>
          <a:ln w="12700">
            <a:solidFill>
              <a:srgbClr val="0E6B6B"/>
            </a:solidFill>
            <a:prstDash val="solid"/>
          </a:ln>
        </p:spPr>
        <p:txBody>
          <a:bodyPr/>
          <a:lstStyle/>
          <a:p>
            <a:endParaRPr lang="fr-FR"/>
          </a:p>
        </p:txBody>
      </p:sp>
      <p:sp>
        <p:nvSpPr>
          <p:cNvPr id="19" name="Text 15"/>
          <p:cNvSpPr txBox="1"/>
          <p:nvPr/>
        </p:nvSpPr>
        <p:spPr>
          <a:xfrm>
            <a:off x="8266176" y="1280160"/>
            <a:ext cx="3163824"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Base NoSQL</a:t>
            </a:r>
            <a:endParaRPr lang="en-US" sz="1800" dirty="0"/>
          </a:p>
        </p:txBody>
      </p:sp>
      <p:sp>
        <p:nvSpPr>
          <p:cNvPr id="20" name="Text 16"/>
          <p:cNvSpPr txBox="1"/>
          <p:nvPr/>
        </p:nvSpPr>
        <p:spPr>
          <a:xfrm>
            <a:off x="8266176" y="1645920"/>
            <a:ext cx="3163824" cy="310896"/>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MongoDB 8.0</a:t>
            </a:r>
            <a:endParaRPr lang="en-US" sz="1400" dirty="0"/>
          </a:p>
        </p:txBody>
      </p:sp>
      <p:sp>
        <p:nvSpPr>
          <p:cNvPr id="21" name="Shape 17"/>
          <p:cNvSpPr/>
          <p:nvPr/>
        </p:nvSpPr>
        <p:spPr>
          <a:xfrm>
            <a:off x="8247888" y="2148840"/>
            <a:ext cx="3200400" cy="1325880"/>
          </a:xfrm>
          <a:prstGeom prst="rect">
            <a:avLst/>
          </a:prstGeom>
          <a:solidFill>
            <a:srgbClr val="FFFFFF"/>
          </a:solidFill>
          <a:ln w="9525">
            <a:solidFill>
              <a:srgbClr val="D9D9D9"/>
            </a:solidFill>
            <a:prstDash val="solid"/>
          </a:ln>
        </p:spPr>
        <p:txBody>
          <a:bodyPr/>
          <a:lstStyle/>
          <a:p>
            <a:endParaRPr lang="fr-FR"/>
          </a:p>
        </p:txBody>
      </p:sp>
      <p:pic>
        <p:nvPicPr>
          <p:cNvPr id="22" name="Image 2" descr="Miniature du diagramme : Base NoSQL"/>
          <p:cNvPicPr>
            <a:picLocks noChangeAspect="1"/>
          </p:cNvPicPr>
          <p:nvPr/>
        </p:nvPicPr>
        <p:blipFill>
          <a:blip r:embed="rId5"/>
          <a:stretch>
            <a:fillRect/>
          </a:stretch>
        </p:blipFill>
        <p:spPr>
          <a:xfrm>
            <a:off x="8311896" y="2212848"/>
            <a:ext cx="3072384" cy="1096221"/>
          </a:xfrm>
          <a:prstGeom prst="rect">
            <a:avLst/>
          </a:prstGeom>
        </p:spPr>
      </p:pic>
      <p:sp>
        <p:nvSpPr>
          <p:cNvPr id="23" name="Text 18"/>
          <p:cNvSpPr txBox="1"/>
          <p:nvPr/>
        </p:nvSpPr>
        <p:spPr>
          <a:xfrm>
            <a:off x="8311896" y="3611880"/>
            <a:ext cx="3108960" cy="1600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62626"/>
                </a:solidFill>
                <a:latin typeface="Calibri" pitchFamily="34" charset="0"/>
                <a:ea typeface="Calibri" pitchFamily="34" charset="-122"/>
                <a:cs typeface="Calibri" pitchFamily="34" charset="-120"/>
              </a:rPr>
              <a:t>7 collections validées et GridFS : JSON, XML, binaire</a:t>
            </a:r>
            <a:endParaRPr lang="en-US" sz="1500" dirty="0"/>
          </a:p>
          <a:p>
            <a:pPr marL="342900" indent="-342900">
              <a:spcAft>
                <a:spcPts val="600"/>
              </a:spcAft>
              <a:buSzPct val="100000"/>
              <a:buChar char="•"/>
            </a:pPr>
            <a:r>
              <a:rPr lang="en-US" sz="1500" dirty="0">
                <a:solidFill>
                  <a:srgbClr val="262626"/>
                </a:solidFill>
                <a:latin typeface="Calibri" pitchFamily="34" charset="0"/>
                <a:ea typeface="Calibri" pitchFamily="34" charset="-122"/>
                <a:cs typeface="Calibri" pitchFamily="34" charset="-120"/>
              </a:rPr>
              <a:t>Imbriquer ce qui est lu ensemble, référencer le reste</a:t>
            </a:r>
            <a:endParaRPr lang="en-US" sz="1500" dirty="0"/>
          </a:p>
          <a:p>
            <a:pPr marL="342900" indent="-342900">
              <a:spcAft>
                <a:spcPts val="600"/>
              </a:spcAft>
              <a:buSzPct val="100000"/>
              <a:buChar char="•"/>
            </a:pPr>
            <a:r>
              <a:rPr lang="en-US" sz="1500" dirty="0">
                <a:solidFill>
                  <a:srgbClr val="262626"/>
                </a:solidFill>
                <a:latin typeface="Calibri" pitchFamily="34" charset="0"/>
                <a:ea typeface="Calibri" pitchFamily="34" charset="-122"/>
                <a:cs typeface="Calibri" pitchFamily="34" charset="-120"/>
              </a:rPr>
              <a:t>Profils et registre des modèles pour l'IA</a:t>
            </a:r>
            <a:endParaRPr lang="en-US" sz="1500" dirty="0"/>
          </a:p>
        </p:txBody>
      </p:sp>
      <p:sp>
        <p:nvSpPr>
          <p:cNvPr id="24" name="Shape 19"/>
          <p:cNvSpPr/>
          <p:nvPr/>
        </p:nvSpPr>
        <p:spPr>
          <a:xfrm>
            <a:off x="548640" y="5486400"/>
            <a:ext cx="11064240" cy="685800"/>
          </a:xfrm>
          <a:prstGeom prst="roundRect">
            <a:avLst>
              <a:gd name="adj" fmla="val 13333"/>
            </a:avLst>
          </a:prstGeom>
          <a:solidFill>
            <a:srgbClr val="1F3864"/>
          </a:solidFill>
          <a:ln w="12700">
            <a:solidFill>
              <a:srgbClr val="1F3864"/>
            </a:solidFill>
            <a:prstDash val="solid"/>
          </a:ln>
        </p:spPr>
        <p:txBody>
          <a:bodyPr/>
          <a:lstStyle/>
          <a:p>
            <a:endParaRPr lang="fr-FR"/>
          </a:p>
        </p:txBody>
      </p:sp>
      <p:sp>
        <p:nvSpPr>
          <p:cNvPr id="25" name="Text 20"/>
          <p:cNvSpPr txBox="1"/>
          <p:nvPr/>
        </p:nvSpPr>
        <p:spPr>
          <a:xfrm>
            <a:off x="822960" y="5532120"/>
            <a:ext cx="10515600" cy="594360"/>
          </a:xfrm>
          <a:prstGeom prst="rect">
            <a:avLst/>
          </a:prstGeom>
          <a:noFill/>
          <a:ln/>
        </p:spPr>
        <p:txBody>
          <a:bodyPr wrap="square" lIns="0" tIns="0" rIns="0" bIns="0" rtlCol="0" anchor="ctr"/>
          <a:lstStyle/>
          <a:p>
            <a:pPr marL="0" indent="0">
              <a:buNone/>
            </a:pPr>
            <a:r>
              <a:rPr lang="en-US" sz="1600" b="1" dirty="0">
                <a:solidFill>
                  <a:srgbClr val="9DC3E6"/>
                </a:solidFill>
                <a:latin typeface="Calibri" pitchFamily="34" charset="0"/>
                <a:ea typeface="Calibri" pitchFamily="34" charset="-122"/>
                <a:cs typeface="Calibri" pitchFamily="34" charset="-120"/>
              </a:rPr>
              <a:t>Intégration : </a:t>
            </a:r>
            <a:r>
              <a:rPr lang="en-US" sz="1600" dirty="0">
                <a:solidFill>
                  <a:srgbClr val="FFFFFF"/>
                </a:solidFill>
                <a:latin typeface="Calibri" pitchFamily="34" charset="0"/>
                <a:ea typeface="Calibri" pitchFamily="34" charset="-122"/>
                <a:cs typeface="Calibri" pitchFamily="34" charset="-120"/>
              </a:rPr>
              <a:t>les trois bases partagent les mêmes identifiants ; un paiement se suit de l'une à l'autre.</a:t>
            </a:r>
            <a:endParaRPr lang="en-US" sz="16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595959"/>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64240" cy="731520"/>
          </a:xfrm>
          <a:prstGeom prst="rect">
            <a:avLst/>
          </a:prstGeom>
          <a:noFill/>
          <a:ln/>
        </p:spPr>
        <p:txBody>
          <a:bodyPr wrap="square" lIns="0" tIns="0" rIns="0" bIns="0" rtlCol="0" anchor="ctr"/>
          <a:lstStyle/>
          <a:p>
            <a:pPr marL="0" indent="0" algn="l">
              <a:buNone/>
            </a:pPr>
            <a:r>
              <a:rPr lang="en-US" sz="3000" b="1" dirty="0">
                <a:solidFill>
                  <a:schemeClr val="tx2"/>
                </a:solidFill>
              </a:rPr>
              <a:t>Pipeline : chaque paiement noté en temps réel, sans perte</a:t>
            </a:r>
            <a:endParaRPr lang="en-US" sz="3000" dirty="0"/>
          </a:p>
        </p:txBody>
      </p:sp>
      <p:sp>
        <p:nvSpPr>
          <p:cNvPr id="3" name="Shape 1"/>
          <p:cNvSpPr/>
          <p:nvPr/>
        </p:nvSpPr>
        <p:spPr>
          <a:xfrm>
            <a:off x="548640" y="1280160"/>
            <a:ext cx="1627632" cy="960120"/>
          </a:xfrm>
          <a:prstGeom prst="roundRect">
            <a:avLst>
              <a:gd name="adj" fmla="val 9524"/>
            </a:avLst>
          </a:prstGeom>
          <a:solidFill>
            <a:srgbClr val="DEEBF7"/>
          </a:solidFill>
          <a:ln w="19050">
            <a:solidFill>
              <a:srgbClr val="1F3864"/>
            </a:solidFill>
            <a:prstDash val="solid"/>
          </a:ln>
        </p:spPr>
        <p:txBody>
          <a:bodyPr/>
          <a:lstStyle/>
          <a:p>
            <a:endParaRPr lang="fr-FR"/>
          </a:p>
        </p:txBody>
      </p:sp>
      <p:sp>
        <p:nvSpPr>
          <p:cNvPr id="4" name="Text 2"/>
          <p:cNvSpPr txBox="1"/>
          <p:nvPr/>
        </p:nvSpPr>
        <p:spPr>
          <a:xfrm>
            <a:off x="621792" y="1353312"/>
            <a:ext cx="1481328" cy="411480"/>
          </a:xfrm>
          <a:prstGeom prst="rect">
            <a:avLst/>
          </a:prstGeom>
          <a:noFill/>
          <a:ln/>
        </p:spPr>
        <p:txBody>
          <a:bodyPr wrap="square" lIns="0" tIns="0" rIns="0" bIns="0" rtlCol="0" anchor="ctr"/>
          <a:lstStyle/>
          <a:p>
            <a:pPr marL="0" indent="0" algn="ctr">
              <a:buNone/>
            </a:pPr>
            <a:r>
              <a:rPr lang="en-US" sz="1400" b="1" dirty="0">
                <a:solidFill>
                  <a:srgbClr val="1F3864"/>
                </a:solidFill>
                <a:latin typeface="Calibri" pitchFamily="34" charset="0"/>
                <a:ea typeface="Calibri" pitchFamily="34" charset="-122"/>
                <a:cs typeface="Calibri" pitchFamily="34" charset="-120"/>
              </a:rPr>
              <a:t>Paiement enregistré</a:t>
            </a:r>
            <a:endParaRPr lang="en-US" sz="1400" dirty="0"/>
          </a:p>
        </p:txBody>
      </p:sp>
      <p:sp>
        <p:nvSpPr>
          <p:cNvPr id="5" name="Text 3"/>
          <p:cNvSpPr txBox="1"/>
          <p:nvPr/>
        </p:nvSpPr>
        <p:spPr>
          <a:xfrm>
            <a:off x="621792" y="1755648"/>
            <a:ext cx="1481328" cy="384048"/>
          </a:xfrm>
          <a:prstGeom prst="rect">
            <a:avLst/>
          </a:prstGeom>
          <a:noFill/>
          <a:ln/>
        </p:spPr>
        <p:txBody>
          <a:bodyPr wrap="square" lIns="0" tIns="0" rIns="0" bIns="0" rtlCol="0" anchor="ctr"/>
          <a:lstStyle/>
          <a:p>
            <a:pPr marL="0" indent="0" algn="ctr">
              <a:buNone/>
            </a:pPr>
            <a:r>
              <a:rPr lang="en-US" sz="1200" dirty="0">
                <a:solidFill>
                  <a:srgbClr val="404040"/>
                </a:solidFill>
                <a:latin typeface="Calibri" pitchFamily="34" charset="0"/>
                <a:ea typeface="Calibri" pitchFamily="34" charset="-122"/>
                <a:cs typeface="Calibri" pitchFamily="34" charset="-120"/>
              </a:rPr>
              <a:t>PostgreSQL</a:t>
            </a:r>
            <a:endParaRPr lang="en-US" sz="1200" dirty="0"/>
          </a:p>
        </p:txBody>
      </p:sp>
      <p:sp>
        <p:nvSpPr>
          <p:cNvPr id="6" name="Shape 4"/>
          <p:cNvSpPr/>
          <p:nvPr/>
        </p:nvSpPr>
        <p:spPr>
          <a:xfrm>
            <a:off x="2212848" y="1627632"/>
            <a:ext cx="182880" cy="274320"/>
          </a:xfrm>
          <a:prstGeom prst="rightArrow">
            <a:avLst/>
          </a:prstGeom>
          <a:solidFill>
            <a:srgbClr val="1F3864"/>
          </a:solidFill>
          <a:ln w="12700">
            <a:solidFill>
              <a:srgbClr val="1F3864"/>
            </a:solidFill>
            <a:prstDash val="solid"/>
          </a:ln>
        </p:spPr>
        <p:txBody>
          <a:bodyPr/>
          <a:lstStyle/>
          <a:p>
            <a:endParaRPr lang="fr-FR"/>
          </a:p>
        </p:txBody>
      </p:sp>
      <p:sp>
        <p:nvSpPr>
          <p:cNvPr id="7" name="Shape 5"/>
          <p:cNvSpPr/>
          <p:nvPr/>
        </p:nvSpPr>
        <p:spPr>
          <a:xfrm>
            <a:off x="2432304" y="1280160"/>
            <a:ext cx="1627632" cy="960120"/>
          </a:xfrm>
          <a:prstGeom prst="roundRect">
            <a:avLst>
              <a:gd name="adj" fmla="val 9524"/>
            </a:avLst>
          </a:prstGeom>
          <a:solidFill>
            <a:srgbClr val="DEEBF7"/>
          </a:solidFill>
          <a:ln w="19050">
            <a:solidFill>
              <a:srgbClr val="1F3864"/>
            </a:solidFill>
            <a:prstDash val="solid"/>
          </a:ln>
        </p:spPr>
        <p:txBody>
          <a:bodyPr/>
          <a:lstStyle/>
          <a:p>
            <a:endParaRPr lang="fr-FR"/>
          </a:p>
        </p:txBody>
      </p:sp>
      <p:sp>
        <p:nvSpPr>
          <p:cNvPr id="8" name="Text 6"/>
          <p:cNvSpPr txBox="1"/>
          <p:nvPr/>
        </p:nvSpPr>
        <p:spPr>
          <a:xfrm>
            <a:off x="2505456" y="1353312"/>
            <a:ext cx="1481328" cy="411480"/>
          </a:xfrm>
          <a:prstGeom prst="rect">
            <a:avLst/>
          </a:prstGeom>
          <a:noFill/>
          <a:ln/>
        </p:spPr>
        <p:txBody>
          <a:bodyPr wrap="square" lIns="0" tIns="0" rIns="0" bIns="0" rtlCol="0" anchor="ctr"/>
          <a:lstStyle/>
          <a:p>
            <a:pPr marL="0" indent="0" algn="ctr">
              <a:buNone/>
            </a:pPr>
            <a:r>
              <a:rPr lang="en-US" sz="1400" b="1" dirty="0">
                <a:solidFill>
                  <a:srgbClr val="1F3864"/>
                </a:solidFill>
                <a:latin typeface="Calibri" pitchFamily="34" charset="0"/>
                <a:ea typeface="Calibri" pitchFamily="34" charset="-122"/>
                <a:cs typeface="Calibri" pitchFamily="34" charset="-120"/>
              </a:rPr>
              <a:t>Journal conservé</a:t>
            </a:r>
            <a:endParaRPr lang="en-US" sz="1400" dirty="0"/>
          </a:p>
        </p:txBody>
      </p:sp>
      <p:sp>
        <p:nvSpPr>
          <p:cNvPr id="9" name="Text 7"/>
          <p:cNvSpPr txBox="1"/>
          <p:nvPr/>
        </p:nvSpPr>
        <p:spPr>
          <a:xfrm>
            <a:off x="2505456" y="1755648"/>
            <a:ext cx="1481328" cy="384048"/>
          </a:xfrm>
          <a:prstGeom prst="rect">
            <a:avLst/>
          </a:prstGeom>
          <a:noFill/>
          <a:ln/>
        </p:spPr>
        <p:txBody>
          <a:bodyPr wrap="square" lIns="0" tIns="0" rIns="0" bIns="0" rtlCol="0" anchor="ctr"/>
          <a:lstStyle/>
          <a:p>
            <a:pPr marL="0" indent="0" algn="ctr">
              <a:buNone/>
            </a:pPr>
            <a:r>
              <a:rPr lang="en-US" sz="1200" dirty="0">
                <a:solidFill>
                  <a:srgbClr val="404040"/>
                </a:solidFill>
                <a:latin typeface="Calibri" pitchFamily="34" charset="0"/>
                <a:ea typeface="Calibri" pitchFamily="34" charset="-122"/>
                <a:cs typeface="Calibri" pitchFamily="34" charset="-120"/>
              </a:rPr>
              <a:t>slot de réplication</a:t>
            </a:r>
            <a:endParaRPr lang="en-US" sz="1200" dirty="0"/>
          </a:p>
        </p:txBody>
      </p:sp>
      <p:sp>
        <p:nvSpPr>
          <p:cNvPr id="10" name="Shape 8"/>
          <p:cNvSpPr/>
          <p:nvPr/>
        </p:nvSpPr>
        <p:spPr>
          <a:xfrm>
            <a:off x="4096512" y="1627632"/>
            <a:ext cx="182880" cy="274320"/>
          </a:xfrm>
          <a:prstGeom prst="rightArrow">
            <a:avLst/>
          </a:prstGeom>
          <a:solidFill>
            <a:srgbClr val="1F3864"/>
          </a:solidFill>
          <a:ln w="12700">
            <a:solidFill>
              <a:srgbClr val="1F3864"/>
            </a:solidFill>
            <a:prstDash val="solid"/>
          </a:ln>
        </p:spPr>
        <p:txBody>
          <a:bodyPr/>
          <a:lstStyle/>
          <a:p>
            <a:endParaRPr lang="fr-FR"/>
          </a:p>
        </p:txBody>
      </p:sp>
      <p:sp>
        <p:nvSpPr>
          <p:cNvPr id="11" name="Shape 9"/>
          <p:cNvSpPr/>
          <p:nvPr/>
        </p:nvSpPr>
        <p:spPr>
          <a:xfrm>
            <a:off x="4315968" y="1280160"/>
            <a:ext cx="1627632" cy="960120"/>
          </a:xfrm>
          <a:prstGeom prst="roundRect">
            <a:avLst>
              <a:gd name="adj" fmla="val 9524"/>
            </a:avLst>
          </a:prstGeom>
          <a:solidFill>
            <a:srgbClr val="FBE5D6"/>
          </a:solidFill>
          <a:ln w="19050">
            <a:solidFill>
              <a:srgbClr val="C55A11"/>
            </a:solidFill>
            <a:prstDash val="solid"/>
          </a:ln>
        </p:spPr>
        <p:txBody>
          <a:bodyPr/>
          <a:lstStyle/>
          <a:p>
            <a:endParaRPr lang="fr-FR"/>
          </a:p>
        </p:txBody>
      </p:sp>
      <p:sp>
        <p:nvSpPr>
          <p:cNvPr id="12" name="Text 10"/>
          <p:cNvSpPr txBox="1"/>
          <p:nvPr/>
        </p:nvSpPr>
        <p:spPr>
          <a:xfrm>
            <a:off x="4389120" y="1353312"/>
            <a:ext cx="1481328" cy="411480"/>
          </a:xfrm>
          <a:prstGeom prst="rect">
            <a:avLst/>
          </a:prstGeom>
          <a:noFill/>
          <a:ln/>
        </p:spPr>
        <p:txBody>
          <a:bodyPr wrap="square" lIns="0" tIns="0" rIns="0" bIns="0" rtlCol="0" anchor="ctr"/>
          <a:lstStyle/>
          <a:p>
            <a:pPr marL="0" indent="0" algn="ctr">
              <a:buNone/>
            </a:pPr>
            <a:r>
              <a:rPr lang="en-US" sz="1400" b="1" dirty="0">
                <a:solidFill>
                  <a:srgbClr val="C55A11"/>
                </a:solidFill>
                <a:latin typeface="Calibri" pitchFamily="34" charset="0"/>
                <a:ea typeface="Calibri" pitchFamily="34" charset="-122"/>
                <a:cs typeface="Calibri" pitchFamily="34" charset="-120"/>
              </a:rPr>
              <a:t>Capture</a:t>
            </a:r>
            <a:endParaRPr lang="en-US" sz="1400" dirty="0"/>
          </a:p>
        </p:txBody>
      </p:sp>
      <p:sp>
        <p:nvSpPr>
          <p:cNvPr id="13" name="Text 11"/>
          <p:cNvSpPr txBox="1"/>
          <p:nvPr/>
        </p:nvSpPr>
        <p:spPr>
          <a:xfrm>
            <a:off x="4389120" y="1755648"/>
            <a:ext cx="1481328" cy="384048"/>
          </a:xfrm>
          <a:prstGeom prst="rect">
            <a:avLst/>
          </a:prstGeom>
          <a:noFill/>
          <a:ln/>
        </p:spPr>
        <p:txBody>
          <a:bodyPr wrap="square" lIns="0" tIns="0" rIns="0" bIns="0" rtlCol="0" anchor="ctr"/>
          <a:lstStyle/>
          <a:p>
            <a:pPr marL="0" indent="0" algn="ctr">
              <a:buNone/>
            </a:pPr>
            <a:r>
              <a:rPr lang="en-US" sz="1200" dirty="0">
                <a:solidFill>
                  <a:srgbClr val="404040"/>
                </a:solidFill>
                <a:latin typeface="Calibri" pitchFamily="34" charset="0"/>
                <a:ea typeface="Calibri" pitchFamily="34" charset="-122"/>
                <a:cs typeface="Calibri" pitchFamily="34" charset="-120"/>
              </a:rPr>
              <a:t>Debezium</a:t>
            </a:r>
            <a:endParaRPr lang="en-US" sz="1200" dirty="0"/>
          </a:p>
        </p:txBody>
      </p:sp>
      <p:sp>
        <p:nvSpPr>
          <p:cNvPr id="14" name="Shape 12"/>
          <p:cNvSpPr/>
          <p:nvPr/>
        </p:nvSpPr>
        <p:spPr>
          <a:xfrm>
            <a:off x="5980176" y="1627632"/>
            <a:ext cx="182880" cy="274320"/>
          </a:xfrm>
          <a:prstGeom prst="rightArrow">
            <a:avLst/>
          </a:prstGeom>
          <a:solidFill>
            <a:srgbClr val="1F3864"/>
          </a:solidFill>
          <a:ln w="12700">
            <a:solidFill>
              <a:srgbClr val="1F3864"/>
            </a:solidFill>
            <a:prstDash val="solid"/>
          </a:ln>
        </p:spPr>
        <p:txBody>
          <a:bodyPr/>
          <a:lstStyle/>
          <a:p>
            <a:endParaRPr lang="fr-FR"/>
          </a:p>
        </p:txBody>
      </p:sp>
      <p:sp>
        <p:nvSpPr>
          <p:cNvPr id="15" name="Shape 13"/>
          <p:cNvSpPr/>
          <p:nvPr/>
        </p:nvSpPr>
        <p:spPr>
          <a:xfrm>
            <a:off x="6199632" y="1280160"/>
            <a:ext cx="1627632" cy="960120"/>
          </a:xfrm>
          <a:prstGeom prst="roundRect">
            <a:avLst>
              <a:gd name="adj" fmla="val 9524"/>
            </a:avLst>
          </a:prstGeom>
          <a:solidFill>
            <a:srgbClr val="FBE5D6"/>
          </a:solidFill>
          <a:ln w="19050">
            <a:solidFill>
              <a:srgbClr val="C55A11"/>
            </a:solidFill>
            <a:prstDash val="solid"/>
          </a:ln>
        </p:spPr>
        <p:txBody>
          <a:bodyPr/>
          <a:lstStyle/>
          <a:p>
            <a:endParaRPr lang="fr-FR"/>
          </a:p>
        </p:txBody>
      </p:sp>
      <p:sp>
        <p:nvSpPr>
          <p:cNvPr id="16" name="Text 14"/>
          <p:cNvSpPr txBox="1"/>
          <p:nvPr/>
        </p:nvSpPr>
        <p:spPr>
          <a:xfrm>
            <a:off x="6272784" y="1353312"/>
            <a:ext cx="1481328" cy="411480"/>
          </a:xfrm>
          <a:prstGeom prst="rect">
            <a:avLst/>
          </a:prstGeom>
          <a:noFill/>
          <a:ln/>
        </p:spPr>
        <p:txBody>
          <a:bodyPr wrap="square" lIns="0" tIns="0" rIns="0" bIns="0" rtlCol="0" anchor="ctr"/>
          <a:lstStyle/>
          <a:p>
            <a:pPr marL="0" indent="0" algn="ctr">
              <a:buNone/>
            </a:pPr>
            <a:r>
              <a:rPr lang="en-US" sz="1400" b="1" dirty="0">
                <a:solidFill>
                  <a:srgbClr val="C55A11"/>
                </a:solidFill>
                <a:latin typeface="Calibri" pitchFamily="34" charset="0"/>
                <a:ea typeface="Calibri" pitchFamily="34" charset="-122"/>
                <a:cs typeface="Calibri" pitchFamily="34" charset="-120"/>
              </a:rPr>
              <a:t>Diffusion</a:t>
            </a:r>
            <a:endParaRPr lang="en-US" sz="1400" dirty="0"/>
          </a:p>
        </p:txBody>
      </p:sp>
      <p:sp>
        <p:nvSpPr>
          <p:cNvPr id="17" name="Text 15"/>
          <p:cNvSpPr txBox="1"/>
          <p:nvPr/>
        </p:nvSpPr>
        <p:spPr>
          <a:xfrm>
            <a:off x="6272784" y="1755648"/>
            <a:ext cx="1481328" cy="384048"/>
          </a:xfrm>
          <a:prstGeom prst="rect">
            <a:avLst/>
          </a:prstGeom>
          <a:noFill/>
          <a:ln/>
        </p:spPr>
        <p:txBody>
          <a:bodyPr wrap="square" lIns="0" tIns="0" rIns="0" bIns="0" rtlCol="0" anchor="ctr"/>
          <a:lstStyle/>
          <a:p>
            <a:pPr marL="0" indent="0" algn="ctr">
              <a:buNone/>
            </a:pPr>
            <a:r>
              <a:rPr lang="en-US" sz="1200" dirty="0">
                <a:solidFill>
                  <a:srgbClr val="404040"/>
                </a:solidFill>
                <a:latin typeface="Calibri" pitchFamily="34" charset="0"/>
                <a:ea typeface="Calibri" pitchFamily="34" charset="-122"/>
                <a:cs typeface="Calibri" pitchFamily="34" charset="-120"/>
              </a:rPr>
              <a:t>Kafka</a:t>
            </a:r>
            <a:endParaRPr lang="en-US" sz="1200" dirty="0"/>
          </a:p>
        </p:txBody>
      </p:sp>
      <p:sp>
        <p:nvSpPr>
          <p:cNvPr id="18" name="Shape 16"/>
          <p:cNvSpPr/>
          <p:nvPr/>
        </p:nvSpPr>
        <p:spPr>
          <a:xfrm>
            <a:off x="7863840" y="1627632"/>
            <a:ext cx="182880" cy="274320"/>
          </a:xfrm>
          <a:prstGeom prst="rightArrow">
            <a:avLst/>
          </a:prstGeom>
          <a:solidFill>
            <a:srgbClr val="1F3864"/>
          </a:solidFill>
          <a:ln w="12700">
            <a:solidFill>
              <a:srgbClr val="1F3864"/>
            </a:solidFill>
            <a:prstDash val="solid"/>
          </a:ln>
        </p:spPr>
        <p:txBody>
          <a:bodyPr/>
          <a:lstStyle/>
          <a:p>
            <a:endParaRPr lang="fr-FR"/>
          </a:p>
        </p:txBody>
      </p:sp>
      <p:sp>
        <p:nvSpPr>
          <p:cNvPr id="19" name="Shape 17"/>
          <p:cNvSpPr/>
          <p:nvPr/>
        </p:nvSpPr>
        <p:spPr>
          <a:xfrm>
            <a:off x="8083296" y="1280160"/>
            <a:ext cx="1627632" cy="960120"/>
          </a:xfrm>
          <a:prstGeom prst="roundRect">
            <a:avLst>
              <a:gd name="adj" fmla="val 9524"/>
            </a:avLst>
          </a:prstGeom>
          <a:solidFill>
            <a:srgbClr val="EADCF4"/>
          </a:solidFill>
          <a:ln w="19050">
            <a:solidFill>
              <a:srgbClr val="7030A0"/>
            </a:solidFill>
            <a:prstDash val="solid"/>
          </a:ln>
        </p:spPr>
        <p:txBody>
          <a:bodyPr/>
          <a:lstStyle/>
          <a:p>
            <a:endParaRPr lang="fr-FR"/>
          </a:p>
        </p:txBody>
      </p:sp>
      <p:sp>
        <p:nvSpPr>
          <p:cNvPr id="20" name="Text 18"/>
          <p:cNvSpPr txBox="1"/>
          <p:nvPr/>
        </p:nvSpPr>
        <p:spPr>
          <a:xfrm>
            <a:off x="8156448" y="1353312"/>
            <a:ext cx="1481328" cy="411480"/>
          </a:xfrm>
          <a:prstGeom prst="rect">
            <a:avLst/>
          </a:prstGeom>
          <a:noFill/>
          <a:ln/>
        </p:spPr>
        <p:txBody>
          <a:bodyPr wrap="square" lIns="0" tIns="0" rIns="0" bIns="0" rtlCol="0" anchor="ctr"/>
          <a:lstStyle/>
          <a:p>
            <a:pPr marL="0" indent="0" algn="ctr">
              <a:buNone/>
            </a:pPr>
            <a:r>
              <a:rPr lang="en-US" sz="1400" b="1" dirty="0">
                <a:solidFill>
                  <a:srgbClr val="7030A0"/>
                </a:solidFill>
                <a:latin typeface="Calibri" pitchFamily="34" charset="0"/>
                <a:ea typeface="Calibri" pitchFamily="34" charset="-122"/>
                <a:cs typeface="Calibri" pitchFamily="34" charset="-120"/>
              </a:rPr>
              <a:t>Score et décision</a:t>
            </a:r>
            <a:endParaRPr lang="en-US" sz="1400" dirty="0"/>
          </a:p>
        </p:txBody>
      </p:sp>
      <p:sp>
        <p:nvSpPr>
          <p:cNvPr id="21" name="Text 19"/>
          <p:cNvSpPr txBox="1"/>
          <p:nvPr/>
        </p:nvSpPr>
        <p:spPr>
          <a:xfrm>
            <a:off x="8156448" y="1755648"/>
            <a:ext cx="1481328" cy="384048"/>
          </a:xfrm>
          <a:prstGeom prst="rect">
            <a:avLst/>
          </a:prstGeom>
          <a:noFill/>
          <a:ln/>
        </p:spPr>
        <p:txBody>
          <a:bodyPr wrap="square" lIns="0" tIns="0" rIns="0" bIns="0" rtlCol="0" anchor="ctr"/>
          <a:lstStyle/>
          <a:p>
            <a:pPr marL="0" indent="0" algn="ctr">
              <a:buNone/>
            </a:pPr>
            <a:r>
              <a:rPr lang="en-US" sz="1200" dirty="0">
                <a:solidFill>
                  <a:srgbClr val="404040"/>
                </a:solidFill>
                <a:latin typeface="Calibri" pitchFamily="34" charset="0"/>
                <a:ea typeface="Calibri" pitchFamily="34" charset="-122"/>
                <a:cs typeface="Calibri" pitchFamily="34" charset="-120"/>
              </a:rPr>
              <a:t>10 indices, modèle</a:t>
            </a:r>
            <a:endParaRPr lang="en-US" sz="1200" dirty="0"/>
          </a:p>
        </p:txBody>
      </p:sp>
      <p:sp>
        <p:nvSpPr>
          <p:cNvPr id="22" name="Shape 20"/>
          <p:cNvSpPr/>
          <p:nvPr/>
        </p:nvSpPr>
        <p:spPr>
          <a:xfrm>
            <a:off x="9747504" y="1627632"/>
            <a:ext cx="182880" cy="274320"/>
          </a:xfrm>
          <a:prstGeom prst="rightArrow">
            <a:avLst/>
          </a:prstGeom>
          <a:solidFill>
            <a:srgbClr val="1F3864"/>
          </a:solidFill>
          <a:ln w="12700">
            <a:solidFill>
              <a:srgbClr val="1F3864"/>
            </a:solidFill>
            <a:prstDash val="solid"/>
          </a:ln>
        </p:spPr>
        <p:txBody>
          <a:bodyPr/>
          <a:lstStyle/>
          <a:p>
            <a:endParaRPr lang="fr-FR"/>
          </a:p>
        </p:txBody>
      </p:sp>
      <p:sp>
        <p:nvSpPr>
          <p:cNvPr id="23" name="Shape 21"/>
          <p:cNvSpPr/>
          <p:nvPr/>
        </p:nvSpPr>
        <p:spPr>
          <a:xfrm>
            <a:off x="9966960" y="1280160"/>
            <a:ext cx="1627632" cy="960120"/>
          </a:xfrm>
          <a:prstGeom prst="roundRect">
            <a:avLst>
              <a:gd name="adj" fmla="val 9524"/>
            </a:avLst>
          </a:prstGeom>
          <a:solidFill>
            <a:srgbClr val="DDF0EF"/>
          </a:solidFill>
          <a:ln w="19050">
            <a:solidFill>
              <a:srgbClr val="0E6B6B"/>
            </a:solidFill>
            <a:prstDash val="solid"/>
          </a:ln>
        </p:spPr>
        <p:txBody>
          <a:bodyPr/>
          <a:lstStyle/>
          <a:p>
            <a:endParaRPr lang="fr-FR"/>
          </a:p>
        </p:txBody>
      </p:sp>
      <p:sp>
        <p:nvSpPr>
          <p:cNvPr id="24" name="Text 22"/>
          <p:cNvSpPr txBox="1"/>
          <p:nvPr/>
        </p:nvSpPr>
        <p:spPr>
          <a:xfrm>
            <a:off x="10040112" y="1353312"/>
            <a:ext cx="1481328" cy="411480"/>
          </a:xfrm>
          <a:prstGeom prst="rect">
            <a:avLst/>
          </a:prstGeom>
          <a:noFill/>
          <a:ln/>
        </p:spPr>
        <p:txBody>
          <a:bodyPr wrap="square" lIns="0" tIns="0" rIns="0" bIns="0" rtlCol="0" anchor="ctr"/>
          <a:lstStyle/>
          <a:p>
            <a:pPr marL="0" indent="0" algn="ctr">
              <a:buNone/>
            </a:pPr>
            <a:r>
              <a:rPr lang="en-US" sz="1400" b="1" dirty="0">
                <a:solidFill>
                  <a:srgbClr val="0E6B6B"/>
                </a:solidFill>
                <a:latin typeface="Calibri" pitchFamily="34" charset="0"/>
                <a:ea typeface="Calibri" pitchFamily="34" charset="-122"/>
                <a:cs typeface="Calibri" pitchFamily="34" charset="-120"/>
              </a:rPr>
              <a:t>Fiche enrichie</a:t>
            </a:r>
            <a:endParaRPr lang="en-US" sz="1400" dirty="0"/>
          </a:p>
        </p:txBody>
      </p:sp>
      <p:sp>
        <p:nvSpPr>
          <p:cNvPr id="25" name="Text 23"/>
          <p:cNvSpPr txBox="1"/>
          <p:nvPr/>
        </p:nvSpPr>
        <p:spPr>
          <a:xfrm>
            <a:off x="10040112" y="1755648"/>
            <a:ext cx="1481328" cy="384048"/>
          </a:xfrm>
          <a:prstGeom prst="rect">
            <a:avLst/>
          </a:prstGeom>
          <a:noFill/>
          <a:ln/>
        </p:spPr>
        <p:txBody>
          <a:bodyPr wrap="square" lIns="0" tIns="0" rIns="0" bIns="0" rtlCol="0" anchor="ctr"/>
          <a:lstStyle/>
          <a:p>
            <a:pPr marL="0" indent="0" algn="ctr">
              <a:buNone/>
            </a:pPr>
            <a:r>
              <a:rPr lang="en-US" sz="1200" dirty="0">
                <a:solidFill>
                  <a:srgbClr val="404040"/>
                </a:solidFill>
                <a:latin typeface="Calibri" pitchFamily="34" charset="0"/>
                <a:ea typeface="Calibri" pitchFamily="34" charset="-122"/>
                <a:cs typeface="Calibri" pitchFamily="34" charset="-120"/>
              </a:rPr>
              <a:t>MongoDB, score renvoyé</a:t>
            </a:r>
            <a:endParaRPr lang="en-US" sz="1200" dirty="0"/>
          </a:p>
        </p:txBody>
      </p:sp>
      <p:sp>
        <p:nvSpPr>
          <p:cNvPr id="26" name="Shape 24"/>
          <p:cNvSpPr/>
          <p:nvPr/>
        </p:nvSpPr>
        <p:spPr>
          <a:xfrm>
            <a:off x="548640" y="2606040"/>
            <a:ext cx="3529584" cy="1508760"/>
          </a:xfrm>
          <a:prstGeom prst="roundRect">
            <a:avLst>
              <a:gd name="adj" fmla="val 7273"/>
            </a:avLst>
          </a:prstGeom>
          <a:solidFill>
            <a:srgbClr val="F4F8FC"/>
          </a:solidFill>
          <a:ln w="9525">
            <a:solidFill>
              <a:srgbClr val="D9D9D9"/>
            </a:solidFill>
            <a:prstDash val="solid"/>
          </a:ln>
        </p:spPr>
        <p:txBody>
          <a:bodyPr/>
          <a:lstStyle/>
          <a:p>
            <a:endParaRPr lang="fr-FR"/>
          </a:p>
        </p:txBody>
      </p:sp>
      <p:sp>
        <p:nvSpPr>
          <p:cNvPr id="27" name="Shape 25"/>
          <p:cNvSpPr/>
          <p:nvPr/>
        </p:nvSpPr>
        <p:spPr>
          <a:xfrm>
            <a:off x="777240" y="2971800"/>
            <a:ext cx="777240" cy="777240"/>
          </a:xfrm>
          <a:prstGeom prst="ellipse">
            <a:avLst/>
          </a:prstGeom>
          <a:solidFill>
            <a:srgbClr val="1F3864"/>
          </a:solidFill>
          <a:ln w="12700">
            <a:solidFill>
              <a:srgbClr val="1F3864"/>
            </a:solidFill>
            <a:prstDash val="solid"/>
          </a:ln>
        </p:spPr>
        <p:txBody>
          <a:bodyPr/>
          <a:lstStyle/>
          <a:p>
            <a:endParaRPr lang="fr-FR"/>
          </a:p>
        </p:txBody>
      </p:sp>
      <p:pic>
        <p:nvPicPr>
          <p:cNvPr id="28" name="Image 0" descr="pictogramme"/>
          <p:cNvPicPr>
            <a:picLocks noChangeAspect="1"/>
          </p:cNvPicPr>
          <p:nvPr/>
        </p:nvPicPr>
        <p:blipFill>
          <a:blip r:embed="rId3"/>
          <a:stretch>
            <a:fillRect/>
          </a:stretch>
        </p:blipFill>
        <p:spPr>
          <a:xfrm>
            <a:off x="971550" y="3166110"/>
            <a:ext cx="388620" cy="388620"/>
          </a:xfrm>
          <a:prstGeom prst="rect">
            <a:avLst/>
          </a:prstGeom>
        </p:spPr>
      </p:pic>
      <p:sp>
        <p:nvSpPr>
          <p:cNvPr id="29" name="Text 26"/>
          <p:cNvSpPr txBox="1"/>
          <p:nvPr/>
        </p:nvSpPr>
        <p:spPr>
          <a:xfrm>
            <a:off x="1737360" y="2724912"/>
            <a:ext cx="2194560" cy="594360"/>
          </a:xfrm>
          <a:prstGeom prst="rect">
            <a:avLst/>
          </a:prstGeom>
          <a:noFill/>
          <a:ln/>
        </p:spPr>
        <p:txBody>
          <a:bodyPr wrap="square" lIns="0" tIns="0" rIns="0" bIns="0" rtlCol="0" anchor="ctr"/>
          <a:lstStyle/>
          <a:p>
            <a:pPr marL="0" indent="0">
              <a:buNone/>
            </a:pPr>
            <a:r>
              <a:rPr lang="en-US" sz="3000" b="1" dirty="0">
                <a:solidFill>
                  <a:srgbClr val="1F3864"/>
                </a:solidFill>
                <a:latin typeface="Calibri" pitchFamily="34" charset="0"/>
                <a:ea typeface="Calibri" pitchFamily="34" charset="-122"/>
                <a:cs typeface="Calibri" pitchFamily="34" charset="-120"/>
              </a:rPr>
              <a:t>540 ms</a:t>
            </a:r>
            <a:endParaRPr lang="en-US" sz="3000" dirty="0"/>
          </a:p>
        </p:txBody>
      </p:sp>
      <p:sp>
        <p:nvSpPr>
          <p:cNvPr id="30" name="Text 27"/>
          <p:cNvSpPr txBox="1"/>
          <p:nvPr/>
        </p:nvSpPr>
        <p:spPr>
          <a:xfrm>
            <a:off x="1737360" y="3310128"/>
            <a:ext cx="2194560" cy="731520"/>
          </a:xfrm>
          <a:prstGeom prst="rect">
            <a:avLst/>
          </a:prstGeom>
          <a:noFill/>
          <a:ln/>
        </p:spPr>
        <p:txBody>
          <a:bodyPr wrap="square" lIns="0" tIns="0" rIns="0" bIns="0" rtlCol="0" anchor="t"/>
          <a:lstStyle/>
          <a:p>
            <a:pPr marL="0" indent="0">
              <a:buNone/>
            </a:pPr>
            <a:r>
              <a:rPr lang="en-US" sz="1300" dirty="0">
                <a:solidFill>
                  <a:srgbClr val="404040"/>
                </a:solidFill>
                <a:latin typeface="Calibri" pitchFamily="34" charset="0"/>
                <a:ea typeface="Calibri" pitchFamily="34" charset="-122"/>
                <a:cs typeface="Calibri" pitchFamily="34" charset="-120"/>
              </a:rPr>
              <a:t>latence médiane, de l'enregistrement à la décision</a:t>
            </a:r>
            <a:endParaRPr lang="en-US" sz="1300" dirty="0"/>
          </a:p>
        </p:txBody>
      </p:sp>
      <p:sp>
        <p:nvSpPr>
          <p:cNvPr id="31" name="Shape 28"/>
          <p:cNvSpPr/>
          <p:nvPr/>
        </p:nvSpPr>
        <p:spPr>
          <a:xfrm>
            <a:off x="4315968" y="2606040"/>
            <a:ext cx="3529584" cy="1508760"/>
          </a:xfrm>
          <a:prstGeom prst="roundRect">
            <a:avLst>
              <a:gd name="adj" fmla="val 7273"/>
            </a:avLst>
          </a:prstGeom>
          <a:solidFill>
            <a:srgbClr val="F4F8FC"/>
          </a:solidFill>
          <a:ln w="9525">
            <a:solidFill>
              <a:srgbClr val="D9D9D9"/>
            </a:solidFill>
            <a:prstDash val="solid"/>
          </a:ln>
        </p:spPr>
        <p:txBody>
          <a:bodyPr/>
          <a:lstStyle/>
          <a:p>
            <a:endParaRPr lang="fr-FR"/>
          </a:p>
        </p:txBody>
      </p:sp>
      <p:sp>
        <p:nvSpPr>
          <p:cNvPr id="32" name="Shape 29"/>
          <p:cNvSpPr/>
          <p:nvPr/>
        </p:nvSpPr>
        <p:spPr>
          <a:xfrm>
            <a:off x="4544568" y="2971800"/>
            <a:ext cx="777240" cy="777240"/>
          </a:xfrm>
          <a:prstGeom prst="ellipse">
            <a:avLst/>
          </a:prstGeom>
          <a:solidFill>
            <a:srgbClr val="1F3864"/>
          </a:solidFill>
          <a:ln w="12700">
            <a:solidFill>
              <a:srgbClr val="1F3864"/>
            </a:solidFill>
            <a:prstDash val="solid"/>
          </a:ln>
        </p:spPr>
        <p:txBody>
          <a:bodyPr/>
          <a:lstStyle/>
          <a:p>
            <a:endParaRPr lang="fr-FR"/>
          </a:p>
        </p:txBody>
      </p:sp>
      <p:pic>
        <p:nvPicPr>
          <p:cNvPr id="33" name="Image 1" descr="pictogramme"/>
          <p:cNvPicPr>
            <a:picLocks noChangeAspect="1"/>
          </p:cNvPicPr>
          <p:nvPr/>
        </p:nvPicPr>
        <p:blipFill>
          <a:blip r:embed="rId4"/>
          <a:stretch>
            <a:fillRect/>
          </a:stretch>
        </p:blipFill>
        <p:spPr>
          <a:xfrm>
            <a:off x="4738878" y="3166110"/>
            <a:ext cx="388620" cy="388620"/>
          </a:xfrm>
          <a:prstGeom prst="rect">
            <a:avLst/>
          </a:prstGeom>
        </p:spPr>
      </p:pic>
      <p:sp>
        <p:nvSpPr>
          <p:cNvPr id="34" name="Text 30"/>
          <p:cNvSpPr txBox="1"/>
          <p:nvPr/>
        </p:nvSpPr>
        <p:spPr>
          <a:xfrm>
            <a:off x="5504688" y="2724912"/>
            <a:ext cx="2194560" cy="594360"/>
          </a:xfrm>
          <a:prstGeom prst="rect">
            <a:avLst/>
          </a:prstGeom>
          <a:noFill/>
          <a:ln/>
        </p:spPr>
        <p:txBody>
          <a:bodyPr wrap="square" lIns="0" tIns="0" rIns="0" bIns="0" rtlCol="0" anchor="ctr"/>
          <a:lstStyle/>
          <a:p>
            <a:pPr marL="0" indent="0">
              <a:buNone/>
            </a:pPr>
            <a:r>
              <a:rPr lang="en-US" sz="3000" b="1" dirty="0">
                <a:solidFill>
                  <a:srgbClr val="1F3864"/>
                </a:solidFill>
                <a:latin typeface="Calibri" pitchFamily="34" charset="0"/>
                <a:ea typeface="Calibri" pitchFamily="34" charset="-122"/>
                <a:cs typeface="Calibri" pitchFamily="34" charset="-120"/>
              </a:rPr>
              <a:t>0 perte</a:t>
            </a:r>
            <a:endParaRPr lang="en-US" sz="3000" dirty="0"/>
          </a:p>
        </p:txBody>
      </p:sp>
      <p:sp>
        <p:nvSpPr>
          <p:cNvPr id="35" name="Text 31"/>
          <p:cNvSpPr txBox="1"/>
          <p:nvPr/>
        </p:nvSpPr>
        <p:spPr>
          <a:xfrm>
            <a:off x="5504688" y="3310128"/>
            <a:ext cx="2194560" cy="731520"/>
          </a:xfrm>
          <a:prstGeom prst="rect">
            <a:avLst/>
          </a:prstGeom>
          <a:noFill/>
          <a:ln/>
        </p:spPr>
        <p:txBody>
          <a:bodyPr wrap="square" lIns="0" tIns="0" rIns="0" bIns="0" rtlCol="0" anchor="t"/>
          <a:lstStyle/>
          <a:p>
            <a:pPr marL="0" indent="0">
              <a:buNone/>
            </a:pPr>
            <a:r>
              <a:rPr lang="en-US" sz="1300" dirty="0">
                <a:solidFill>
                  <a:srgbClr val="404040"/>
                </a:solidFill>
                <a:latin typeface="Calibri" pitchFamily="34" charset="0"/>
                <a:ea typeface="Calibri" pitchFamily="34" charset="-122"/>
                <a:cs typeface="Calibri" pitchFamily="34" charset="-120"/>
              </a:rPr>
              <a:t>journal conservé jusqu'à lecture ; position validée après traitement</a:t>
            </a:r>
            <a:endParaRPr lang="en-US" sz="1300" dirty="0"/>
          </a:p>
        </p:txBody>
      </p:sp>
      <p:sp>
        <p:nvSpPr>
          <p:cNvPr id="36" name="Shape 32"/>
          <p:cNvSpPr/>
          <p:nvPr/>
        </p:nvSpPr>
        <p:spPr>
          <a:xfrm>
            <a:off x="8083296" y="2606040"/>
            <a:ext cx="3529584" cy="1508760"/>
          </a:xfrm>
          <a:prstGeom prst="roundRect">
            <a:avLst>
              <a:gd name="adj" fmla="val 7273"/>
            </a:avLst>
          </a:prstGeom>
          <a:solidFill>
            <a:srgbClr val="F4F8FC"/>
          </a:solidFill>
          <a:ln w="9525">
            <a:solidFill>
              <a:srgbClr val="D9D9D9"/>
            </a:solidFill>
            <a:prstDash val="solid"/>
          </a:ln>
        </p:spPr>
        <p:txBody>
          <a:bodyPr/>
          <a:lstStyle/>
          <a:p>
            <a:endParaRPr lang="fr-FR"/>
          </a:p>
        </p:txBody>
      </p:sp>
      <p:sp>
        <p:nvSpPr>
          <p:cNvPr id="37" name="Shape 33"/>
          <p:cNvSpPr/>
          <p:nvPr/>
        </p:nvSpPr>
        <p:spPr>
          <a:xfrm>
            <a:off x="8311896" y="2971800"/>
            <a:ext cx="777240" cy="777240"/>
          </a:xfrm>
          <a:prstGeom prst="ellipse">
            <a:avLst/>
          </a:prstGeom>
          <a:solidFill>
            <a:srgbClr val="1F3864"/>
          </a:solidFill>
          <a:ln w="12700">
            <a:solidFill>
              <a:srgbClr val="1F3864"/>
            </a:solidFill>
            <a:prstDash val="solid"/>
          </a:ln>
        </p:spPr>
        <p:txBody>
          <a:bodyPr/>
          <a:lstStyle/>
          <a:p>
            <a:endParaRPr lang="fr-FR"/>
          </a:p>
        </p:txBody>
      </p:sp>
      <p:pic>
        <p:nvPicPr>
          <p:cNvPr id="38" name="Image 2" descr="pictogramme"/>
          <p:cNvPicPr>
            <a:picLocks noChangeAspect="1"/>
          </p:cNvPicPr>
          <p:nvPr/>
        </p:nvPicPr>
        <p:blipFill>
          <a:blip r:embed="rId5"/>
          <a:stretch>
            <a:fillRect/>
          </a:stretch>
        </p:blipFill>
        <p:spPr>
          <a:xfrm>
            <a:off x="8506206" y="3166110"/>
            <a:ext cx="388620" cy="388620"/>
          </a:xfrm>
          <a:prstGeom prst="rect">
            <a:avLst/>
          </a:prstGeom>
        </p:spPr>
      </p:pic>
      <p:sp>
        <p:nvSpPr>
          <p:cNvPr id="39" name="Text 34"/>
          <p:cNvSpPr txBox="1"/>
          <p:nvPr/>
        </p:nvSpPr>
        <p:spPr>
          <a:xfrm>
            <a:off x="9272016" y="2724912"/>
            <a:ext cx="2194560" cy="594360"/>
          </a:xfrm>
          <a:prstGeom prst="rect">
            <a:avLst/>
          </a:prstGeom>
          <a:noFill/>
          <a:ln/>
        </p:spPr>
        <p:txBody>
          <a:bodyPr wrap="square" lIns="0" tIns="0" rIns="0" bIns="0" rtlCol="0" anchor="ctr"/>
          <a:lstStyle/>
          <a:p>
            <a:pPr marL="0" indent="0">
              <a:buNone/>
            </a:pPr>
            <a:r>
              <a:rPr lang="en-US" sz="3000" b="1" dirty="0">
                <a:solidFill>
                  <a:srgbClr val="1F3864"/>
                </a:solidFill>
                <a:latin typeface="Calibri" pitchFamily="34" charset="0"/>
                <a:ea typeface="Calibri" pitchFamily="34" charset="-122"/>
                <a:cs typeface="Calibri" pitchFamily="34" charset="-120"/>
              </a:rPr>
              <a:t>Ordre</a:t>
            </a:r>
            <a:endParaRPr lang="en-US" sz="3000" dirty="0"/>
          </a:p>
        </p:txBody>
      </p:sp>
      <p:sp>
        <p:nvSpPr>
          <p:cNvPr id="40" name="Text 35"/>
          <p:cNvSpPr txBox="1"/>
          <p:nvPr/>
        </p:nvSpPr>
        <p:spPr>
          <a:xfrm>
            <a:off x="9272016" y="3310128"/>
            <a:ext cx="2194560" cy="731520"/>
          </a:xfrm>
          <a:prstGeom prst="rect">
            <a:avLst/>
          </a:prstGeom>
          <a:noFill/>
          <a:ln/>
        </p:spPr>
        <p:txBody>
          <a:bodyPr wrap="square" lIns="0" tIns="0" rIns="0" bIns="0" rtlCol="0" anchor="t"/>
          <a:lstStyle/>
          <a:p>
            <a:pPr marL="0" indent="0">
              <a:buNone/>
            </a:pPr>
            <a:r>
              <a:rPr lang="en-US" sz="1300" dirty="0">
                <a:solidFill>
                  <a:srgbClr val="404040"/>
                </a:solidFill>
                <a:latin typeface="Calibri" pitchFamily="34" charset="0"/>
                <a:ea typeface="Calibri" pitchFamily="34" charset="-122"/>
                <a:cs typeface="Calibri" pitchFamily="34" charset="-120"/>
              </a:rPr>
              <a:t>paiements d'un même client traités dans l'ordre (clé Kafka)</a:t>
            </a:r>
            <a:endParaRPr lang="en-US" sz="1300" dirty="0"/>
          </a:p>
        </p:txBody>
      </p:sp>
      <p:sp>
        <p:nvSpPr>
          <p:cNvPr id="41" name="Text 36"/>
          <p:cNvSpPr txBox="1"/>
          <p:nvPr/>
        </p:nvSpPr>
        <p:spPr>
          <a:xfrm>
            <a:off x="548640" y="4389120"/>
            <a:ext cx="7315200" cy="365760"/>
          </a:xfrm>
          <a:prstGeom prst="rect">
            <a:avLst/>
          </a:prstGeom>
          <a:noFill/>
          <a:ln/>
        </p:spPr>
        <p:txBody>
          <a:bodyPr wrap="square" lIns="0" tIns="0" rIns="0" bIns="0" rtlCol="0" anchor="ctr"/>
          <a:lstStyle/>
          <a:p>
            <a:pPr marL="0" indent="0">
              <a:buNone/>
            </a:pPr>
            <a:r>
              <a:rPr lang="en-US" sz="1800" b="1" dirty="0">
                <a:solidFill>
                  <a:srgbClr val="44546A"/>
                </a:solidFill>
                <a:latin typeface="Calibri" pitchFamily="34" charset="0"/>
                <a:ea typeface="Calibri" pitchFamily="34" charset="-122"/>
                <a:cs typeface="Calibri" pitchFamily="34" charset="-120"/>
              </a:rPr>
              <a:t>Traitements par lots orchestrés par Airflow</a:t>
            </a:r>
            <a:endParaRPr lang="en-US" sz="1800" dirty="0"/>
          </a:p>
        </p:txBody>
      </p:sp>
      <p:sp>
        <p:nvSpPr>
          <p:cNvPr id="42" name="Shape 37"/>
          <p:cNvSpPr/>
          <p:nvPr/>
        </p:nvSpPr>
        <p:spPr>
          <a:xfrm>
            <a:off x="548640" y="4846320"/>
            <a:ext cx="3529584" cy="1234440"/>
          </a:xfrm>
          <a:prstGeom prst="roundRect">
            <a:avLst>
              <a:gd name="adj" fmla="val 8889"/>
            </a:avLst>
          </a:prstGeom>
          <a:solidFill>
            <a:srgbClr val="E7EAF0"/>
          </a:solidFill>
          <a:ln w="9525">
            <a:solidFill>
              <a:srgbClr val="D9D9D9"/>
            </a:solidFill>
            <a:prstDash val="solid"/>
          </a:ln>
        </p:spPr>
        <p:txBody>
          <a:bodyPr/>
          <a:lstStyle/>
          <a:p>
            <a:endParaRPr lang="fr-FR"/>
          </a:p>
        </p:txBody>
      </p:sp>
      <p:sp>
        <p:nvSpPr>
          <p:cNvPr id="43" name="Text 38"/>
          <p:cNvSpPr txBox="1"/>
          <p:nvPr/>
        </p:nvSpPr>
        <p:spPr>
          <a:xfrm>
            <a:off x="777240" y="4937760"/>
            <a:ext cx="3108960" cy="365760"/>
          </a:xfrm>
          <a:prstGeom prst="rect">
            <a:avLst/>
          </a:prstGeom>
          <a:noFill/>
          <a:ln/>
        </p:spPr>
        <p:txBody>
          <a:bodyPr wrap="square" lIns="0" tIns="0" rIns="0" bIns="0" rtlCol="0" anchor="ctr"/>
          <a:lstStyle/>
          <a:p>
            <a:pPr marL="0" indent="0">
              <a:buNone/>
            </a:pPr>
            <a:r>
              <a:rPr lang="en-US" sz="1600" b="1" dirty="0">
                <a:solidFill>
                  <a:srgbClr val="44546A"/>
                </a:solidFill>
                <a:latin typeface="Calibri" pitchFamily="34" charset="0"/>
                <a:ea typeface="Calibri" pitchFamily="34" charset="-122"/>
                <a:cs typeface="Calibri" pitchFamily="34" charset="-120"/>
              </a:rPr>
              <a:t>Toutes les 15 minutes</a:t>
            </a:r>
            <a:endParaRPr lang="en-US" sz="1600" dirty="0"/>
          </a:p>
        </p:txBody>
      </p:sp>
      <p:sp>
        <p:nvSpPr>
          <p:cNvPr id="44" name="Text 39"/>
          <p:cNvSpPr txBox="1"/>
          <p:nvPr/>
        </p:nvSpPr>
        <p:spPr>
          <a:xfrm>
            <a:off x="777240" y="5303520"/>
            <a:ext cx="3108960" cy="68580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Alimentation incrémentale de l'entrepôt, contrôles de qualité</a:t>
            </a:r>
            <a:endParaRPr lang="en-US" sz="1300" dirty="0"/>
          </a:p>
        </p:txBody>
      </p:sp>
      <p:sp>
        <p:nvSpPr>
          <p:cNvPr id="45" name="Shape 40"/>
          <p:cNvSpPr/>
          <p:nvPr/>
        </p:nvSpPr>
        <p:spPr>
          <a:xfrm>
            <a:off x="4315968" y="4846320"/>
            <a:ext cx="3529584" cy="1234440"/>
          </a:xfrm>
          <a:prstGeom prst="roundRect">
            <a:avLst>
              <a:gd name="adj" fmla="val 8889"/>
            </a:avLst>
          </a:prstGeom>
          <a:solidFill>
            <a:srgbClr val="E7EAF0"/>
          </a:solidFill>
          <a:ln w="9525">
            <a:solidFill>
              <a:srgbClr val="D9D9D9"/>
            </a:solidFill>
            <a:prstDash val="solid"/>
          </a:ln>
        </p:spPr>
        <p:txBody>
          <a:bodyPr/>
          <a:lstStyle/>
          <a:p>
            <a:endParaRPr lang="fr-FR"/>
          </a:p>
        </p:txBody>
      </p:sp>
      <p:sp>
        <p:nvSpPr>
          <p:cNvPr id="46" name="Text 41"/>
          <p:cNvSpPr txBox="1"/>
          <p:nvPr/>
        </p:nvSpPr>
        <p:spPr>
          <a:xfrm>
            <a:off x="4544568" y="4937760"/>
            <a:ext cx="3108960" cy="365760"/>
          </a:xfrm>
          <a:prstGeom prst="rect">
            <a:avLst/>
          </a:prstGeom>
          <a:noFill/>
          <a:ln/>
        </p:spPr>
        <p:txBody>
          <a:bodyPr wrap="square" lIns="0" tIns="0" rIns="0" bIns="0" rtlCol="0" anchor="ctr"/>
          <a:lstStyle/>
          <a:p>
            <a:pPr marL="0" indent="0">
              <a:buNone/>
            </a:pPr>
            <a:r>
              <a:rPr lang="en-US" sz="1600" b="1" dirty="0">
                <a:solidFill>
                  <a:srgbClr val="44546A"/>
                </a:solidFill>
                <a:latin typeface="Calibri" pitchFamily="34" charset="0"/>
                <a:ea typeface="Calibri" pitchFamily="34" charset="-122"/>
                <a:cs typeface="Calibri" pitchFamily="34" charset="-120"/>
              </a:rPr>
              <a:t>Chaque jour</a:t>
            </a:r>
            <a:endParaRPr lang="en-US" sz="1600" dirty="0"/>
          </a:p>
        </p:txBody>
      </p:sp>
      <p:sp>
        <p:nvSpPr>
          <p:cNvPr id="47" name="Text 42"/>
          <p:cNvSpPr txBox="1"/>
          <p:nvPr/>
        </p:nvSpPr>
        <p:spPr>
          <a:xfrm>
            <a:off x="4544568" y="5303520"/>
            <a:ext cx="3108960" cy="68580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13 contrôles de conformité, rapport daté</a:t>
            </a:r>
            <a:endParaRPr lang="en-US" sz="1300" dirty="0"/>
          </a:p>
        </p:txBody>
      </p:sp>
      <p:sp>
        <p:nvSpPr>
          <p:cNvPr id="48" name="Shape 43"/>
          <p:cNvSpPr/>
          <p:nvPr/>
        </p:nvSpPr>
        <p:spPr>
          <a:xfrm>
            <a:off x="8083296" y="4846320"/>
            <a:ext cx="3529584" cy="1234440"/>
          </a:xfrm>
          <a:prstGeom prst="roundRect">
            <a:avLst>
              <a:gd name="adj" fmla="val 8889"/>
            </a:avLst>
          </a:prstGeom>
          <a:solidFill>
            <a:srgbClr val="E7EAF0"/>
          </a:solidFill>
          <a:ln w="9525">
            <a:solidFill>
              <a:srgbClr val="D9D9D9"/>
            </a:solidFill>
            <a:prstDash val="solid"/>
          </a:ln>
        </p:spPr>
        <p:txBody>
          <a:bodyPr/>
          <a:lstStyle/>
          <a:p>
            <a:endParaRPr lang="fr-FR"/>
          </a:p>
        </p:txBody>
      </p:sp>
      <p:sp>
        <p:nvSpPr>
          <p:cNvPr id="49" name="Text 44"/>
          <p:cNvSpPr txBox="1"/>
          <p:nvPr/>
        </p:nvSpPr>
        <p:spPr>
          <a:xfrm>
            <a:off x="8311896" y="4937760"/>
            <a:ext cx="3108960" cy="365760"/>
          </a:xfrm>
          <a:prstGeom prst="rect">
            <a:avLst/>
          </a:prstGeom>
          <a:noFill/>
          <a:ln/>
        </p:spPr>
        <p:txBody>
          <a:bodyPr wrap="square" lIns="0" tIns="0" rIns="0" bIns="0" rtlCol="0" anchor="ctr"/>
          <a:lstStyle/>
          <a:p>
            <a:pPr marL="0" indent="0">
              <a:buNone/>
            </a:pPr>
            <a:r>
              <a:rPr lang="en-US" sz="1600" b="1" dirty="0">
                <a:solidFill>
                  <a:srgbClr val="44546A"/>
                </a:solidFill>
                <a:latin typeface="Calibri" pitchFamily="34" charset="0"/>
                <a:ea typeface="Calibri" pitchFamily="34" charset="-122"/>
                <a:cs typeface="Calibri" pitchFamily="34" charset="-120"/>
              </a:rPr>
              <a:t>Chaque lundi</a:t>
            </a:r>
            <a:endParaRPr lang="en-US" sz="1600" dirty="0"/>
          </a:p>
        </p:txBody>
      </p:sp>
      <p:sp>
        <p:nvSpPr>
          <p:cNvPr id="50" name="Text 45"/>
          <p:cNvSpPr txBox="1"/>
          <p:nvPr/>
        </p:nvSpPr>
        <p:spPr>
          <a:xfrm>
            <a:off x="8311896" y="5303520"/>
            <a:ext cx="3108960" cy="68580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Réentraînement des modèles, règle champion / challenger</a:t>
            </a:r>
            <a:endParaRPr lang="en-US" sz="1300" dirty="0"/>
          </a:p>
        </p:txBody>
      </p:sp>
      <p:sp>
        <p:nvSpPr>
          <p:cNvPr id="5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595959"/>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64240" cy="731520"/>
          </a:xfrm>
          <a:prstGeom prst="rect">
            <a:avLst/>
          </a:prstGeom>
          <a:noFill/>
          <a:ln/>
        </p:spPr>
        <p:txBody>
          <a:bodyPr wrap="square" lIns="0" tIns="0" rIns="0" bIns="0" rtlCol="0" anchor="ctr"/>
          <a:lstStyle/>
          <a:p>
            <a:pPr marL="0" indent="0" algn="l">
              <a:buNone/>
            </a:pPr>
            <a:r>
              <a:rPr lang="en-US" sz="3000" b="1" dirty="0">
                <a:solidFill>
                  <a:schemeClr val="tx2"/>
                </a:solidFill>
              </a:rPr>
              <a:t>Sécurité, conformité et supervision : prouvées par des tests</a:t>
            </a:r>
            <a:endParaRPr lang="en-US" sz="3000" dirty="0"/>
          </a:p>
        </p:txBody>
      </p:sp>
      <p:sp>
        <p:nvSpPr>
          <p:cNvPr id="3" name="Shape 1"/>
          <p:cNvSpPr/>
          <p:nvPr/>
        </p:nvSpPr>
        <p:spPr>
          <a:xfrm>
            <a:off x="548640" y="1280160"/>
            <a:ext cx="2606040" cy="1691640"/>
          </a:xfrm>
          <a:prstGeom prst="roundRect">
            <a:avLst>
              <a:gd name="adj" fmla="val 6486"/>
            </a:avLst>
          </a:prstGeom>
          <a:solidFill>
            <a:srgbClr val="F4F8FC"/>
          </a:solidFill>
          <a:ln w="9525">
            <a:solidFill>
              <a:srgbClr val="D9D9D9"/>
            </a:solidFill>
            <a:prstDash val="solid"/>
          </a:ln>
        </p:spPr>
        <p:txBody>
          <a:bodyPr/>
          <a:lstStyle/>
          <a:p>
            <a:endParaRPr lang="fr-FR"/>
          </a:p>
        </p:txBody>
      </p:sp>
      <p:sp>
        <p:nvSpPr>
          <p:cNvPr id="4" name="Shape 2"/>
          <p:cNvSpPr/>
          <p:nvPr/>
        </p:nvSpPr>
        <p:spPr>
          <a:xfrm>
            <a:off x="731520" y="1463040"/>
            <a:ext cx="640080" cy="640080"/>
          </a:xfrm>
          <a:prstGeom prst="ellipse">
            <a:avLst/>
          </a:prstGeom>
          <a:solidFill>
            <a:srgbClr val="1F3864"/>
          </a:solidFill>
          <a:ln w="12700">
            <a:solidFill>
              <a:srgbClr val="1F3864"/>
            </a:solidFill>
            <a:prstDash val="solid"/>
          </a:ln>
        </p:spPr>
        <p:txBody>
          <a:bodyPr/>
          <a:lstStyle/>
          <a:p>
            <a:endParaRPr lang="fr-FR"/>
          </a:p>
        </p:txBody>
      </p:sp>
      <p:pic>
        <p:nvPicPr>
          <p:cNvPr id="5" name="Image 0" descr="pictogramme"/>
          <p:cNvPicPr>
            <a:picLocks noChangeAspect="1"/>
          </p:cNvPicPr>
          <p:nvPr/>
        </p:nvPicPr>
        <p:blipFill>
          <a:blip r:embed="rId3"/>
          <a:stretch>
            <a:fillRect/>
          </a:stretch>
        </p:blipFill>
        <p:spPr>
          <a:xfrm>
            <a:off x="891540" y="1623060"/>
            <a:ext cx="320040" cy="320040"/>
          </a:xfrm>
          <a:prstGeom prst="rect">
            <a:avLst/>
          </a:prstGeom>
        </p:spPr>
      </p:pic>
      <p:sp>
        <p:nvSpPr>
          <p:cNvPr id="6" name="Text 3"/>
          <p:cNvSpPr txBox="1"/>
          <p:nvPr/>
        </p:nvSpPr>
        <p:spPr>
          <a:xfrm>
            <a:off x="1508760" y="1463040"/>
            <a:ext cx="1554480" cy="640080"/>
          </a:xfrm>
          <a:prstGeom prst="rect">
            <a:avLst/>
          </a:prstGeom>
          <a:noFill/>
          <a:ln/>
        </p:spPr>
        <p:txBody>
          <a:bodyPr wrap="square" lIns="0" tIns="0" rIns="0" bIns="0" rtlCol="0" anchor="ctr"/>
          <a:lstStyle/>
          <a:p>
            <a:pPr marL="0" indent="0">
              <a:buNone/>
            </a:pPr>
            <a:r>
              <a:rPr lang="en-US" sz="3000" b="1" dirty="0">
                <a:solidFill>
                  <a:srgbClr val="1F3864"/>
                </a:solidFill>
                <a:latin typeface="Calibri" pitchFamily="34" charset="0"/>
                <a:ea typeface="Calibri" pitchFamily="34" charset="-122"/>
                <a:cs typeface="Calibri" pitchFamily="34" charset="-120"/>
              </a:rPr>
              <a:t>TLS 1.3</a:t>
            </a:r>
            <a:endParaRPr lang="en-US" sz="3000" dirty="0"/>
          </a:p>
        </p:txBody>
      </p:sp>
      <p:sp>
        <p:nvSpPr>
          <p:cNvPr id="7" name="Text 4"/>
          <p:cNvSpPr txBox="1"/>
          <p:nvPr/>
        </p:nvSpPr>
        <p:spPr>
          <a:xfrm>
            <a:off x="731520" y="2194560"/>
            <a:ext cx="2286000" cy="685800"/>
          </a:xfrm>
          <a:prstGeom prst="rect">
            <a:avLst/>
          </a:prstGeom>
          <a:noFill/>
          <a:ln/>
        </p:spPr>
        <p:txBody>
          <a:bodyPr wrap="square" lIns="0" tIns="0" rIns="0" bIns="0" rtlCol="0" anchor="t"/>
          <a:lstStyle/>
          <a:p>
            <a:pPr marL="0" indent="0">
              <a:buNone/>
            </a:pPr>
            <a:r>
              <a:rPr lang="en-US" sz="1300" dirty="0">
                <a:solidFill>
                  <a:srgbClr val="404040"/>
                </a:solidFill>
                <a:latin typeface="Calibri" pitchFamily="34" charset="0"/>
                <a:ea typeface="Calibri" pitchFamily="34" charset="-122"/>
                <a:cs typeface="Calibri" pitchFamily="34" charset="-120"/>
              </a:rPr>
              <a:t>échanges chiffrés avec la base transactionnelle, serveur vérifié</a:t>
            </a:r>
            <a:endParaRPr lang="en-US" sz="1300" dirty="0"/>
          </a:p>
        </p:txBody>
      </p:sp>
      <p:sp>
        <p:nvSpPr>
          <p:cNvPr id="8" name="Shape 5"/>
          <p:cNvSpPr/>
          <p:nvPr/>
        </p:nvSpPr>
        <p:spPr>
          <a:xfrm>
            <a:off x="3337560" y="1280160"/>
            <a:ext cx="2606040" cy="1691640"/>
          </a:xfrm>
          <a:prstGeom prst="roundRect">
            <a:avLst>
              <a:gd name="adj" fmla="val 6486"/>
            </a:avLst>
          </a:prstGeom>
          <a:solidFill>
            <a:srgbClr val="F4F8FC"/>
          </a:solidFill>
          <a:ln w="9525">
            <a:solidFill>
              <a:srgbClr val="D9D9D9"/>
            </a:solidFill>
            <a:prstDash val="solid"/>
          </a:ln>
        </p:spPr>
        <p:txBody>
          <a:bodyPr/>
          <a:lstStyle/>
          <a:p>
            <a:endParaRPr lang="fr-FR"/>
          </a:p>
        </p:txBody>
      </p:sp>
      <p:sp>
        <p:nvSpPr>
          <p:cNvPr id="9" name="Shape 6"/>
          <p:cNvSpPr/>
          <p:nvPr/>
        </p:nvSpPr>
        <p:spPr>
          <a:xfrm>
            <a:off x="3520440" y="1463040"/>
            <a:ext cx="640080" cy="640080"/>
          </a:xfrm>
          <a:prstGeom prst="ellipse">
            <a:avLst/>
          </a:prstGeom>
          <a:solidFill>
            <a:srgbClr val="1F3864"/>
          </a:solidFill>
          <a:ln w="12700">
            <a:solidFill>
              <a:srgbClr val="1F3864"/>
            </a:solidFill>
            <a:prstDash val="solid"/>
          </a:ln>
        </p:spPr>
        <p:txBody>
          <a:bodyPr/>
          <a:lstStyle/>
          <a:p>
            <a:endParaRPr lang="fr-FR"/>
          </a:p>
        </p:txBody>
      </p:sp>
      <p:pic>
        <p:nvPicPr>
          <p:cNvPr id="10" name="Image 1" descr="pictogramme"/>
          <p:cNvPicPr>
            <a:picLocks noChangeAspect="1"/>
          </p:cNvPicPr>
          <p:nvPr/>
        </p:nvPicPr>
        <p:blipFill>
          <a:blip r:embed="rId4"/>
          <a:stretch>
            <a:fillRect/>
          </a:stretch>
        </p:blipFill>
        <p:spPr>
          <a:xfrm>
            <a:off x="3680460" y="1623060"/>
            <a:ext cx="320040" cy="320040"/>
          </a:xfrm>
          <a:prstGeom prst="rect">
            <a:avLst/>
          </a:prstGeom>
        </p:spPr>
      </p:pic>
      <p:sp>
        <p:nvSpPr>
          <p:cNvPr id="11" name="Text 7"/>
          <p:cNvSpPr txBox="1"/>
          <p:nvPr/>
        </p:nvSpPr>
        <p:spPr>
          <a:xfrm>
            <a:off x="4297680" y="1463040"/>
            <a:ext cx="1554480" cy="640080"/>
          </a:xfrm>
          <a:prstGeom prst="rect">
            <a:avLst/>
          </a:prstGeom>
          <a:noFill/>
          <a:ln/>
        </p:spPr>
        <p:txBody>
          <a:bodyPr wrap="square" lIns="0" tIns="0" rIns="0" bIns="0" rtlCol="0" anchor="ctr"/>
          <a:lstStyle/>
          <a:p>
            <a:pPr marL="0" indent="0">
              <a:buNone/>
            </a:pPr>
            <a:r>
              <a:rPr lang="en-US" sz="3000" b="1" dirty="0">
                <a:solidFill>
                  <a:srgbClr val="1F3864"/>
                </a:solidFill>
                <a:latin typeface="Calibri" pitchFamily="34" charset="0"/>
                <a:ea typeface="Calibri" pitchFamily="34" charset="-122"/>
                <a:cs typeface="Calibri" pitchFamily="34" charset="-120"/>
              </a:rPr>
              <a:t>11</a:t>
            </a:r>
            <a:endParaRPr lang="en-US" sz="3000" dirty="0"/>
          </a:p>
        </p:txBody>
      </p:sp>
      <p:sp>
        <p:nvSpPr>
          <p:cNvPr id="12" name="Text 8"/>
          <p:cNvSpPr txBox="1"/>
          <p:nvPr/>
        </p:nvSpPr>
        <p:spPr>
          <a:xfrm>
            <a:off x="3520440" y="2194560"/>
            <a:ext cx="2286000" cy="685800"/>
          </a:xfrm>
          <a:prstGeom prst="rect">
            <a:avLst/>
          </a:prstGeom>
          <a:noFill/>
          <a:ln/>
        </p:spPr>
        <p:txBody>
          <a:bodyPr wrap="square" lIns="0" tIns="0" rIns="0" bIns="0" rtlCol="0" anchor="t"/>
          <a:lstStyle/>
          <a:p>
            <a:pPr marL="0" indent="0">
              <a:buNone/>
            </a:pPr>
            <a:r>
              <a:rPr lang="en-US" sz="1300" dirty="0">
                <a:solidFill>
                  <a:srgbClr val="404040"/>
                </a:solidFill>
                <a:latin typeface="Calibri" pitchFamily="34" charset="0"/>
                <a:ea typeface="Calibri" pitchFamily="34" charset="-122"/>
                <a:cs typeface="Calibri" pitchFamily="34" charset="-120"/>
              </a:rPr>
              <a:t>rôles : un compte par programme ou par usage, droits jusqu'à la colonne</a:t>
            </a:r>
            <a:endParaRPr lang="en-US" sz="1300" dirty="0"/>
          </a:p>
        </p:txBody>
      </p:sp>
      <p:sp>
        <p:nvSpPr>
          <p:cNvPr id="13" name="Shape 9"/>
          <p:cNvSpPr/>
          <p:nvPr/>
        </p:nvSpPr>
        <p:spPr>
          <a:xfrm>
            <a:off x="548640" y="3154680"/>
            <a:ext cx="2606040" cy="1691640"/>
          </a:xfrm>
          <a:prstGeom prst="roundRect">
            <a:avLst>
              <a:gd name="adj" fmla="val 6486"/>
            </a:avLst>
          </a:prstGeom>
          <a:solidFill>
            <a:srgbClr val="F4F8FC"/>
          </a:solidFill>
          <a:ln w="9525">
            <a:solidFill>
              <a:srgbClr val="D9D9D9"/>
            </a:solidFill>
            <a:prstDash val="solid"/>
          </a:ln>
        </p:spPr>
        <p:txBody>
          <a:bodyPr/>
          <a:lstStyle/>
          <a:p>
            <a:endParaRPr lang="fr-FR"/>
          </a:p>
        </p:txBody>
      </p:sp>
      <p:sp>
        <p:nvSpPr>
          <p:cNvPr id="14" name="Shape 10"/>
          <p:cNvSpPr/>
          <p:nvPr/>
        </p:nvSpPr>
        <p:spPr>
          <a:xfrm>
            <a:off x="731520" y="3337560"/>
            <a:ext cx="640080" cy="640080"/>
          </a:xfrm>
          <a:prstGeom prst="ellipse">
            <a:avLst/>
          </a:prstGeom>
          <a:solidFill>
            <a:srgbClr val="1F3864"/>
          </a:solidFill>
          <a:ln w="12700">
            <a:solidFill>
              <a:srgbClr val="1F3864"/>
            </a:solidFill>
            <a:prstDash val="solid"/>
          </a:ln>
        </p:spPr>
        <p:txBody>
          <a:bodyPr/>
          <a:lstStyle/>
          <a:p>
            <a:endParaRPr lang="fr-FR"/>
          </a:p>
        </p:txBody>
      </p:sp>
      <p:pic>
        <p:nvPicPr>
          <p:cNvPr id="15" name="Image 2" descr="pictogramme"/>
          <p:cNvPicPr>
            <a:picLocks noChangeAspect="1"/>
          </p:cNvPicPr>
          <p:nvPr/>
        </p:nvPicPr>
        <p:blipFill>
          <a:blip r:embed="rId5"/>
          <a:stretch>
            <a:fillRect/>
          </a:stretch>
        </p:blipFill>
        <p:spPr>
          <a:xfrm>
            <a:off x="891540" y="3497580"/>
            <a:ext cx="320040" cy="320040"/>
          </a:xfrm>
          <a:prstGeom prst="rect">
            <a:avLst/>
          </a:prstGeom>
        </p:spPr>
      </p:pic>
      <p:sp>
        <p:nvSpPr>
          <p:cNvPr id="16" name="Text 11"/>
          <p:cNvSpPr txBox="1"/>
          <p:nvPr/>
        </p:nvSpPr>
        <p:spPr>
          <a:xfrm>
            <a:off x="1508760" y="3337560"/>
            <a:ext cx="1554480" cy="640080"/>
          </a:xfrm>
          <a:prstGeom prst="rect">
            <a:avLst/>
          </a:prstGeom>
          <a:noFill/>
          <a:ln/>
        </p:spPr>
        <p:txBody>
          <a:bodyPr wrap="square" lIns="0" tIns="0" rIns="0" bIns="0" rtlCol="0" anchor="ctr"/>
          <a:lstStyle/>
          <a:p>
            <a:pPr marL="0" indent="0">
              <a:buNone/>
            </a:pPr>
            <a:r>
              <a:rPr lang="en-US" sz="3000" b="1" dirty="0">
                <a:solidFill>
                  <a:srgbClr val="1F3864"/>
                </a:solidFill>
                <a:latin typeface="Calibri" pitchFamily="34" charset="0"/>
                <a:ea typeface="Calibri" pitchFamily="34" charset="-122"/>
                <a:cs typeface="Calibri" pitchFamily="34" charset="-120"/>
              </a:rPr>
              <a:t>45</a:t>
            </a:r>
            <a:endParaRPr lang="en-US" sz="3000" dirty="0"/>
          </a:p>
        </p:txBody>
      </p:sp>
      <p:sp>
        <p:nvSpPr>
          <p:cNvPr id="17" name="Text 12"/>
          <p:cNvSpPr txBox="1"/>
          <p:nvPr/>
        </p:nvSpPr>
        <p:spPr>
          <a:xfrm>
            <a:off x="731520" y="4069080"/>
            <a:ext cx="2286000" cy="685800"/>
          </a:xfrm>
          <a:prstGeom prst="rect">
            <a:avLst/>
          </a:prstGeom>
          <a:noFill/>
          <a:ln/>
        </p:spPr>
        <p:txBody>
          <a:bodyPr wrap="square" lIns="0" tIns="0" rIns="0" bIns="0" rtlCol="0" anchor="t"/>
          <a:lstStyle/>
          <a:p>
            <a:pPr marL="0" indent="0">
              <a:buNone/>
            </a:pPr>
            <a:r>
              <a:rPr lang="en-US" sz="1300" dirty="0">
                <a:solidFill>
                  <a:srgbClr val="404040"/>
                </a:solidFill>
                <a:latin typeface="Calibri" pitchFamily="34" charset="0"/>
                <a:ea typeface="Calibri" pitchFamily="34" charset="-122"/>
                <a:cs typeface="Calibri" pitchFamily="34" charset="-120"/>
              </a:rPr>
              <a:t>tests automatisés des droits et du chiffrement, tous conformes</a:t>
            </a:r>
            <a:endParaRPr lang="en-US" sz="1300" dirty="0"/>
          </a:p>
        </p:txBody>
      </p:sp>
      <p:sp>
        <p:nvSpPr>
          <p:cNvPr id="18" name="Shape 13"/>
          <p:cNvSpPr/>
          <p:nvPr/>
        </p:nvSpPr>
        <p:spPr>
          <a:xfrm>
            <a:off x="3337560" y="3154680"/>
            <a:ext cx="2606040" cy="1691640"/>
          </a:xfrm>
          <a:prstGeom prst="roundRect">
            <a:avLst>
              <a:gd name="adj" fmla="val 6486"/>
            </a:avLst>
          </a:prstGeom>
          <a:solidFill>
            <a:srgbClr val="F4F8FC"/>
          </a:solidFill>
          <a:ln w="9525">
            <a:solidFill>
              <a:srgbClr val="D9D9D9"/>
            </a:solidFill>
            <a:prstDash val="solid"/>
          </a:ln>
        </p:spPr>
        <p:txBody>
          <a:bodyPr/>
          <a:lstStyle/>
          <a:p>
            <a:endParaRPr lang="fr-FR"/>
          </a:p>
        </p:txBody>
      </p:sp>
      <p:sp>
        <p:nvSpPr>
          <p:cNvPr id="19" name="Shape 14"/>
          <p:cNvSpPr/>
          <p:nvPr/>
        </p:nvSpPr>
        <p:spPr>
          <a:xfrm>
            <a:off x="3520440" y="3337560"/>
            <a:ext cx="640080" cy="640080"/>
          </a:xfrm>
          <a:prstGeom prst="ellipse">
            <a:avLst/>
          </a:prstGeom>
          <a:solidFill>
            <a:srgbClr val="1F3864"/>
          </a:solidFill>
          <a:ln w="12700">
            <a:solidFill>
              <a:srgbClr val="1F3864"/>
            </a:solidFill>
            <a:prstDash val="solid"/>
          </a:ln>
        </p:spPr>
        <p:txBody>
          <a:bodyPr/>
          <a:lstStyle/>
          <a:p>
            <a:endParaRPr lang="fr-FR"/>
          </a:p>
        </p:txBody>
      </p:sp>
      <p:pic>
        <p:nvPicPr>
          <p:cNvPr id="20" name="Image 3" descr="pictogramme"/>
          <p:cNvPicPr>
            <a:picLocks noChangeAspect="1"/>
          </p:cNvPicPr>
          <p:nvPr/>
        </p:nvPicPr>
        <p:blipFill>
          <a:blip r:embed="rId6"/>
          <a:stretch>
            <a:fillRect/>
          </a:stretch>
        </p:blipFill>
        <p:spPr>
          <a:xfrm>
            <a:off x="3680460" y="3497580"/>
            <a:ext cx="320040" cy="320040"/>
          </a:xfrm>
          <a:prstGeom prst="rect">
            <a:avLst/>
          </a:prstGeom>
        </p:spPr>
      </p:pic>
      <p:sp>
        <p:nvSpPr>
          <p:cNvPr id="21" name="Text 15"/>
          <p:cNvSpPr txBox="1"/>
          <p:nvPr/>
        </p:nvSpPr>
        <p:spPr>
          <a:xfrm>
            <a:off x="4297680" y="3337560"/>
            <a:ext cx="1554480" cy="640080"/>
          </a:xfrm>
          <a:prstGeom prst="rect">
            <a:avLst/>
          </a:prstGeom>
          <a:noFill/>
          <a:ln/>
        </p:spPr>
        <p:txBody>
          <a:bodyPr wrap="square" lIns="0" tIns="0" rIns="0" bIns="0" rtlCol="0" anchor="ctr"/>
          <a:lstStyle/>
          <a:p>
            <a:pPr marL="0" indent="0">
              <a:buNone/>
            </a:pPr>
            <a:r>
              <a:rPr lang="en-US" sz="3000" b="1" dirty="0">
                <a:solidFill>
                  <a:srgbClr val="1F3864"/>
                </a:solidFill>
                <a:latin typeface="Calibri" pitchFamily="34" charset="0"/>
                <a:ea typeface="Calibri" pitchFamily="34" charset="-122"/>
                <a:cs typeface="Calibri" pitchFamily="34" charset="-120"/>
              </a:rPr>
              <a:t>13</a:t>
            </a:r>
            <a:endParaRPr lang="en-US" sz="3000" dirty="0"/>
          </a:p>
        </p:txBody>
      </p:sp>
      <p:sp>
        <p:nvSpPr>
          <p:cNvPr id="22" name="Text 16"/>
          <p:cNvSpPr txBox="1"/>
          <p:nvPr/>
        </p:nvSpPr>
        <p:spPr>
          <a:xfrm>
            <a:off x="3520440" y="4069080"/>
            <a:ext cx="2286000" cy="685800"/>
          </a:xfrm>
          <a:prstGeom prst="rect">
            <a:avLst/>
          </a:prstGeom>
          <a:noFill/>
          <a:ln/>
        </p:spPr>
        <p:txBody>
          <a:bodyPr wrap="square" lIns="0" tIns="0" rIns="0" bIns="0" rtlCol="0" anchor="t"/>
          <a:lstStyle/>
          <a:p>
            <a:pPr marL="0" indent="0">
              <a:buNone/>
            </a:pPr>
            <a:r>
              <a:rPr lang="en-US" sz="1300" dirty="0">
                <a:solidFill>
                  <a:srgbClr val="404040"/>
                </a:solidFill>
                <a:latin typeface="Calibri" pitchFamily="34" charset="0"/>
                <a:ea typeface="Calibri" pitchFamily="34" charset="-122"/>
                <a:cs typeface="Calibri" pitchFamily="34" charset="-120"/>
              </a:rPr>
              <a:t>contrôles RGPD, PCI-DSS et disponibilité chaque jour, rapport daté</a:t>
            </a:r>
            <a:endParaRPr lang="en-US" sz="1300" dirty="0"/>
          </a:p>
        </p:txBody>
      </p:sp>
      <p:sp>
        <p:nvSpPr>
          <p:cNvPr id="23" name="Shape 17"/>
          <p:cNvSpPr/>
          <p:nvPr/>
        </p:nvSpPr>
        <p:spPr>
          <a:xfrm>
            <a:off x="548640" y="5074920"/>
            <a:ext cx="5394960" cy="1005840"/>
          </a:xfrm>
          <a:prstGeom prst="roundRect">
            <a:avLst>
              <a:gd name="adj" fmla="val 10909"/>
            </a:avLst>
          </a:prstGeom>
          <a:solidFill>
            <a:srgbClr val="FBE5D6"/>
          </a:solidFill>
          <a:ln w="9525">
            <a:solidFill>
              <a:srgbClr val="D9D9D9"/>
            </a:solidFill>
            <a:prstDash val="solid"/>
          </a:ln>
        </p:spPr>
        <p:txBody>
          <a:bodyPr/>
          <a:lstStyle/>
          <a:p>
            <a:endParaRPr lang="fr-FR"/>
          </a:p>
        </p:txBody>
      </p:sp>
      <p:sp>
        <p:nvSpPr>
          <p:cNvPr id="24" name="Text 18"/>
          <p:cNvSpPr txBox="1"/>
          <p:nvPr/>
        </p:nvSpPr>
        <p:spPr>
          <a:xfrm>
            <a:off x="777240" y="5120640"/>
            <a:ext cx="4983480" cy="914400"/>
          </a:xfrm>
          <a:prstGeom prst="rect">
            <a:avLst/>
          </a:prstGeom>
          <a:noFill/>
          <a:ln/>
        </p:spPr>
        <p:txBody>
          <a:bodyPr wrap="square" lIns="0" tIns="0" rIns="0" bIns="0" rtlCol="0" anchor="ctr"/>
          <a:lstStyle/>
          <a:p>
            <a:pPr marL="0" indent="0">
              <a:buNone/>
            </a:pPr>
            <a:r>
              <a:rPr lang="en-US" sz="1400" b="1" dirty="0">
                <a:solidFill>
                  <a:srgbClr val="C55A11"/>
                </a:solidFill>
                <a:latin typeface="Calibri" pitchFamily="34" charset="0"/>
                <a:ea typeface="Calibri" pitchFamily="34" charset="-122"/>
                <a:cs typeface="Calibri" pitchFamily="34" charset="-120"/>
              </a:rPr>
              <a:t>Identifier, optimiser : </a:t>
            </a:r>
            <a:r>
              <a:rPr lang="en-US" sz="1400" dirty="0">
                <a:solidFill>
                  <a:srgbClr val="262626"/>
                </a:solidFill>
                <a:latin typeface="Calibri" pitchFamily="34" charset="0"/>
                <a:ea typeface="Calibri" pitchFamily="34" charset="-122"/>
                <a:cs typeface="Calibri" pitchFamily="34" charset="-120"/>
              </a:rPr>
              <a:t>la supervision a détecté un cache à 85,7 % ; la mémoire de PostgreSQL a été portée de 128 à 512 Mo.</a:t>
            </a:r>
            <a:endParaRPr lang="en-US" sz="1400" dirty="0"/>
          </a:p>
        </p:txBody>
      </p:sp>
      <p:sp>
        <p:nvSpPr>
          <p:cNvPr id="25" name="Shape 19"/>
          <p:cNvSpPr/>
          <p:nvPr/>
        </p:nvSpPr>
        <p:spPr>
          <a:xfrm>
            <a:off x="6263640" y="1280160"/>
            <a:ext cx="5349240" cy="3794760"/>
          </a:xfrm>
          <a:prstGeom prst="rect">
            <a:avLst/>
          </a:prstGeom>
          <a:solidFill>
            <a:srgbClr val="1F2128"/>
          </a:solidFill>
          <a:ln w="9525">
            <a:solidFill>
              <a:srgbClr val="D9D9D9"/>
            </a:solidFill>
            <a:prstDash val="solid"/>
          </a:ln>
        </p:spPr>
        <p:txBody>
          <a:bodyPr/>
          <a:lstStyle/>
          <a:p>
            <a:endParaRPr lang="fr-FR"/>
          </a:p>
        </p:txBody>
      </p:sp>
      <p:pic>
        <p:nvPicPr>
          <p:cNvPr id="26" name="Image 4" descr="Capture du tableau de bord Grafana : paiements par minute, part bloquée, retard du réplica nul, Debezium connecté, aucune connexion non chiffrée."/>
          <p:cNvPicPr>
            <a:picLocks noChangeAspect="1"/>
          </p:cNvPicPr>
          <p:nvPr/>
        </p:nvPicPr>
        <p:blipFill>
          <a:blip r:embed="rId7"/>
          <a:stretch>
            <a:fillRect/>
          </a:stretch>
        </p:blipFill>
        <p:spPr>
          <a:xfrm>
            <a:off x="6309360" y="1463040"/>
            <a:ext cx="5257800" cy="2706718"/>
          </a:xfrm>
          <a:prstGeom prst="rect">
            <a:avLst/>
          </a:prstGeom>
        </p:spPr>
      </p:pic>
      <p:sp>
        <p:nvSpPr>
          <p:cNvPr id="27" name="Shape 20"/>
          <p:cNvSpPr/>
          <p:nvPr/>
        </p:nvSpPr>
        <p:spPr>
          <a:xfrm>
            <a:off x="6263640" y="5303520"/>
            <a:ext cx="548640" cy="548640"/>
          </a:xfrm>
          <a:prstGeom prst="ellipse">
            <a:avLst/>
          </a:prstGeom>
          <a:solidFill>
            <a:srgbClr val="44546A"/>
          </a:solidFill>
          <a:ln w="12700">
            <a:solidFill>
              <a:srgbClr val="44546A"/>
            </a:solidFill>
            <a:prstDash val="solid"/>
          </a:ln>
        </p:spPr>
        <p:txBody>
          <a:bodyPr/>
          <a:lstStyle/>
          <a:p>
            <a:endParaRPr lang="fr-FR"/>
          </a:p>
        </p:txBody>
      </p:sp>
      <p:pic>
        <p:nvPicPr>
          <p:cNvPr id="28" name="Image 5" descr="pictogramme"/>
          <p:cNvPicPr>
            <a:picLocks noChangeAspect="1"/>
          </p:cNvPicPr>
          <p:nvPr/>
        </p:nvPicPr>
        <p:blipFill>
          <a:blip r:embed="rId8"/>
          <a:stretch>
            <a:fillRect/>
          </a:stretch>
        </p:blipFill>
        <p:spPr>
          <a:xfrm>
            <a:off x="6400800" y="5440680"/>
            <a:ext cx="274320" cy="274320"/>
          </a:xfrm>
          <a:prstGeom prst="rect">
            <a:avLst/>
          </a:prstGeom>
        </p:spPr>
      </p:pic>
      <p:sp>
        <p:nvSpPr>
          <p:cNvPr id="29" name="Text 21"/>
          <p:cNvSpPr txBox="1"/>
          <p:nvPr/>
        </p:nvSpPr>
        <p:spPr>
          <a:xfrm>
            <a:off x="6949440" y="5230368"/>
            <a:ext cx="4663440" cy="777240"/>
          </a:xfrm>
          <a:prstGeom prst="rect">
            <a:avLst/>
          </a:prstGeom>
          <a:noFill/>
          <a:ln/>
        </p:spPr>
        <p:txBody>
          <a:bodyPr wrap="square" lIns="0" tIns="0" rIns="0" bIns="0" rtlCol="0" anchor="ctr"/>
          <a:lstStyle/>
          <a:p>
            <a:pPr marL="0" indent="0">
              <a:buNone/>
            </a:pPr>
            <a:r>
              <a:rPr lang="en-US" sz="1300" dirty="0">
                <a:solidFill>
                  <a:srgbClr val="262626"/>
                </a:solidFill>
                <a:latin typeface="Calibri" pitchFamily="34" charset="0"/>
                <a:ea typeface="Calibri" pitchFamily="34" charset="-122"/>
                <a:cs typeface="Calibri" pitchFamily="34" charset="-120"/>
              </a:rPr>
              <a:t>Grafana : 15 indicateurs en continu et 5 règles d'alerte (capture interrompue, entrepôt non alimenté, dérive...)</a:t>
            </a:r>
            <a:endParaRPr lang="en-US" sz="1300" dirty="0"/>
          </a:p>
        </p:txBody>
      </p:sp>
      <p:sp>
        <p:nvSpPr>
          <p:cNvPr id="3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595959"/>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64240" cy="731520"/>
          </a:xfrm>
          <a:prstGeom prst="rect">
            <a:avLst/>
          </a:prstGeom>
          <a:noFill/>
          <a:ln/>
        </p:spPr>
        <p:txBody>
          <a:bodyPr wrap="square" lIns="0" tIns="0" rIns="0" bIns="0" rtlCol="0" anchor="ctr"/>
          <a:lstStyle/>
          <a:p>
            <a:pPr marL="0" indent="0" algn="l">
              <a:buNone/>
            </a:pPr>
            <a:r>
              <a:rPr lang="en-US" sz="3000" b="1" dirty="0">
                <a:solidFill>
                  <a:schemeClr val="tx2"/>
                </a:solidFill>
              </a:rPr>
              <a:t>Résultats : la fraude repérée, le métier éclairé</a:t>
            </a:r>
            <a:endParaRPr lang="en-US" sz="3000" dirty="0"/>
          </a:p>
        </p:txBody>
      </p:sp>
      <p:sp>
        <p:nvSpPr>
          <p:cNvPr id="3" name="Shape 1"/>
          <p:cNvSpPr/>
          <p:nvPr/>
        </p:nvSpPr>
        <p:spPr>
          <a:xfrm>
            <a:off x="548640" y="1234440"/>
            <a:ext cx="5852160" cy="4846320"/>
          </a:xfrm>
          <a:prstGeom prst="roundRect">
            <a:avLst>
              <a:gd name="adj" fmla="val 2264"/>
            </a:avLst>
          </a:prstGeom>
          <a:solidFill>
            <a:srgbClr val="FFFFFF"/>
          </a:solidFill>
          <a:ln w="9525">
            <a:solidFill>
              <a:srgbClr val="D9D9D9"/>
            </a:solidFill>
            <a:prstDash val="solid"/>
          </a:ln>
        </p:spPr>
        <p:txBody>
          <a:bodyPr/>
          <a:lstStyle/>
          <a:p>
            <a:endParaRPr lang="fr-FR"/>
          </a:p>
        </p:txBody>
      </p:sp>
      <p:graphicFrame>
        <p:nvGraphicFramePr>
          <p:cNvPr id="4" name="Chart 0"/>
          <p:cNvGraphicFramePr/>
          <p:nvPr/>
        </p:nvGraphicFramePr>
        <p:xfrm>
          <a:off x="685800" y="1325880"/>
          <a:ext cx="557784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777240" y="5349240"/>
            <a:ext cx="5394960" cy="658368"/>
          </a:xfrm>
          <a:prstGeom prst="rect">
            <a:avLst/>
          </a:prstGeom>
          <a:noFill/>
          <a:ln/>
        </p:spPr>
        <p:txBody>
          <a:bodyPr wrap="square" lIns="0" tIns="0" rIns="0" bIns="0" rtlCol="0" anchor="t"/>
          <a:lstStyle/>
          <a:p>
            <a:pPr marL="0" indent="0">
              <a:buNone/>
            </a:pPr>
            <a:r>
              <a:rPr lang="en-US" sz="1200" i="1" dirty="0">
                <a:solidFill>
                  <a:srgbClr val="404040"/>
                </a:solidFill>
                <a:latin typeface="Calibri" pitchFamily="34" charset="0"/>
                <a:ea typeface="Calibri" pitchFamily="34" charset="-122"/>
                <a:cs typeface="Calibri" pitchFamily="34" charset="-120"/>
              </a:rPr>
              <a:t>Lecture indicative : l'historique a été noté par un modèle entraîné sur ces mêmes données. Mesure rigoureuse : AUC de 0,99 sur les 20 % de paiements les plus récents, jamais vus.</a:t>
            </a:r>
            <a:endParaRPr lang="en-US" sz="1200" dirty="0"/>
          </a:p>
        </p:txBody>
      </p:sp>
      <p:sp>
        <p:nvSpPr>
          <p:cNvPr id="6" name="Shape 3"/>
          <p:cNvSpPr/>
          <p:nvPr/>
        </p:nvSpPr>
        <p:spPr>
          <a:xfrm>
            <a:off x="6720840" y="1234440"/>
            <a:ext cx="4892040" cy="1463040"/>
          </a:xfrm>
          <a:prstGeom prst="roundRect">
            <a:avLst>
              <a:gd name="adj" fmla="val 7500"/>
            </a:avLst>
          </a:prstGeom>
          <a:solidFill>
            <a:srgbClr val="E2EFDA"/>
          </a:solidFill>
          <a:ln w="9525">
            <a:solidFill>
              <a:srgbClr val="D9D9D9"/>
            </a:solidFill>
            <a:prstDash val="solid"/>
          </a:ln>
        </p:spPr>
        <p:txBody>
          <a:bodyPr/>
          <a:lstStyle/>
          <a:p>
            <a:endParaRPr lang="fr-FR"/>
          </a:p>
        </p:txBody>
      </p:sp>
      <p:sp>
        <p:nvSpPr>
          <p:cNvPr id="7" name="Text 4"/>
          <p:cNvSpPr txBox="1"/>
          <p:nvPr/>
        </p:nvSpPr>
        <p:spPr>
          <a:xfrm>
            <a:off x="6949440" y="1371600"/>
            <a:ext cx="4480560" cy="594360"/>
          </a:xfrm>
          <a:prstGeom prst="rect">
            <a:avLst/>
          </a:prstGeom>
          <a:noFill/>
          <a:ln/>
        </p:spPr>
        <p:txBody>
          <a:bodyPr wrap="square" lIns="0" tIns="0" rIns="0" bIns="0" rtlCol="0" anchor="ctr"/>
          <a:lstStyle/>
          <a:p>
            <a:pPr marL="0" indent="0">
              <a:buNone/>
            </a:pPr>
            <a:r>
              <a:rPr lang="en-US" sz="2800" b="1" dirty="0">
                <a:solidFill>
                  <a:srgbClr val="375623"/>
                </a:solidFill>
                <a:latin typeface="Calibri" pitchFamily="34" charset="0"/>
                <a:ea typeface="Calibri" pitchFamily="34" charset="-122"/>
                <a:cs typeface="Calibri" pitchFamily="34" charset="-120"/>
              </a:rPr>
              <a:t>55,5 %</a:t>
            </a:r>
            <a:endParaRPr lang="en-US" sz="2800" dirty="0"/>
          </a:p>
        </p:txBody>
      </p:sp>
      <p:sp>
        <p:nvSpPr>
          <p:cNvPr id="8" name="Text 5"/>
          <p:cNvSpPr txBox="1"/>
          <p:nvPr/>
        </p:nvSpPr>
        <p:spPr>
          <a:xfrm>
            <a:off x="6949440" y="1984248"/>
            <a:ext cx="4480560" cy="594360"/>
          </a:xfrm>
          <a:prstGeom prst="rect">
            <a:avLst/>
          </a:prstGeom>
          <a:noFill/>
          <a:ln/>
        </p:spPr>
        <p:txBody>
          <a:bodyPr wrap="square" lIns="0" tIns="0" rIns="0" bIns="0" rtlCol="0" anchor="t"/>
          <a:lstStyle/>
          <a:p>
            <a:pPr marL="0" indent="0">
              <a:buNone/>
            </a:pPr>
            <a:r>
              <a:rPr lang="en-US" sz="1400" dirty="0">
                <a:solidFill>
                  <a:srgbClr val="262626"/>
                </a:solidFill>
                <a:latin typeface="Calibri" pitchFamily="34" charset="0"/>
                <a:ea typeface="Calibri" pitchFamily="34" charset="-122"/>
                <a:cs typeface="Calibri" pitchFamily="34" charset="-120"/>
              </a:rPr>
              <a:t>du chiffre d'affaires réalisé par les Champions, un quart des clients</a:t>
            </a:r>
            <a:endParaRPr lang="en-US" sz="1400" dirty="0"/>
          </a:p>
        </p:txBody>
      </p:sp>
      <p:sp>
        <p:nvSpPr>
          <p:cNvPr id="9" name="Shape 6"/>
          <p:cNvSpPr/>
          <p:nvPr/>
        </p:nvSpPr>
        <p:spPr>
          <a:xfrm>
            <a:off x="6720840" y="2898648"/>
            <a:ext cx="4892040" cy="1463040"/>
          </a:xfrm>
          <a:prstGeom prst="roundRect">
            <a:avLst>
              <a:gd name="adj" fmla="val 7500"/>
            </a:avLst>
          </a:prstGeom>
          <a:solidFill>
            <a:srgbClr val="DEEBF7"/>
          </a:solidFill>
          <a:ln w="9525">
            <a:solidFill>
              <a:srgbClr val="D9D9D9"/>
            </a:solidFill>
            <a:prstDash val="solid"/>
          </a:ln>
        </p:spPr>
        <p:txBody>
          <a:bodyPr/>
          <a:lstStyle/>
          <a:p>
            <a:endParaRPr lang="fr-FR"/>
          </a:p>
        </p:txBody>
      </p:sp>
      <p:sp>
        <p:nvSpPr>
          <p:cNvPr id="10" name="Text 7"/>
          <p:cNvSpPr txBox="1"/>
          <p:nvPr/>
        </p:nvSpPr>
        <p:spPr>
          <a:xfrm>
            <a:off x="6949440" y="3035808"/>
            <a:ext cx="4480560" cy="594360"/>
          </a:xfrm>
          <a:prstGeom prst="rect">
            <a:avLst/>
          </a:prstGeom>
          <a:noFill/>
          <a:ln/>
        </p:spPr>
        <p:txBody>
          <a:bodyPr wrap="square" lIns="0" tIns="0" rIns="0" bIns="0" rtlCol="0" anchor="ctr"/>
          <a:lstStyle/>
          <a:p>
            <a:pPr marL="0" indent="0">
              <a:buNone/>
            </a:pPr>
            <a:r>
              <a:rPr lang="en-US" sz="2800" b="1" dirty="0">
                <a:solidFill>
                  <a:srgbClr val="1F3864"/>
                </a:solidFill>
                <a:latin typeface="Calibri" pitchFamily="34" charset="0"/>
                <a:ea typeface="Calibri" pitchFamily="34" charset="-122"/>
                <a:cs typeface="Calibri" pitchFamily="34" charset="-120"/>
              </a:rPr>
              <a:t>17 requêtes</a:t>
            </a:r>
            <a:endParaRPr lang="en-US" sz="2800" dirty="0"/>
          </a:p>
        </p:txBody>
      </p:sp>
      <p:sp>
        <p:nvSpPr>
          <p:cNvPr id="11" name="Text 8"/>
          <p:cNvSpPr txBox="1"/>
          <p:nvPr/>
        </p:nvSpPr>
        <p:spPr>
          <a:xfrm>
            <a:off x="6949440" y="3648456"/>
            <a:ext cx="4480560" cy="594360"/>
          </a:xfrm>
          <a:prstGeom prst="rect">
            <a:avLst/>
          </a:prstGeom>
          <a:noFill/>
          <a:ln/>
        </p:spPr>
        <p:txBody>
          <a:bodyPr wrap="square" lIns="0" tIns="0" rIns="0" bIns="0" rtlCol="0" anchor="t"/>
          <a:lstStyle/>
          <a:p>
            <a:pPr marL="0" indent="0">
              <a:buNone/>
            </a:pPr>
            <a:r>
              <a:rPr lang="en-US" sz="1400" dirty="0">
                <a:solidFill>
                  <a:srgbClr val="262626"/>
                </a:solidFill>
                <a:latin typeface="Calibri" pitchFamily="34" charset="0"/>
                <a:ea typeface="Calibri" pitchFamily="34" charset="-122"/>
                <a:cs typeface="Calibri" pitchFamily="34" charset="-120"/>
              </a:rPr>
              <a:t>SQL et NoSQL : chiffre d'affaires, fraude, segmentation</a:t>
            </a:r>
            <a:endParaRPr lang="en-US" sz="1400" dirty="0"/>
          </a:p>
        </p:txBody>
      </p:sp>
      <p:sp>
        <p:nvSpPr>
          <p:cNvPr id="12" name="Shape 9"/>
          <p:cNvSpPr/>
          <p:nvPr/>
        </p:nvSpPr>
        <p:spPr>
          <a:xfrm>
            <a:off x="6720840" y="4562856"/>
            <a:ext cx="4892040" cy="1463040"/>
          </a:xfrm>
          <a:prstGeom prst="roundRect">
            <a:avLst>
              <a:gd name="adj" fmla="val 7500"/>
            </a:avLst>
          </a:prstGeom>
          <a:solidFill>
            <a:srgbClr val="DDF0EF"/>
          </a:solidFill>
          <a:ln w="9525">
            <a:solidFill>
              <a:srgbClr val="D9D9D9"/>
            </a:solidFill>
            <a:prstDash val="solid"/>
          </a:ln>
        </p:spPr>
        <p:txBody>
          <a:bodyPr/>
          <a:lstStyle/>
          <a:p>
            <a:endParaRPr lang="fr-FR"/>
          </a:p>
        </p:txBody>
      </p:sp>
      <p:sp>
        <p:nvSpPr>
          <p:cNvPr id="13" name="Text 10"/>
          <p:cNvSpPr txBox="1"/>
          <p:nvPr/>
        </p:nvSpPr>
        <p:spPr>
          <a:xfrm>
            <a:off x="6949440" y="4700016"/>
            <a:ext cx="4480560" cy="594360"/>
          </a:xfrm>
          <a:prstGeom prst="rect">
            <a:avLst/>
          </a:prstGeom>
          <a:noFill/>
          <a:ln/>
        </p:spPr>
        <p:txBody>
          <a:bodyPr wrap="square" lIns="0" tIns="0" rIns="0" bIns="0" rtlCol="0" anchor="ctr"/>
          <a:lstStyle/>
          <a:p>
            <a:pPr marL="0" indent="0">
              <a:buNone/>
            </a:pPr>
            <a:r>
              <a:rPr lang="en-US" sz="2800" b="1" dirty="0">
                <a:solidFill>
                  <a:srgbClr val="0E6B6B"/>
                </a:solidFill>
                <a:latin typeface="Calibri" pitchFamily="34" charset="0"/>
                <a:ea typeface="Calibri" pitchFamily="34" charset="-122"/>
                <a:cs typeface="Calibri" pitchFamily="34" charset="-120"/>
              </a:rPr>
              <a:t>1 paiement, 3 bases</a:t>
            </a:r>
            <a:endParaRPr lang="en-US" sz="2800" dirty="0"/>
          </a:p>
        </p:txBody>
      </p:sp>
      <p:sp>
        <p:nvSpPr>
          <p:cNvPr id="14" name="Text 11"/>
          <p:cNvSpPr txBox="1"/>
          <p:nvPr/>
        </p:nvSpPr>
        <p:spPr>
          <a:xfrm>
            <a:off x="6949440" y="5312664"/>
            <a:ext cx="4480560" cy="594360"/>
          </a:xfrm>
          <a:prstGeom prst="rect">
            <a:avLst/>
          </a:prstGeom>
          <a:noFill/>
          <a:ln/>
        </p:spPr>
        <p:txBody>
          <a:bodyPr wrap="square" lIns="0" tIns="0" rIns="0" bIns="0" rtlCol="0" anchor="t"/>
          <a:lstStyle/>
          <a:p>
            <a:pPr marL="0" indent="0">
              <a:buNone/>
            </a:pPr>
            <a:r>
              <a:rPr lang="en-US" sz="1400" dirty="0">
                <a:solidFill>
                  <a:srgbClr val="262626"/>
                </a:solidFill>
                <a:latin typeface="Calibri" pitchFamily="34" charset="0"/>
                <a:ea typeface="Calibri" pitchFamily="34" charset="-122"/>
                <a:cs typeface="Calibri" pitchFamily="34" charset="-120"/>
              </a:rPr>
              <a:t>suivi par son identifiant commun : base transactionnelle, NoSQL, entrepôt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595959"/>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411480"/>
            <a:ext cx="10698480" cy="73152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Limites assumées, architecture prête pour le cloud</a:t>
            </a:r>
            <a:endParaRPr lang="en-US" sz="3200" dirty="0"/>
          </a:p>
        </p:txBody>
      </p:sp>
      <p:sp>
        <p:nvSpPr>
          <p:cNvPr id="3" name="Shape 1"/>
          <p:cNvSpPr/>
          <p:nvPr/>
        </p:nvSpPr>
        <p:spPr>
          <a:xfrm>
            <a:off x="731520" y="1371600"/>
            <a:ext cx="5212080" cy="2880360"/>
          </a:xfrm>
          <a:prstGeom prst="roundRect">
            <a:avLst>
              <a:gd name="adj" fmla="val 3810"/>
            </a:avLst>
          </a:prstGeom>
          <a:solidFill>
            <a:srgbClr val="FFFFFF">
              <a:alpha val="92000"/>
            </a:srgbClr>
          </a:solidFill>
          <a:ln w="12700">
            <a:solidFill>
              <a:srgbClr val="FFFFFF"/>
            </a:solidFill>
            <a:prstDash val="solid"/>
          </a:ln>
        </p:spPr>
        <p:txBody>
          <a:bodyPr/>
          <a:lstStyle/>
          <a:p>
            <a:endParaRPr lang="fr-FR"/>
          </a:p>
        </p:txBody>
      </p:sp>
      <p:sp>
        <p:nvSpPr>
          <p:cNvPr id="4" name="Shape 2"/>
          <p:cNvSpPr/>
          <p:nvPr/>
        </p:nvSpPr>
        <p:spPr>
          <a:xfrm>
            <a:off x="1005840" y="1600200"/>
            <a:ext cx="640080" cy="640080"/>
          </a:xfrm>
          <a:prstGeom prst="ellipse">
            <a:avLst/>
          </a:prstGeom>
          <a:solidFill>
            <a:srgbClr val="C55A11"/>
          </a:solidFill>
          <a:ln w="12700">
            <a:solidFill>
              <a:srgbClr val="C55A11"/>
            </a:solidFill>
            <a:prstDash val="solid"/>
          </a:ln>
        </p:spPr>
        <p:txBody>
          <a:bodyPr/>
          <a:lstStyle/>
          <a:p>
            <a:endParaRPr lang="fr-FR"/>
          </a:p>
        </p:txBody>
      </p:sp>
      <p:pic>
        <p:nvPicPr>
          <p:cNvPr id="5" name="Image 0" descr="pictogramme"/>
          <p:cNvPicPr>
            <a:picLocks noChangeAspect="1"/>
          </p:cNvPicPr>
          <p:nvPr/>
        </p:nvPicPr>
        <p:blipFill>
          <a:blip r:embed="rId3"/>
          <a:stretch>
            <a:fillRect/>
          </a:stretch>
        </p:blipFill>
        <p:spPr>
          <a:xfrm>
            <a:off x="1165860" y="1760220"/>
            <a:ext cx="320040" cy="320040"/>
          </a:xfrm>
          <a:prstGeom prst="rect">
            <a:avLst/>
          </a:prstGeom>
        </p:spPr>
      </p:pic>
      <p:sp>
        <p:nvSpPr>
          <p:cNvPr id="6" name="Text 3"/>
          <p:cNvSpPr txBox="1"/>
          <p:nvPr/>
        </p:nvSpPr>
        <p:spPr>
          <a:xfrm>
            <a:off x="1828800" y="1645920"/>
            <a:ext cx="3840480" cy="548640"/>
          </a:xfrm>
          <a:prstGeom prst="rect">
            <a:avLst/>
          </a:prstGeom>
          <a:noFill/>
          <a:ln/>
        </p:spPr>
        <p:txBody>
          <a:bodyPr wrap="square" lIns="0" tIns="0" rIns="0" bIns="0" rtlCol="0" anchor="ctr"/>
          <a:lstStyle/>
          <a:p>
            <a:pPr marL="0" indent="0">
              <a:buNone/>
            </a:pPr>
            <a:r>
              <a:rPr lang="en-US" sz="2200" b="1" dirty="0">
                <a:solidFill>
                  <a:srgbClr val="1F3864"/>
                </a:solidFill>
                <a:latin typeface="Calibri" pitchFamily="34" charset="0"/>
                <a:ea typeface="Calibri" pitchFamily="34" charset="-122"/>
                <a:cs typeface="Calibri" pitchFamily="34" charset="-120"/>
              </a:rPr>
              <a:t>Démonstration</a:t>
            </a:r>
            <a:endParaRPr lang="en-US" sz="2200" dirty="0"/>
          </a:p>
        </p:txBody>
      </p:sp>
      <p:sp>
        <p:nvSpPr>
          <p:cNvPr id="7" name="Text 4"/>
          <p:cNvSpPr txBox="1"/>
          <p:nvPr/>
        </p:nvSpPr>
        <p:spPr>
          <a:xfrm>
            <a:off x="1051560" y="2423160"/>
            <a:ext cx="4572000" cy="21945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262626"/>
                </a:solidFill>
                <a:latin typeface="Calibri" pitchFamily="34" charset="0"/>
                <a:ea typeface="Calibri" pitchFamily="34" charset="-122"/>
                <a:cs typeface="Calibri" pitchFamily="34" charset="-120"/>
              </a:rPr>
              <a:t>Poste unique, sans redondance</a:t>
            </a:r>
            <a:endParaRPr lang="en-US" sz="1700" dirty="0"/>
          </a:p>
          <a:p>
            <a:pPr marL="342900" indent="-342900">
              <a:spcAft>
                <a:spcPts val="1000"/>
              </a:spcAft>
              <a:buSzPct val="100000"/>
              <a:buChar char="•"/>
            </a:pPr>
            <a:r>
              <a:rPr lang="en-US" sz="1700" dirty="0">
                <a:solidFill>
                  <a:srgbClr val="262626"/>
                </a:solidFill>
                <a:latin typeface="Calibri" pitchFamily="34" charset="0"/>
                <a:ea typeface="Calibri" pitchFamily="34" charset="-122"/>
                <a:cs typeface="Calibri" pitchFamily="34" charset="-120"/>
              </a:rPr>
              <a:t>Rythme accéléré du générateur</a:t>
            </a:r>
            <a:endParaRPr lang="en-US" sz="1700" dirty="0"/>
          </a:p>
          <a:p>
            <a:pPr marL="342900" indent="-342900">
              <a:spcAft>
                <a:spcPts val="1000"/>
              </a:spcAft>
              <a:buSzPct val="100000"/>
              <a:buChar char="•"/>
            </a:pPr>
            <a:r>
              <a:rPr lang="en-US" sz="1700" dirty="0">
                <a:solidFill>
                  <a:srgbClr val="262626"/>
                </a:solidFill>
                <a:latin typeface="Calibri" pitchFamily="34" charset="0"/>
                <a:ea typeface="Calibri" pitchFamily="34" charset="-122"/>
                <a:cs typeface="Calibri" pitchFamily="34" charset="-120"/>
              </a:rPr>
              <a:t>Bascule manuelle vers le réplica</a:t>
            </a:r>
            <a:endParaRPr lang="en-US" sz="1700" dirty="0"/>
          </a:p>
          <a:p>
            <a:pPr marL="342900" indent="-342900">
              <a:spcAft>
                <a:spcPts val="1000"/>
              </a:spcAft>
              <a:buSzPct val="100000"/>
              <a:buChar char="•"/>
            </a:pPr>
            <a:r>
              <a:rPr lang="en-US" sz="1700" dirty="0">
                <a:solidFill>
                  <a:srgbClr val="262626"/>
                </a:solidFill>
                <a:latin typeface="Calibri" pitchFamily="34" charset="0"/>
                <a:ea typeface="Calibri" pitchFamily="34" charset="-122"/>
                <a:cs typeface="Calibri" pitchFamily="34" charset="-120"/>
              </a:rPr>
              <a:t>TLS limité à la base transactionnelle</a:t>
            </a:r>
            <a:endParaRPr lang="en-US" sz="1700" dirty="0"/>
          </a:p>
        </p:txBody>
      </p:sp>
      <p:sp>
        <p:nvSpPr>
          <p:cNvPr id="8" name="Shape 5"/>
          <p:cNvSpPr/>
          <p:nvPr/>
        </p:nvSpPr>
        <p:spPr>
          <a:xfrm>
            <a:off x="6217920" y="1371600"/>
            <a:ext cx="5212080" cy="2880360"/>
          </a:xfrm>
          <a:prstGeom prst="roundRect">
            <a:avLst>
              <a:gd name="adj" fmla="val 3810"/>
            </a:avLst>
          </a:prstGeom>
          <a:solidFill>
            <a:srgbClr val="FFFFFF">
              <a:alpha val="92000"/>
            </a:srgbClr>
          </a:solidFill>
          <a:ln w="12700">
            <a:solidFill>
              <a:srgbClr val="FFFFFF"/>
            </a:solidFill>
            <a:prstDash val="solid"/>
          </a:ln>
        </p:spPr>
        <p:txBody>
          <a:bodyPr/>
          <a:lstStyle/>
          <a:p>
            <a:endParaRPr lang="fr-FR"/>
          </a:p>
        </p:txBody>
      </p:sp>
      <p:sp>
        <p:nvSpPr>
          <p:cNvPr id="9" name="Shape 6"/>
          <p:cNvSpPr/>
          <p:nvPr/>
        </p:nvSpPr>
        <p:spPr>
          <a:xfrm>
            <a:off x="6492240" y="1600200"/>
            <a:ext cx="640080" cy="640080"/>
          </a:xfrm>
          <a:prstGeom prst="ellipse">
            <a:avLst/>
          </a:prstGeom>
          <a:solidFill>
            <a:srgbClr val="2E75B6"/>
          </a:solidFill>
          <a:ln w="12700">
            <a:solidFill>
              <a:srgbClr val="2E75B6"/>
            </a:solidFill>
            <a:prstDash val="solid"/>
          </a:ln>
        </p:spPr>
        <p:txBody>
          <a:bodyPr/>
          <a:lstStyle/>
          <a:p>
            <a:endParaRPr lang="fr-FR"/>
          </a:p>
        </p:txBody>
      </p:sp>
      <p:pic>
        <p:nvPicPr>
          <p:cNvPr id="10" name="Image 1" descr="pictogramme"/>
          <p:cNvPicPr>
            <a:picLocks noChangeAspect="1"/>
          </p:cNvPicPr>
          <p:nvPr/>
        </p:nvPicPr>
        <p:blipFill>
          <a:blip r:embed="rId4"/>
          <a:stretch>
            <a:fillRect/>
          </a:stretch>
        </p:blipFill>
        <p:spPr>
          <a:xfrm>
            <a:off x="6652260" y="1760220"/>
            <a:ext cx="320040" cy="320040"/>
          </a:xfrm>
          <a:prstGeom prst="rect">
            <a:avLst/>
          </a:prstGeom>
        </p:spPr>
      </p:pic>
      <p:sp>
        <p:nvSpPr>
          <p:cNvPr id="11" name="Text 7"/>
          <p:cNvSpPr txBox="1"/>
          <p:nvPr/>
        </p:nvSpPr>
        <p:spPr>
          <a:xfrm>
            <a:off x="7315200" y="1645920"/>
            <a:ext cx="3840480" cy="548640"/>
          </a:xfrm>
          <a:prstGeom prst="rect">
            <a:avLst/>
          </a:prstGeom>
          <a:noFill/>
          <a:ln/>
        </p:spPr>
        <p:txBody>
          <a:bodyPr wrap="square" lIns="0" tIns="0" rIns="0" bIns="0" rtlCol="0" anchor="ctr"/>
          <a:lstStyle/>
          <a:p>
            <a:pPr marL="0" indent="0">
              <a:buNone/>
            </a:pPr>
            <a:r>
              <a:rPr lang="en-US" sz="2200" b="1" dirty="0">
                <a:solidFill>
                  <a:srgbClr val="1F3864"/>
                </a:solidFill>
                <a:latin typeface="Calibri" pitchFamily="34" charset="0"/>
                <a:ea typeface="Calibri" pitchFamily="34" charset="-122"/>
                <a:cs typeface="Calibri" pitchFamily="34" charset="-120"/>
              </a:rPr>
              <a:t>Architecture cible</a:t>
            </a:r>
            <a:endParaRPr lang="en-US" sz="2200" dirty="0"/>
          </a:p>
        </p:txBody>
      </p:sp>
      <p:sp>
        <p:nvSpPr>
          <p:cNvPr id="12" name="Text 8"/>
          <p:cNvSpPr txBox="1"/>
          <p:nvPr/>
        </p:nvSpPr>
        <p:spPr>
          <a:xfrm>
            <a:off x="6537960" y="2423160"/>
            <a:ext cx="4572000" cy="21945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262626"/>
                </a:solidFill>
                <a:latin typeface="Calibri" pitchFamily="34" charset="0"/>
                <a:ea typeface="Calibri" pitchFamily="34" charset="-122"/>
                <a:cs typeface="Calibri" pitchFamily="34" charset="-120"/>
              </a:rPr>
              <a:t>Services gérés sur trois zones</a:t>
            </a:r>
            <a:endParaRPr lang="en-US" sz="1700" dirty="0"/>
          </a:p>
          <a:p>
            <a:pPr marL="342900" indent="-342900">
              <a:spcAft>
                <a:spcPts val="1000"/>
              </a:spcAft>
              <a:buSzPct val="100000"/>
              <a:buChar char="•"/>
            </a:pPr>
            <a:r>
              <a:rPr lang="en-US" sz="1700" dirty="0">
                <a:solidFill>
                  <a:srgbClr val="262626"/>
                </a:solidFill>
                <a:latin typeface="Calibri" pitchFamily="34" charset="0"/>
                <a:ea typeface="Calibri" pitchFamily="34" charset="-122"/>
                <a:cs typeface="Calibri" pitchFamily="34" charset="-120"/>
              </a:rPr>
              <a:t>Kafka à trois courtiers, MongoDB réparti</a:t>
            </a:r>
            <a:endParaRPr lang="en-US" sz="1700" dirty="0"/>
          </a:p>
          <a:p>
            <a:pPr marL="342900" indent="-342900">
              <a:spcAft>
                <a:spcPts val="1000"/>
              </a:spcAft>
              <a:buSzPct val="100000"/>
              <a:buChar char="•"/>
            </a:pPr>
            <a:r>
              <a:rPr lang="en-US" sz="1700" dirty="0">
                <a:solidFill>
                  <a:srgbClr val="262626"/>
                </a:solidFill>
                <a:latin typeface="Calibri" pitchFamily="34" charset="0"/>
                <a:ea typeface="Calibri" pitchFamily="34" charset="-122"/>
                <a:cs typeface="Calibri" pitchFamily="34" charset="-120"/>
              </a:rPr>
              <a:t>Kubernetes et Terraform</a:t>
            </a:r>
            <a:endParaRPr lang="en-US" sz="1700" dirty="0"/>
          </a:p>
          <a:p>
            <a:pPr marL="342900" indent="-342900">
              <a:spcAft>
                <a:spcPts val="1000"/>
              </a:spcAft>
              <a:buSzPct val="100000"/>
              <a:buChar char="•"/>
            </a:pPr>
            <a:r>
              <a:rPr lang="en-US" sz="1700" dirty="0">
                <a:solidFill>
                  <a:srgbClr val="262626"/>
                </a:solidFill>
                <a:latin typeface="Calibri" pitchFamily="34" charset="0"/>
                <a:ea typeface="Calibri" pitchFamily="34" charset="-122"/>
                <a:cs typeface="Calibri" pitchFamily="34" charset="-120"/>
              </a:rPr>
              <a:t>Chiffrement généralisé, alertes notifiées</a:t>
            </a:r>
            <a:endParaRPr lang="en-US" sz="1700" dirty="0"/>
          </a:p>
        </p:txBody>
      </p:sp>
      <p:sp>
        <p:nvSpPr>
          <p:cNvPr id="13" name="Shape 9"/>
          <p:cNvSpPr/>
          <p:nvPr/>
        </p:nvSpPr>
        <p:spPr>
          <a:xfrm>
            <a:off x="731520" y="4526280"/>
            <a:ext cx="10698480" cy="777240"/>
          </a:xfrm>
          <a:prstGeom prst="roundRect">
            <a:avLst>
              <a:gd name="adj" fmla="val 14118"/>
            </a:avLst>
          </a:prstGeom>
          <a:solidFill>
            <a:srgbClr val="2E75B6"/>
          </a:solidFill>
          <a:ln w="12700">
            <a:solidFill>
              <a:srgbClr val="2E75B6"/>
            </a:solidFill>
            <a:prstDash val="solid"/>
          </a:ln>
        </p:spPr>
        <p:txBody>
          <a:bodyPr/>
          <a:lstStyle/>
          <a:p>
            <a:endParaRPr lang="fr-FR"/>
          </a:p>
        </p:txBody>
      </p:sp>
      <p:sp>
        <p:nvSpPr>
          <p:cNvPr id="14" name="Text 10"/>
          <p:cNvSpPr txBox="1"/>
          <p:nvPr/>
        </p:nvSpPr>
        <p:spPr>
          <a:xfrm>
            <a:off x="914400" y="4572000"/>
            <a:ext cx="10332720" cy="6858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Une architecture complète, testée et reproductible : 16 services, 7 diagrammes, 17 requêtes métier.</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377440"/>
            <a:ext cx="10698480" cy="1097280"/>
          </a:xfrm>
          <a:prstGeom prst="rect">
            <a:avLst/>
          </a:prstGeom>
          <a:noFill/>
          <a:ln/>
        </p:spPr>
        <p:txBody>
          <a:bodyPr wrap="square" rtlCol="0" anchor="ctr"/>
          <a:lstStyle/>
          <a:p>
            <a:pPr marL="0" indent="0" algn="ctr">
              <a:buNone/>
            </a:pPr>
            <a:r>
              <a:rPr lang="en-US" sz="4000" b="1" dirty="0">
                <a:solidFill>
                  <a:schemeClr val="bg1"/>
                </a:solidFill>
              </a:rPr>
              <a:t>Annexes</a:t>
            </a:r>
            <a:endParaRPr lang="en-US" sz="4000" dirty="0"/>
          </a:p>
        </p:txBody>
      </p:sp>
      <p:sp>
        <p:nvSpPr>
          <p:cNvPr id="3" name="Text 1"/>
          <p:cNvSpPr txBox="1"/>
          <p:nvPr/>
        </p:nvSpPr>
        <p:spPr>
          <a:xfrm>
            <a:off x="731520" y="3474720"/>
            <a:ext cx="10698480" cy="457200"/>
          </a:xfrm>
          <a:prstGeom prst="rect">
            <a:avLst/>
          </a:prstGeom>
          <a:noFill/>
          <a:ln/>
        </p:spPr>
        <p:txBody>
          <a:bodyPr wrap="square" lIns="0" tIns="0" rIns="0" bIns="0" rtlCol="0" anchor="ctr"/>
          <a:lstStyle/>
          <a:p>
            <a:pPr marL="0" indent="0" algn="ctr">
              <a:buNone/>
            </a:pPr>
            <a:r>
              <a:rPr lang="en-US" sz="1800" dirty="0">
                <a:solidFill>
                  <a:srgbClr val="DEEBF7"/>
                </a:solidFill>
                <a:latin typeface="Calibri" pitchFamily="34" charset="0"/>
                <a:ea typeface="Calibri" pitchFamily="34" charset="-122"/>
                <a:cs typeface="Calibri" pitchFamily="34" charset="-120"/>
              </a:rPr>
              <a:t>Diagrammes détaillés et compléments pour les questions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64240" cy="731520"/>
          </a:xfrm>
          <a:prstGeom prst="rect">
            <a:avLst/>
          </a:prstGeom>
          <a:noFill/>
          <a:ln/>
        </p:spPr>
        <p:txBody>
          <a:bodyPr wrap="square" lIns="0" tIns="0" rIns="0" bIns="0" rtlCol="0" anchor="ctr"/>
          <a:lstStyle/>
          <a:p>
            <a:pPr marL="0" indent="0" algn="l">
              <a:buNone/>
            </a:pPr>
            <a:r>
              <a:rPr lang="en-US" sz="3000" b="1" dirty="0">
                <a:solidFill>
                  <a:schemeClr val="tx2"/>
                </a:solidFill>
              </a:rPr>
              <a:t>Annexe 1 - Architecture globale</a:t>
            </a:r>
            <a:endParaRPr lang="en-US" sz="3000" dirty="0"/>
          </a:p>
        </p:txBody>
      </p:sp>
      <p:pic>
        <p:nvPicPr>
          <p:cNvPr id="3" name="Image 0" descr="Annexe 1 - Architecture globale"/>
          <p:cNvPicPr>
            <a:picLocks noChangeAspect="1"/>
          </p:cNvPicPr>
          <p:nvPr/>
        </p:nvPicPr>
        <p:blipFill>
          <a:blip r:embed="rId3"/>
          <a:stretch>
            <a:fillRect/>
          </a:stretch>
        </p:blipFill>
        <p:spPr>
          <a:xfrm>
            <a:off x="548640" y="1097280"/>
            <a:ext cx="11064240" cy="4382753"/>
          </a:xfrm>
          <a:prstGeom prst="rect">
            <a:avLst/>
          </a:prstGeom>
        </p:spPr>
      </p:pic>
      <p:sp>
        <p:nvSpPr>
          <p:cNvPr id="4" name="Text 1"/>
          <p:cNvSpPr txBox="1"/>
          <p:nvPr/>
        </p:nvSpPr>
        <p:spPr>
          <a:xfrm>
            <a:off x="548640" y="5589761"/>
            <a:ext cx="11064240" cy="502920"/>
          </a:xfrm>
          <a:prstGeom prst="rect">
            <a:avLst/>
          </a:prstGeom>
          <a:noFill/>
          <a:ln/>
        </p:spPr>
        <p:txBody>
          <a:bodyPr wrap="square" lIns="0" tIns="0" rIns="0" bIns="0" rtlCol="0" anchor="t"/>
          <a:lstStyle/>
          <a:p>
            <a:pPr marL="0" indent="0">
              <a:buNone/>
            </a:pPr>
            <a:r>
              <a:rPr lang="en-US" sz="1200" i="1" dirty="0">
                <a:solidFill>
                  <a:srgbClr val="404040"/>
                </a:solidFill>
                <a:latin typeface="Calibri" pitchFamily="34" charset="0"/>
                <a:ea typeface="Calibri" pitchFamily="34" charset="-122"/>
                <a:cs typeface="Calibri" pitchFamily="34" charset="-120"/>
              </a:rPr>
              <a:t>Rangée du haut : flux temps réel ; milieu : réplica et entraînement ; en dessous : traitements par lots Airflow ; en bas : supervision. Flèches pleines : données ; tirets : pilotage ; pointillés : lecture seule.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595959"/>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64240" cy="731520"/>
          </a:xfrm>
          <a:prstGeom prst="rect">
            <a:avLst/>
          </a:prstGeom>
          <a:noFill/>
          <a:ln/>
        </p:spPr>
        <p:txBody>
          <a:bodyPr wrap="square" lIns="0" tIns="0" rIns="0" bIns="0" rtlCol="0" anchor="ctr"/>
          <a:lstStyle/>
          <a:p>
            <a:r>
              <a:rPr lang="en-US" sz="3000" b="1" dirty="0">
                <a:solidFill>
                  <a:schemeClr val="tx2"/>
                </a:solidFill>
              </a:rPr>
              <a:t>Annexe 2 - Modèle entité-relation de la base transactionnelle </a:t>
            </a:r>
            <a:r>
              <a:rPr lang="fr-FR" sz="1200" dirty="0"/>
              <a:t>(OLTP, PostgreSQL)</a:t>
            </a:r>
            <a:endParaRPr lang="en-US" sz="1200" dirty="0"/>
          </a:p>
        </p:txBody>
      </p:sp>
      <p:pic>
        <p:nvPicPr>
          <p:cNvPr id="3" name="Image 0" descr="Annexe 2 - Modèle entité-relation de la base transactionnelle"/>
          <p:cNvPicPr>
            <a:picLocks noChangeAspect="1"/>
          </p:cNvPicPr>
          <p:nvPr/>
        </p:nvPicPr>
        <p:blipFill>
          <a:blip r:embed="rId3"/>
          <a:stretch>
            <a:fillRect/>
          </a:stretch>
        </p:blipFill>
        <p:spPr>
          <a:xfrm>
            <a:off x="2889150" y="1097280"/>
            <a:ext cx="6383221" cy="4709160"/>
          </a:xfrm>
          <a:prstGeom prst="rect">
            <a:avLst/>
          </a:prstGeom>
        </p:spPr>
      </p:pic>
      <p:sp>
        <p:nvSpPr>
          <p:cNvPr id="4" name="Text 1"/>
          <p:cNvSpPr txBox="1"/>
          <p:nvPr/>
        </p:nvSpPr>
        <p:spPr>
          <a:xfrm>
            <a:off x="548640" y="5916168"/>
            <a:ext cx="11064240" cy="502920"/>
          </a:xfrm>
          <a:prstGeom prst="rect">
            <a:avLst/>
          </a:prstGeom>
          <a:noFill/>
          <a:ln/>
        </p:spPr>
        <p:txBody>
          <a:bodyPr wrap="square" lIns="0" tIns="0" rIns="0" bIns="0" rtlCol="0" anchor="t"/>
          <a:lstStyle/>
          <a:p>
            <a:pPr marL="0" indent="0">
              <a:buNone/>
            </a:pPr>
            <a:r>
              <a:rPr lang="en-US" sz="1200" i="1" dirty="0">
                <a:solidFill>
                  <a:srgbClr val="404040"/>
                </a:solidFill>
                <a:latin typeface="Calibri" pitchFamily="34" charset="0"/>
                <a:ea typeface="Calibri" pitchFamily="34" charset="-122"/>
                <a:cs typeface="Calibri" pitchFamily="34" charset="-120"/>
              </a:rPr>
              <a:t>PK : clé primaire ; FK : clé étrangère ; UQ : valeur unique. Patte de corbeau : plusieurs ; trait : un ; cercle : facultatif. En orange : colonnes sensibles.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595959"/>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64240" cy="731520"/>
          </a:xfrm>
          <a:prstGeom prst="rect">
            <a:avLst/>
          </a:prstGeom>
          <a:noFill/>
          <a:ln/>
        </p:spPr>
        <p:txBody>
          <a:bodyPr wrap="square" lIns="0" tIns="0" rIns="0" bIns="0" rtlCol="0" anchor="ctr"/>
          <a:lstStyle/>
          <a:p>
            <a:r>
              <a:rPr lang="en-US" sz="3000" b="1" dirty="0">
                <a:solidFill>
                  <a:schemeClr val="tx2"/>
                </a:solidFill>
              </a:rPr>
              <a:t>Annexe 3 - Schéma en étoile de l'entrepôt analytique </a:t>
            </a:r>
            <a:r>
              <a:rPr lang="fr-FR" sz="1200" dirty="0"/>
              <a:t>(OLAP)</a:t>
            </a:r>
            <a:endParaRPr lang="en-US" sz="1200" dirty="0"/>
          </a:p>
        </p:txBody>
      </p:sp>
      <p:pic>
        <p:nvPicPr>
          <p:cNvPr id="3" name="Image 0" descr="Annexe 3 - Schéma en étoile de l'entrepôt"/>
          <p:cNvPicPr>
            <a:picLocks noChangeAspect="1"/>
          </p:cNvPicPr>
          <p:nvPr/>
        </p:nvPicPr>
        <p:blipFill>
          <a:blip r:embed="rId3"/>
          <a:stretch>
            <a:fillRect/>
          </a:stretch>
        </p:blipFill>
        <p:spPr>
          <a:xfrm>
            <a:off x="1016148" y="1097280"/>
            <a:ext cx="10129224" cy="4709160"/>
          </a:xfrm>
          <a:prstGeom prst="rect">
            <a:avLst/>
          </a:prstGeom>
        </p:spPr>
      </p:pic>
      <p:sp>
        <p:nvSpPr>
          <p:cNvPr id="4" name="Text 1"/>
          <p:cNvSpPr txBox="1"/>
          <p:nvPr/>
        </p:nvSpPr>
        <p:spPr>
          <a:xfrm>
            <a:off x="548640" y="5916168"/>
            <a:ext cx="11064240" cy="502920"/>
          </a:xfrm>
          <a:prstGeom prst="rect">
            <a:avLst/>
          </a:prstGeom>
          <a:noFill/>
          <a:ln/>
        </p:spPr>
        <p:txBody>
          <a:bodyPr wrap="square" lIns="0" tIns="0" rIns="0" bIns="0" rtlCol="0" anchor="t"/>
          <a:lstStyle/>
          <a:p>
            <a:pPr marL="0" indent="0">
              <a:buNone/>
            </a:pPr>
            <a:r>
              <a:rPr lang="en-US" sz="1200" i="1" dirty="0">
                <a:solidFill>
                  <a:srgbClr val="404040"/>
                </a:solidFill>
                <a:latin typeface="Calibri" pitchFamily="34" charset="0"/>
                <a:ea typeface="Calibri" pitchFamily="34" charset="-122"/>
                <a:cs typeface="Calibri" pitchFamily="34" charset="-120"/>
              </a:rPr>
              <a:t>Au centre, les faits (un paiement par ligne, mesures repérées par M) ; autour, sept dimensions d'analyse ; à droite, audit, agrégats, vues matérialisées et optimisations.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595959"/>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64240" cy="731520"/>
          </a:xfrm>
          <a:prstGeom prst="rect">
            <a:avLst/>
          </a:prstGeom>
          <a:noFill/>
          <a:ln/>
        </p:spPr>
        <p:txBody>
          <a:bodyPr wrap="square" lIns="0" tIns="0" rIns="0" bIns="0" rtlCol="0" anchor="ctr"/>
          <a:lstStyle/>
          <a:p>
            <a:r>
              <a:rPr lang="en-US" sz="3000" b="1" dirty="0">
                <a:solidFill>
                  <a:schemeClr val="tx2"/>
                </a:solidFill>
              </a:rPr>
              <a:t>Annexe 4 - Modèle de données NoSQL </a:t>
            </a:r>
            <a:r>
              <a:rPr lang="en-US" sz="1200" b="1" dirty="0">
                <a:solidFill>
                  <a:schemeClr val="tx2"/>
                </a:solidFill>
              </a:rPr>
              <a:t>(</a:t>
            </a:r>
            <a:r>
              <a:rPr lang="fr-FR" sz="1200" dirty="0"/>
              <a:t>le carnet en vrac)</a:t>
            </a:r>
            <a:endParaRPr lang="en-US" sz="1200" dirty="0"/>
          </a:p>
        </p:txBody>
      </p:sp>
      <p:pic>
        <p:nvPicPr>
          <p:cNvPr id="3" name="Image 0" descr="Annexe 4 - Modèle de données NoSQL"/>
          <p:cNvPicPr>
            <a:picLocks noChangeAspect="1"/>
          </p:cNvPicPr>
          <p:nvPr/>
        </p:nvPicPr>
        <p:blipFill>
          <a:blip r:embed="rId3"/>
          <a:stretch>
            <a:fillRect/>
          </a:stretch>
        </p:blipFill>
        <p:spPr>
          <a:xfrm>
            <a:off x="548640" y="1097280"/>
            <a:ext cx="11064240" cy="3947701"/>
          </a:xfrm>
          <a:prstGeom prst="rect">
            <a:avLst/>
          </a:prstGeom>
        </p:spPr>
      </p:pic>
      <p:sp>
        <p:nvSpPr>
          <p:cNvPr id="4" name="Text 1"/>
          <p:cNvSpPr txBox="1"/>
          <p:nvPr/>
        </p:nvSpPr>
        <p:spPr>
          <a:xfrm>
            <a:off x="548640" y="5154709"/>
            <a:ext cx="11064240" cy="502920"/>
          </a:xfrm>
          <a:prstGeom prst="rect">
            <a:avLst/>
          </a:prstGeom>
          <a:noFill/>
          <a:ln/>
        </p:spPr>
        <p:txBody>
          <a:bodyPr wrap="square" lIns="0" tIns="0" rIns="0" bIns="0" rtlCol="0" anchor="t"/>
          <a:lstStyle/>
          <a:p>
            <a:pPr marL="0" indent="0">
              <a:buNone/>
            </a:pPr>
            <a:r>
              <a:rPr lang="en-US" sz="1200" i="1" dirty="0">
                <a:solidFill>
                  <a:srgbClr val="404040"/>
                </a:solidFill>
                <a:latin typeface="Calibri" pitchFamily="34" charset="0"/>
                <a:ea typeface="Calibri" pitchFamily="34" charset="-122"/>
                <a:cs typeface="Calibri" pitchFamily="34" charset="-120"/>
              </a:rPr>
              <a:t>Champs décalés : imbriqués dans le précédent. _id : identifiant ; REF : référence ; { } : objet ; [ ] : liste. Pas de traits : MongoDB ne vérifie pas les références.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595959"/>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64240" cy="731520"/>
          </a:xfrm>
          <a:prstGeom prst="rect">
            <a:avLst/>
          </a:prstGeom>
          <a:noFill/>
          <a:ln/>
        </p:spPr>
        <p:txBody>
          <a:bodyPr wrap="square" lIns="0" tIns="0" rIns="0" bIns="0" rtlCol="0" anchor="ctr"/>
          <a:lstStyle/>
          <a:p>
            <a:pPr marL="0" indent="0" algn="l">
              <a:buNone/>
            </a:pPr>
            <a:r>
              <a:rPr lang="en-US" sz="3000" b="1" dirty="0">
                <a:solidFill>
                  <a:schemeClr val="tx2"/>
                </a:solidFill>
              </a:rPr>
              <a:t>Annexe 5 - Architecture du pipeline</a:t>
            </a:r>
            <a:endParaRPr lang="en-US" sz="3000" dirty="0"/>
          </a:p>
        </p:txBody>
      </p:sp>
      <p:pic>
        <p:nvPicPr>
          <p:cNvPr id="3" name="Image 0" descr="Annexe 5 - Architecture du pipeline"/>
          <p:cNvPicPr>
            <a:picLocks noChangeAspect="1"/>
          </p:cNvPicPr>
          <p:nvPr/>
        </p:nvPicPr>
        <p:blipFill>
          <a:blip r:embed="rId3"/>
          <a:stretch>
            <a:fillRect/>
          </a:stretch>
        </p:blipFill>
        <p:spPr>
          <a:xfrm>
            <a:off x="1654189" y="1097280"/>
            <a:ext cx="8853142" cy="4709160"/>
          </a:xfrm>
          <a:prstGeom prst="rect">
            <a:avLst/>
          </a:prstGeom>
        </p:spPr>
      </p:pic>
      <p:sp>
        <p:nvSpPr>
          <p:cNvPr id="4" name="Text 1"/>
          <p:cNvSpPr txBox="1"/>
          <p:nvPr/>
        </p:nvSpPr>
        <p:spPr>
          <a:xfrm>
            <a:off x="548640" y="5916168"/>
            <a:ext cx="11064240" cy="502920"/>
          </a:xfrm>
          <a:prstGeom prst="rect">
            <a:avLst/>
          </a:prstGeom>
          <a:noFill/>
          <a:ln/>
        </p:spPr>
        <p:txBody>
          <a:bodyPr wrap="square" lIns="0" tIns="0" rIns="0" bIns="0" rtlCol="0" anchor="t"/>
          <a:lstStyle/>
          <a:p>
            <a:pPr marL="0" indent="0">
              <a:buNone/>
            </a:pPr>
            <a:r>
              <a:rPr lang="en-US" sz="1200" i="1" dirty="0">
                <a:solidFill>
                  <a:srgbClr val="404040"/>
                </a:solidFill>
                <a:latin typeface="Calibri" pitchFamily="34" charset="0"/>
                <a:ea typeface="Calibri" pitchFamily="34" charset="-122"/>
                <a:cs typeface="Calibri" pitchFamily="34" charset="-120"/>
              </a:rPr>
              <a:t>En haut, les huit étapes d'un paiement en temps réel et leurs garanties ; en bas, les trois chaînes Airflow avec le nom exact de chaque tâche et leur enchaînement.</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595959"/>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64240" cy="731520"/>
          </a:xfrm>
          <a:prstGeom prst="rect">
            <a:avLst/>
          </a:prstGeom>
          <a:noFill/>
          <a:ln/>
        </p:spPr>
        <p:txBody>
          <a:bodyPr wrap="square" lIns="0" tIns="0" rIns="0" bIns="0" rtlCol="0" anchor="ctr"/>
          <a:lstStyle/>
          <a:p>
            <a:r>
              <a:rPr lang="en-US" sz="3000" b="1" dirty="0">
                <a:solidFill>
                  <a:schemeClr val="tx2"/>
                </a:solidFill>
              </a:rPr>
              <a:t>Annexe 6 - Cycle de vie des modèles </a:t>
            </a:r>
            <a:r>
              <a:rPr lang="en-US" sz="1200" b="1" dirty="0">
                <a:solidFill>
                  <a:schemeClr val="tx2"/>
                </a:solidFill>
              </a:rPr>
              <a:t>(</a:t>
            </a:r>
            <a:r>
              <a:rPr lang="fr-FR" sz="1200" dirty="0"/>
              <a:t>intégration de l'intelligence artificielle)</a:t>
            </a:r>
            <a:endParaRPr lang="en-US" sz="1200" dirty="0"/>
          </a:p>
        </p:txBody>
      </p:sp>
      <p:pic>
        <p:nvPicPr>
          <p:cNvPr id="3" name="Image 0" descr="Annexe 6 - Cycle de vie des modèles"/>
          <p:cNvPicPr>
            <a:picLocks noChangeAspect="1"/>
          </p:cNvPicPr>
          <p:nvPr/>
        </p:nvPicPr>
        <p:blipFill>
          <a:blip r:embed="rId3"/>
          <a:stretch>
            <a:fillRect/>
          </a:stretch>
        </p:blipFill>
        <p:spPr>
          <a:xfrm>
            <a:off x="1530847" y="1097280"/>
            <a:ext cx="9099826" cy="4709160"/>
          </a:xfrm>
          <a:prstGeom prst="rect">
            <a:avLst/>
          </a:prstGeom>
        </p:spPr>
      </p:pic>
      <p:sp>
        <p:nvSpPr>
          <p:cNvPr id="4" name="Text 1"/>
          <p:cNvSpPr txBox="1"/>
          <p:nvPr/>
        </p:nvSpPr>
        <p:spPr>
          <a:xfrm>
            <a:off x="548640" y="5916168"/>
            <a:ext cx="11064240" cy="502920"/>
          </a:xfrm>
          <a:prstGeom prst="rect">
            <a:avLst/>
          </a:prstGeom>
          <a:noFill/>
          <a:ln/>
        </p:spPr>
        <p:txBody>
          <a:bodyPr wrap="square" lIns="0" tIns="0" rIns="0" bIns="0" rtlCol="0" anchor="t"/>
          <a:lstStyle/>
          <a:p>
            <a:pPr marL="0" indent="0">
              <a:buNone/>
            </a:pPr>
            <a:r>
              <a:rPr lang="en-US" sz="1200" i="1" dirty="0">
                <a:solidFill>
                  <a:srgbClr val="404040"/>
                </a:solidFill>
                <a:latin typeface="Calibri" pitchFamily="34" charset="0"/>
                <a:ea typeface="Calibri" pitchFamily="34" charset="-122"/>
                <a:cs typeface="Calibri" pitchFamily="34" charset="-120"/>
              </a:rPr>
              <a:t>Lecture dans le sens des aiguilles d'une montre : collecte, indices, entraînement, registre, déploiement, suivi, réentraînement. Au centre, les résultats des deux modèles.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595959"/>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64240" cy="731520"/>
          </a:xfrm>
          <a:prstGeom prst="rect">
            <a:avLst/>
          </a:prstGeom>
          <a:noFill/>
          <a:ln/>
        </p:spPr>
        <p:txBody>
          <a:bodyPr wrap="square" lIns="0" tIns="0" rIns="0" bIns="0" rtlCol="0" anchor="ctr"/>
          <a:lstStyle/>
          <a:p>
            <a:pPr marL="0" indent="0" algn="l">
              <a:buNone/>
            </a:pPr>
            <a:r>
              <a:rPr lang="en-US" sz="3000" b="1" dirty="0">
                <a:solidFill>
                  <a:schemeClr val="tx2"/>
                </a:solidFill>
              </a:rPr>
              <a:t>Annexe 7 - Sécurité et conformité</a:t>
            </a:r>
            <a:endParaRPr lang="en-US" sz="3000" dirty="0"/>
          </a:p>
        </p:txBody>
      </p:sp>
      <p:pic>
        <p:nvPicPr>
          <p:cNvPr id="3" name="Image 0" descr="Annexe 7 - Sécurité et conformité"/>
          <p:cNvPicPr>
            <a:picLocks noChangeAspect="1"/>
          </p:cNvPicPr>
          <p:nvPr/>
        </p:nvPicPr>
        <p:blipFill>
          <a:blip r:embed="rId3"/>
          <a:stretch>
            <a:fillRect/>
          </a:stretch>
        </p:blipFill>
        <p:spPr>
          <a:xfrm>
            <a:off x="548640" y="1097280"/>
            <a:ext cx="11064240" cy="4413457"/>
          </a:xfrm>
          <a:prstGeom prst="rect">
            <a:avLst/>
          </a:prstGeom>
        </p:spPr>
      </p:pic>
      <p:sp>
        <p:nvSpPr>
          <p:cNvPr id="4" name="Text 1"/>
          <p:cNvSpPr txBox="1"/>
          <p:nvPr/>
        </p:nvSpPr>
        <p:spPr>
          <a:xfrm>
            <a:off x="548640" y="5620465"/>
            <a:ext cx="11064240" cy="502920"/>
          </a:xfrm>
          <a:prstGeom prst="rect">
            <a:avLst/>
          </a:prstGeom>
          <a:noFill/>
          <a:ln/>
        </p:spPr>
        <p:txBody>
          <a:bodyPr wrap="square" lIns="0" tIns="0" rIns="0" bIns="0" rtlCol="0" anchor="t"/>
          <a:lstStyle/>
          <a:p>
            <a:pPr marL="0" indent="0">
              <a:buNone/>
            </a:pPr>
            <a:r>
              <a:rPr lang="en-US" sz="1200" i="1" dirty="0">
                <a:solidFill>
                  <a:srgbClr val="404040"/>
                </a:solidFill>
                <a:latin typeface="Calibri" pitchFamily="34" charset="0"/>
                <a:ea typeface="Calibri" pitchFamily="34" charset="-122"/>
                <a:cs typeface="Calibri" pitchFamily="34" charset="-120"/>
              </a:rPr>
              <a:t>Matrice : rôle et droits de chaque compte sur chaque base (case blanche : aucun accès). À droite : six couches de protection, de la plus extérieure à la plus intérieure.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595959"/>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64240" cy="731520"/>
          </a:xfrm>
          <a:prstGeom prst="rect">
            <a:avLst/>
          </a:prstGeom>
          <a:noFill/>
          <a:ln/>
        </p:spPr>
        <p:txBody>
          <a:bodyPr wrap="square" lIns="0" tIns="0" rIns="0" bIns="0" rtlCol="0" anchor="ctr"/>
          <a:lstStyle/>
          <a:p>
            <a:pPr marL="0" indent="0" algn="l">
              <a:buNone/>
            </a:pPr>
            <a:r>
              <a:rPr lang="en-US" sz="3000" b="1" dirty="0">
                <a:solidFill>
                  <a:schemeClr val="tx2"/>
                </a:solidFill>
              </a:rPr>
              <a:t>Annexe 8 - Choix technologiques et alternatives écartées</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3011424"/>
        </p:xfrm>
        <a:graphic>
          <a:graphicData uri="http://schemas.openxmlformats.org/drawingml/2006/table">
            <a:tbl>
              <a:tblPr/>
              <a:tblGrid>
                <a:gridCol w="23774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6583680">
                  <a:extLst>
                    <a:ext uri="{9D8B030D-6E8A-4147-A177-3AD203B41FA5}">
                      <a16:colId xmlns:a16="http://schemas.microsoft.com/office/drawing/2014/main" val="20002"/>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Besoin</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Choix</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Alternative écartée et raison</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Base transactionnelle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PostgreSQL 17</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MySQL : possible ; PostgreSQL retenu pour pgcrypto, les types INET et JSONB, les index partiels et la synchronisation de la capture sur le réplica</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Entrepôt</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PostgreSQL en étoile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Entrepôts en colonnes (Snowflake, BigQuery) : retenus pour la cible, même modèle en étoile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Base NoSQL</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MongoDB 8.0</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Cassandra : requêtes moins souples sur les documents imbriqués</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Capture des changements</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Debezium</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Interrogation périodique : charge, latence, suppressions manquées</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Diffusion</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Kafka</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RabbitMQ : relecture possible avec ses streams, mais Debezium s'exécute nativement sur Kafka Connect</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Orchestration</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Airflow</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Cron : ni dépendances, ni nouvelles tentatives, ni historique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extLst>
                  <a:ext uri="{0D108BD9-81ED-4DB2-BD59-A6C34878D82A}">
                    <a16:rowId xmlns:a16="http://schemas.microsoft.com/office/drawing/2014/main" val="10006"/>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Supervision</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Grafana</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Interfaces propres à chaque outil : pas de vue unifiée ni d'alerte transversale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595959"/>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64240" cy="731520"/>
          </a:xfrm>
          <a:prstGeom prst="rect">
            <a:avLst/>
          </a:prstGeom>
          <a:noFill/>
          <a:ln/>
        </p:spPr>
        <p:txBody>
          <a:bodyPr wrap="square" lIns="0" tIns="0" rIns="0" bIns="0" rtlCol="0" anchor="ctr"/>
          <a:lstStyle/>
          <a:p>
            <a:pPr marL="0" indent="0" algn="l">
              <a:buNone/>
            </a:pPr>
            <a:r>
              <a:rPr lang="en-US" sz="3000" b="1" dirty="0">
                <a:solidFill>
                  <a:schemeClr val="tx2"/>
                </a:solidFill>
              </a:rPr>
              <a:t>Annexe 9 - Cohérence entre les bases et résolution des conflits</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2584704"/>
        </p:xfrm>
        <a:graphic>
          <a:graphicData uri="http://schemas.openxmlformats.org/drawingml/2006/table">
            <a:tbl>
              <a:tblPr/>
              <a:tblGrid>
                <a:gridCol w="29260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Base ou règle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Délai ou principe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Mécanisme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Base transactionnelle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Immédiat : source de vérité</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Transactions ACID</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Réplica</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Quelques millisecondes</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Réplication physique en flux</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Base NoSQL</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Environ 0,5 seconde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Capture des changements, Kafka, consommateur</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Entrepôt</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15 minutes au plus</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Chargement incrémental par filigrane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Un seul écrivain par donnée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Aucune écriture concurrente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Application, consommateur (score) et Airflow (entrepôt) séparés</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La source fait foi</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Réécriture à partir de la base transactionnelle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Écritures idempotentes, relecture des événements Kafka</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extLst>
                  <a:ext uri="{0D108BD9-81ED-4DB2-BD59-A6C34878D82A}">
                    <a16:rowId xmlns:a16="http://schemas.microsoft.com/office/drawing/2014/main" val="10006"/>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Réconciliation</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Contrôle après chaque chargement</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Comptages comparés source et entrepôt, agrégats et faits</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595959"/>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64240" cy="731520"/>
          </a:xfrm>
          <a:prstGeom prst="rect">
            <a:avLst/>
          </a:prstGeom>
          <a:noFill/>
          <a:ln/>
        </p:spPr>
        <p:txBody>
          <a:bodyPr wrap="square" lIns="0" tIns="0" rIns="0" bIns="0" rtlCol="0" anchor="ctr"/>
          <a:lstStyle/>
          <a:p>
            <a:pPr marL="0" indent="0" algn="l">
              <a:buNone/>
            </a:pPr>
            <a:r>
              <a:rPr lang="en-US" sz="3000" b="1" dirty="0">
                <a:solidFill>
                  <a:schemeClr val="tx2"/>
                </a:solidFill>
              </a:rPr>
              <a:t>Annexe 10 - Les dix-sept requêtes métier</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3230880"/>
        </p:xfrm>
        <a:graphic>
          <a:graphicData uri="http://schemas.openxmlformats.org/drawingml/2006/table">
            <a:tbl>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3291840">
                  <a:extLst>
                    <a:ext uri="{9D8B030D-6E8A-4147-A177-3AD203B41FA5}">
                      <a16:colId xmlns:a16="http://schemas.microsoft.com/office/drawing/2014/main" val="20004"/>
                    </a:ext>
                  </a:extLst>
                </a:gridCol>
                <a:gridCol w="1783080">
                  <a:extLst>
                    <a:ext uri="{9D8B030D-6E8A-4147-A177-3AD203B41FA5}">
                      <a16:colId xmlns:a16="http://schemas.microsoft.com/office/drawing/2014/main" val="20005"/>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N°</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Question</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Base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N°</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Question</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Base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Chiffre d'affaires par mois et région</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Entrepôt</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Historique d'audit d'un paiement</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Transactionnelle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Évolution hebdomadaire (fenêtres)</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Entrepôt</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11</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Paiements bloqués et indices</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NoSQL</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Dix marchands les plus rentables</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Entrepôt</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Décisions et latence sur 24 heures</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NoSQL</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Pays les plus exposés à la fraude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Entrepôt</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Recommandations d'un client</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NoSQL</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Performance des produits</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Entrepôt</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Entonnoir de conversion</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NoSQL</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Segmentation RFM</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Entrepôt</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Notes et recherche plein texte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NoSQL</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extLst>
                  <a:ext uri="{0D108BD9-81ED-4DB2-BD59-A6C34878D82A}">
                    <a16:rowId xmlns:a16="http://schemas.microsoft.com/office/drawing/2014/main" val="10006"/>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Efficacité du modèle de fraude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Entrepôt</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16</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Dossiers de litige (XML, PDF)</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NoSQL</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Derniers paiements d'un client</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Transactionnelle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17</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Un paiement dans les trois bases</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Les trois</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extLst>
                  <a:ext uri="{0D108BD9-81ED-4DB2-BD59-A6C34878D82A}">
                    <a16:rowId xmlns:a16="http://schemas.microsoft.com/office/drawing/2014/main" val="10008"/>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Taux de litige par marchand</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Transactionnelle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595959"/>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64240" cy="731520"/>
          </a:xfrm>
          <a:prstGeom prst="rect">
            <a:avLst/>
          </a:prstGeom>
          <a:noFill/>
          <a:ln/>
        </p:spPr>
        <p:txBody>
          <a:bodyPr wrap="square" lIns="0" tIns="0" rIns="0" bIns="0" rtlCol="0" anchor="ctr"/>
          <a:lstStyle/>
          <a:p>
            <a:pPr marL="0" indent="0" algn="l">
              <a:buNone/>
            </a:pPr>
            <a:r>
              <a:rPr lang="en-US" sz="3000" b="1" dirty="0">
                <a:solidFill>
                  <a:schemeClr val="tx2"/>
                </a:solidFill>
              </a:rPr>
              <a:t>Annexe 11 - Architecture cible dans le cloud</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2907792"/>
        </p:xfrm>
        <a:graphic>
          <a:graphicData uri="http://schemas.openxmlformats.org/drawingml/2006/table">
            <a:tbl>
              <a:tblPr/>
              <a:tblGrid>
                <a:gridCol w="21945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gridCol w="3063240">
                  <a:extLst>
                    <a:ext uri="{9D8B030D-6E8A-4147-A177-3AD203B41FA5}">
                      <a16:colId xmlns:a16="http://schemas.microsoft.com/office/drawing/2014/main" val="20003"/>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Composant</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Démonstration</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Cible (AWS)</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Cible (Azure)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Base transactionnelle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PostgreSQL et un réplica</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Aurora PostgreSQL multi-zones</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Azure Database for PostgreSQL</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Diffusion</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Kafka, un nœud</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Amazon MSK, trois courtiers</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Event Hubs (protocole Kafka)</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Base NoSQL</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MongoDB, un nœud</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MongoDB Atlas, grappe répartie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MongoDB Atlas ou Cosmos DB</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Entrepôt</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PostgreSQL en étoile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Amazon Redshift</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Azure Synapse Analytics</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Orchestration</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Airflow</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Amazon MWAA</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Airflow sur Kubernetes (AKS)</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Modèles</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FastAPI et registre MongoDB</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SageMaker</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Azure Machine Learning</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extLst>
                  <a:ext uri="{0D108BD9-81ED-4DB2-BD59-A6C34878D82A}">
                    <a16:rowId xmlns:a16="http://schemas.microsoft.com/office/drawing/2014/main" val="10006"/>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Supervision</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Grafana</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Managed Grafana et CloudWatch</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Managed Grafana et Azure Monitor</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Calcul</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Docker Compose</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EKS et Terraform</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AKS et Terraform</a:t>
                      </a:r>
                      <a:endParaRPr lang="en-US" sz="140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8FC"/>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595959"/>
                </a:solidFill>
              </a:defRPr>
            </a:lvl1pPr>
          </a:lstStyle>
          <a:p>
            <a:pPr algn="r"/>
            <a:fld id="{F7021451-1387-4CA6-816F-3879F97B5CBC}" type="slidenum">
              <a:rPr lang="en-US" b="0"/>
              <a:t>20</a:t>
            </a:fld>
            <a:endParaRPr lang="en-US"/>
          </a:p>
        </p:txBody>
      </p:sp>
    </p:spTree>
  </p:cSld>
  <p:clrMapOvr>
    <a:masterClrMapping/>
  </p:clrMapOvr>
</p:sld>
</file>

<file path=ppt/theme/theme1.xml><?xml version="1.0" encoding="utf-8"?>
<a:theme xmlns:a="http://schemas.openxmlformats.org/drawingml/2006/main" name="Projet Stripe">
  <a:themeElements>
    <a:clrScheme name="Projet Stripe">
      <a:dk1>
        <a:srgbClr val="262626"/>
      </a:dk1>
      <a:lt1>
        <a:srgbClr val="FFFFFF"/>
      </a:lt1>
      <a:dk2>
        <a:srgbClr val="1F3864"/>
      </a:dk2>
      <a:lt2>
        <a:srgbClr val="F4F8FC"/>
      </a:lt2>
      <a:accent1>
        <a:srgbClr val="1F3864"/>
      </a:accent1>
      <a:accent2>
        <a:srgbClr val="2E75B6"/>
      </a:accent2>
      <a:accent3>
        <a:srgbClr val="375623"/>
      </a:accent3>
      <a:accent4>
        <a:srgbClr val="0E6B6B"/>
      </a:accent4>
      <a:accent5>
        <a:srgbClr val="C55A11"/>
      </a:accent5>
      <a:accent6>
        <a:srgbClr val="7030A0"/>
      </a:accent6>
      <a:hlink>
        <a:srgbClr val="2E75B6"/>
      </a:hlink>
      <a:folHlink>
        <a:srgbClr val="7030A0"/>
      </a:folHlink>
    </a:clrScheme>
    <a:fontScheme name="Projet Strip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TotalTime>
  <Words>2261</Words>
  <Application>Microsoft Office PowerPoint</Application>
  <PresentationFormat>Grand écran</PresentationFormat>
  <Paragraphs>299</Paragraphs>
  <Slides>20</Slides>
  <Notes>20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20</vt:i4>
      </vt:variant>
    </vt:vector>
  </HeadingPairs>
  <TitlesOfParts>
    <vt:vector size="23" baseType="lpstr">
      <vt:lpstr>Arial</vt:lpstr>
      <vt:lpstr>Calibri</vt:lpstr>
      <vt:lpstr>Projet Stripe</vt:lpstr>
      <vt:lpstr>Présentation PowerPoint</vt:lpstr>
      <vt:lpstr>Le besoin : une architecture unifiée pour une croissance mondiale</vt:lpstr>
      <vt:lpstr>Architecture globale : une source de vérité, trois usages</vt:lpstr>
      <vt:lpstr>Trois modèles de données : à chaque base son usage</vt:lpstr>
      <vt:lpstr>Pipeline : chaque paiement noté en temps réel, sans perte</vt:lpstr>
      <vt:lpstr>Sécurité, conformité et supervision : prouvées par des tests</vt:lpstr>
      <vt:lpstr>Résultats : la fraude repérée, le métier éclairé</vt:lpstr>
      <vt:lpstr>Présentation PowerPoint</vt:lpstr>
      <vt:lpstr>Annexes</vt:lpstr>
      <vt:lpstr>Annexe 1 - Architecture globale</vt:lpstr>
      <vt:lpstr>Annexe 2 - Modèle entité-relation de la base transactionnelle (OLTP, PostgreSQL)</vt:lpstr>
      <vt:lpstr>Annexe 3 - Schéma en étoile de l’entrepôt analytique (OLAP)</vt:lpstr>
      <vt:lpstr>Annexe 4 - Modèle de données NoSQL (le carnet en vrac )</vt:lpstr>
      <vt:lpstr>Annexe 5 - Architecture du pipeline</vt:lpstr>
      <vt:lpstr>Annexe 6 - Cycle de vie des modèles (L’intégration de l'intelligence artificielle)</vt:lpstr>
      <vt:lpstr>Annexe 7 - Sécurité et conformité</vt:lpstr>
      <vt:lpstr>Annexe 8 - Choix technologiques et alternatives écartées</vt:lpstr>
      <vt:lpstr>Annexe 9 - Cohérence entre les bases et résolution des conflits</vt:lpstr>
      <vt:lpstr>Annexe 10 - Les dix-sept requêtes métier</vt:lpstr>
      <vt:lpstr>Annexe 11 - Architecture cible dans le cloud</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Architecture de données intégrée OLTP, OLAP et NoSQL - Projet Stripe</dc:title>
  <dc:subject>PptxGenJS Presentation</dc:subject>
  <dc:creator>Aïcha Fathellah</dc:creator>
  <cp:lastModifiedBy>Aicha FATHELLAH</cp:lastModifiedBy>
  <cp:revision>4</cp:revision>
  <dcterms:created xsi:type="dcterms:W3CDTF">2026-10-06T17:14:38Z</dcterms:created>
  <dcterms:modified xsi:type="dcterms:W3CDTF">2026-10-12T14:08:21Z</dcterms:modified>
</cp:coreProperties>
</file>