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3309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du projet de détection de fraude en temps réel. Infrastructure complète construite en local avec Docker. Durée visée : 5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fraude coûte très cher. L'équipe métier a deux besoins simples et précis : une alerte en temps réel, et un bilan quotidien. Le reste de la présentation montre comment l'infrastructure répond à ces deux besoins.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Vue d'ensemble. Tout tourne dans Docker, en local. De gauche à droite : les sources de données, l'entraînement du modèle rangé dans MLflow, Airflow qui orchestre les deux DAG, PostgreSQL qui stocke, et les notifications en sortie. Chaque outil est délimité par une zone en pointillés.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du projet, qui donne son nom à « ETL with Airflow ». Chaque minute : Extraire un paiement, le contrôler, le Transformer et le juger avec le modèle, puis le Charger en base, et enfin tracer le passage. Deux embranchements : quarantaine si la qualité échoue, alerte si c'est une fraude.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décisions à défendre. Local Docker pour la reproductibilité. Bases isolées et données personnelles écartées pour la sécurité et le RGPD. Contrôle qualité, surveillance, modèle versionné : les trois attendus du bloc 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démonstration. Je montre ici le tableau de bord de monitoring alimenté en temps réel par la base. La vidéo prouve que l'infrastructure tourne : les paiements s'accumulent chaque minute, et une fraude déclenche l'alerte. Le code et la vidéo sont sur le dépôt GitHub.</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bilan. Le modèle atteint 96 % de précision et attrape 70 % des fraudes. Le pipeline tourne en continu, un paiement par minute. Les limites sont assumées : temps de traitement, seuil de décision, passage à l'échelle. Montrer qu'on connaît les limites de son système est apprécié.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1.xml"/><Relationship Id="rId4" Type="http://schemas.openxmlformats.org/officeDocument/2006/relationships/notesSlide" Target="../notesSlides/notesSlide6.xml"/><Relationship Id="rId5" Type="http://schemas.openxmlformats.org/officeDocument/2006/relationships/image" Target="../media/image3.png"/><Relationship Id="rId6" Type="http://schemas.openxmlformats.org/officeDocument/2006/relationships/hyperlink" Target="https://github.com/AichaFa/3-Projets_Lead" TargetMode="External"/><Relationship Id="rId7"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731520" y="1737360"/>
            <a:ext cx="10058400" cy="365760"/>
          </a:xfrm>
          <a:prstGeom prst="rect">
            <a:avLst/>
          </a:prstGeom>
          <a:noFill/>
          <a:ln/>
        </p:spPr>
        <p:txBody>
          <a:bodyPr wrap="square" lIns="0" tIns="0" rIns="0" bIns="0" rtlCol="0" anchor="ctr"/>
          <a:lstStyle/>
          <a:p>
            <a:pPr marL="0" indent="0">
              <a:buNone/>
            </a:pPr>
            <a:r>
              <a:rPr lang="en-US" sz="1500" b="1" kern="0" spc="300" dirty="0">
                <a:solidFill>
                  <a:srgbClr val="E8573F"/>
                </a:solidFill>
                <a:latin typeface="Calibri" pitchFamily="34" charset="0"/>
                <a:ea typeface="Calibri" pitchFamily="34" charset="-122"/>
                <a:cs typeface="Calibri" pitchFamily="34" charset="-120"/>
              </a:rPr>
              <a:t>BLOC 3 - PIPELINES DE DONNÉES</a:t>
            </a:r>
            <a:endParaRPr lang="en-US" sz="1500" dirty="0"/>
          </a:p>
        </p:txBody>
      </p:sp>
      <p:sp>
        <p:nvSpPr>
          <p:cNvPr id="3" name="Text 1"/>
          <p:cNvSpPr txBox="1"/>
          <p:nvPr/>
        </p:nvSpPr>
        <p:spPr>
          <a:xfrm>
            <a:off x="731520" y="2194560"/>
            <a:ext cx="10698480" cy="1645920"/>
          </a:xfrm>
          <a:prstGeom prst="rect">
            <a:avLst/>
          </a:prstGeom>
          <a:noFill/>
          <a:ln/>
        </p:spPr>
        <p:txBody>
          <a:bodyPr wrap="square" lIns="0" tIns="0" rIns="0" bIns="0" rtlCol="0" anchor="ctr"/>
          <a:lstStyle/>
          <a:p>
            <a:pPr marL="0" indent="0">
              <a:lnSpc>
                <a:spcPts val="5200"/>
              </a:lnSpc>
              <a:buNone/>
            </a:pPr>
            <a:r>
              <a:rPr lang="en-US" sz="4400" b="1" dirty="0">
                <a:solidFill>
                  <a:srgbClr val="FFFFFF"/>
                </a:solidFill>
                <a:latin typeface="Cambria" pitchFamily="34" charset="0"/>
                <a:ea typeface="Cambria" pitchFamily="34" charset="-122"/>
                <a:cs typeface="Cambria" pitchFamily="34" charset="-120"/>
              </a:rPr>
              <a:t>Détection de fraude bancaire</a:t>
            </a:r>
            <a:endParaRPr lang="en-US" sz="4400" dirty="0"/>
          </a:p>
          <a:p>
            <a:pPr marL="0" indent="0">
              <a:lnSpc>
                <a:spcPts val="5200"/>
              </a:lnSpc>
              <a:buNone/>
            </a:pPr>
            <a:r>
              <a:rPr lang="en-US" sz="4400" b="1" dirty="0">
                <a:solidFill>
                  <a:srgbClr val="FFFFFF"/>
                </a:solidFill>
                <a:latin typeface="Cambria" pitchFamily="34" charset="0"/>
                <a:ea typeface="Cambria" pitchFamily="34" charset="-122"/>
                <a:cs typeface="Cambria" pitchFamily="34" charset="-120"/>
              </a:rPr>
              <a:t>en temps réel</a:t>
            </a:r>
            <a:endParaRPr lang="en-US" sz="4400" dirty="0"/>
          </a:p>
        </p:txBody>
      </p:sp>
      <p:sp>
        <p:nvSpPr>
          <p:cNvPr id="4" name="Text 2"/>
          <p:cNvSpPr txBox="1"/>
          <p:nvPr/>
        </p:nvSpPr>
        <p:spPr>
          <a:xfrm>
            <a:off x="731520" y="3840480"/>
            <a:ext cx="10698480" cy="548640"/>
          </a:xfrm>
          <a:prstGeom prst="rect">
            <a:avLst/>
          </a:prstGeom>
          <a:noFill/>
          <a:ln/>
        </p:spPr>
        <p:txBody>
          <a:bodyPr wrap="square" lIns="0" tIns="0" rIns="0" bIns="0" rtlCol="0" anchor="ctr"/>
          <a:lstStyle/>
          <a:p>
            <a:pPr marL="0" indent="0">
              <a:buNone/>
            </a:pPr>
            <a:r>
              <a:rPr lang="en-US" sz="2000" dirty="0">
                <a:solidFill>
                  <a:srgbClr val="E9EEF5"/>
                </a:solidFill>
                <a:latin typeface="Calibri" pitchFamily="34" charset="0"/>
                <a:ea typeface="Calibri" pitchFamily="34" charset="-122"/>
                <a:cs typeface="Calibri" pitchFamily="34" charset="-120"/>
              </a:rPr>
              <a:t>Un pipeline ETL automatisé avec Airflow, MLflow et PostgreSQL</a:t>
            </a:r>
            <a:endParaRPr lang="en-US" sz="2000" dirty="0"/>
          </a:p>
        </p:txBody>
      </p:sp>
      <p:sp>
        <p:nvSpPr>
          <p:cNvPr id="5" name="Shape 3"/>
          <p:cNvSpPr/>
          <p:nvPr/>
        </p:nvSpPr>
        <p:spPr>
          <a:xfrm>
            <a:off x="777240" y="4709160"/>
            <a:ext cx="2926080" cy="0"/>
          </a:xfrm>
          <a:prstGeom prst="line">
            <a:avLst/>
          </a:prstGeom>
          <a:noFill/>
          <a:ln w="31750">
            <a:solidFill>
              <a:srgbClr val="E8573F"/>
            </a:solidFill>
            <a:prstDash val="solid"/>
          </a:ln>
        </p:spPr>
        <p:txBody>
          <a:bodyPr/>
          <a:lstStyle/>
          <a:p>
            <a:endParaRPr lang="fr-FR"/>
          </a:p>
        </p:txBody>
      </p:sp>
      <p:sp>
        <p:nvSpPr>
          <p:cNvPr id="6" name="Text 4"/>
          <p:cNvSpPr txBox="1"/>
          <p:nvPr/>
        </p:nvSpPr>
        <p:spPr>
          <a:xfrm>
            <a:off x="731520" y="4892040"/>
            <a:ext cx="100584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Aïcha FATHELLAH</a:t>
            </a:r>
            <a:endParaRPr lang="en-US" sz="1600" dirty="0"/>
          </a:p>
        </p:txBody>
      </p:sp>
      <p:sp>
        <p:nvSpPr>
          <p:cNvPr id="7" name="Text 5"/>
          <p:cNvSpPr txBox="1"/>
          <p:nvPr/>
        </p:nvSpPr>
        <p:spPr>
          <a:xfrm>
            <a:off x="731520" y="5257800"/>
            <a:ext cx="10058400" cy="36576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Projet Automatic Fraud Detection</a:t>
            </a:r>
            <a:endParaRPr lang="en-US" sz="1400" dirty="0"/>
          </a:p>
        </p:txBody>
      </p:sp>
      <p:sp>
        <p:nvSpPr>
          <p:cNvPr id="9" name="Text 6"/>
          <p:cNvSpPr txBox="1"/>
          <p:nvPr/>
        </p:nvSpPr>
        <p:spPr>
          <a:xfrm>
            <a:off x="11292840" y="6355080"/>
            <a:ext cx="731520" cy="365760"/>
          </a:xfrm>
          <a:prstGeom prst="rect">
            <a:avLst/>
          </a:prstGeom>
          <a:noFill/>
          <a:ln/>
        </p:spPr>
        <p:txBody>
          <a:bodyPr wrap="square" lIns="0" tIns="0" rIns="0" bIns="0" rtlCol="0" anchor="ctr"/>
          <a:lstStyle/>
          <a:p>
            <a:pPr marL="0" indent="0" algn="r">
              <a:buNone/>
            </a:pPr>
            <a:r>
              <a:rPr lang="en-US" sz="1100" dirty="0">
                <a:solidFill>
                  <a:srgbClr val="8A93A8"/>
                </a:solidFill>
                <a:latin typeface="Calibri" pitchFamily="34" charset="0"/>
                <a:ea typeface="Calibri" pitchFamily="34" charset="-122"/>
                <a:cs typeface="Calibri" pitchFamily="34" charset="-120"/>
              </a:rPr>
              <a:t>1 / 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371600"/>
          </a:xfrm>
          <a:prstGeom prst="rect">
            <a:avLst/>
          </a:prstGeom>
          <a:solidFill>
            <a:srgbClr val="1B2A4A"/>
          </a:solidFill>
          <a:ln/>
        </p:spPr>
        <p:txBody>
          <a:bodyPr/>
          <a:lstStyle/>
          <a:p>
            <a:endParaRPr lang="fr-FR"/>
          </a:p>
        </p:txBody>
      </p:sp>
      <p:sp>
        <p:nvSpPr>
          <p:cNvPr id="3" name="Text 1"/>
          <p:cNvSpPr txBox="1"/>
          <p:nvPr/>
        </p:nvSpPr>
        <p:spPr>
          <a:xfrm>
            <a:off x="548640" y="256032"/>
            <a:ext cx="10972800" cy="274320"/>
          </a:xfrm>
          <a:prstGeom prst="rect">
            <a:avLst/>
          </a:prstGeom>
          <a:noFill/>
          <a:ln/>
        </p:spPr>
        <p:txBody>
          <a:bodyPr wrap="square" lIns="0" tIns="0" rIns="0" bIns="0" rtlCol="0" anchor="ctr"/>
          <a:lstStyle/>
          <a:p>
            <a:pPr marL="0" indent="0">
              <a:buNone/>
            </a:pPr>
            <a:r>
              <a:rPr lang="en-US" sz="1300" b="1" kern="0" spc="200" dirty="0">
                <a:solidFill>
                  <a:srgbClr val="E8573F"/>
                </a:solidFill>
                <a:latin typeface="Calibri" pitchFamily="34" charset="0"/>
                <a:ea typeface="Calibri" pitchFamily="34" charset="-122"/>
                <a:cs typeface="Calibri" pitchFamily="34" charset="-120"/>
              </a:rPr>
              <a:t>LE CONTEXTE</a:t>
            </a:r>
            <a:endParaRPr lang="en-US" sz="1300" dirty="0"/>
          </a:p>
        </p:txBody>
      </p:sp>
      <p:sp>
        <p:nvSpPr>
          <p:cNvPr id="4" name="Text 2"/>
          <p:cNvSpPr txBox="1"/>
          <p:nvPr/>
        </p:nvSpPr>
        <p:spPr>
          <a:xfrm>
            <a:off x="548640" y="548640"/>
            <a:ext cx="1106424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Le problème et le besoin métier</a:t>
            </a:r>
            <a:endParaRPr lang="en-US" sz="3000" dirty="0"/>
          </a:p>
        </p:txBody>
      </p:sp>
      <p:sp>
        <p:nvSpPr>
          <p:cNvPr id="5" name="Text 3"/>
          <p:cNvSpPr txBox="1"/>
          <p:nvPr/>
        </p:nvSpPr>
        <p:spPr>
          <a:xfrm>
            <a:off x="548640" y="1737360"/>
            <a:ext cx="5120640" cy="365760"/>
          </a:xfrm>
          <a:prstGeom prst="rect">
            <a:avLst/>
          </a:prstGeom>
          <a:noFill/>
          <a:ln/>
        </p:spPr>
        <p:txBody>
          <a:bodyPr wrap="square" lIns="0" tIns="0" rIns="0" bIns="0"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Le problème</a:t>
            </a:r>
            <a:endParaRPr lang="en-US" sz="2200" dirty="0"/>
          </a:p>
        </p:txBody>
      </p:sp>
      <p:sp>
        <p:nvSpPr>
          <p:cNvPr id="6" name="Text 4"/>
          <p:cNvSpPr txBox="1"/>
          <p:nvPr/>
        </p:nvSpPr>
        <p:spPr>
          <a:xfrm>
            <a:off x="548640" y="2240280"/>
            <a:ext cx="5120640" cy="914400"/>
          </a:xfrm>
          <a:prstGeom prst="rect">
            <a:avLst/>
          </a:prstGeom>
          <a:noFill/>
          <a:ln/>
        </p:spPr>
        <p:txBody>
          <a:bodyPr wrap="square" lIns="0" tIns="0" rIns="0" bIns="0" rtlCol="0" anchor="ctr"/>
          <a:lstStyle/>
          <a:p>
            <a:pPr marL="0" indent="0">
              <a:lnSpc>
                <a:spcPts val="2600"/>
              </a:lnSpc>
              <a:buNone/>
            </a:pPr>
            <a:r>
              <a:rPr lang="en-US" sz="1700" dirty="0">
                <a:solidFill>
                  <a:srgbClr val="1B2A4A"/>
                </a:solidFill>
                <a:latin typeface="Calibri" pitchFamily="34" charset="0"/>
                <a:ea typeface="Calibri" pitchFamily="34" charset="-122"/>
                <a:cs typeface="Calibri" pitchFamily="34" charset="-120"/>
              </a:rPr>
              <a:t>La fraude à la carte bancaire coûte plus d'</a:t>
            </a:r>
            <a:r>
              <a:rPr lang="en-US" sz="1700" b="1" dirty="0">
                <a:solidFill>
                  <a:srgbClr val="E8573F"/>
                </a:solidFill>
                <a:latin typeface="Calibri" pitchFamily="34" charset="0"/>
                <a:ea typeface="Calibri" pitchFamily="34" charset="-122"/>
                <a:cs typeface="Calibri" pitchFamily="34" charset="-120"/>
              </a:rPr>
              <a:t>un milliard d'euros par an</a:t>
            </a:r>
            <a:r>
              <a:rPr lang="en-US" sz="1700" dirty="0">
                <a:solidFill>
                  <a:srgbClr val="1B2A4A"/>
                </a:solidFill>
                <a:latin typeface="Calibri" pitchFamily="34" charset="0"/>
                <a:ea typeface="Calibri" pitchFamily="34" charset="-122"/>
                <a:cs typeface="Calibri" pitchFamily="34" charset="-120"/>
              </a:rPr>
              <a:t> en Europe.</a:t>
            </a:r>
            <a:endParaRPr lang="en-US" sz="1700" dirty="0"/>
          </a:p>
        </p:txBody>
      </p:sp>
      <p:sp>
        <p:nvSpPr>
          <p:cNvPr id="7" name="Text 5"/>
          <p:cNvSpPr txBox="1"/>
          <p:nvPr/>
        </p:nvSpPr>
        <p:spPr>
          <a:xfrm>
            <a:off x="548640" y="3246120"/>
            <a:ext cx="5120640" cy="1097280"/>
          </a:xfrm>
          <a:prstGeom prst="rect">
            <a:avLst/>
          </a:prstGeom>
          <a:noFill/>
          <a:ln/>
        </p:spPr>
        <p:txBody>
          <a:bodyPr wrap="square" lIns="0" tIns="0" rIns="0" bIns="0" rtlCol="0" anchor="ctr"/>
          <a:lstStyle/>
          <a:p>
            <a:pPr marL="0" indent="0">
              <a:lnSpc>
                <a:spcPts val="2400"/>
              </a:lnSpc>
              <a:buNone/>
            </a:pPr>
            <a:r>
              <a:rPr lang="en-US" sz="1600" i="1" dirty="0">
                <a:solidFill>
                  <a:srgbClr val="6B7280"/>
                </a:solidFill>
                <a:latin typeface="Calibri" pitchFamily="34" charset="0"/>
                <a:ea typeface="Calibri" pitchFamily="34" charset="-122"/>
                <a:cs typeface="Calibri" pitchFamily="34" charset="-120"/>
              </a:rPr>
              <a:t>Détecter une fraude est aujourd'hui faisable ; la traiter en continu, automatiquement, est le vrai défi.</a:t>
            </a:r>
            <a:endParaRPr lang="en-US" sz="1600" dirty="0"/>
          </a:p>
        </p:txBody>
      </p:sp>
      <p:sp>
        <p:nvSpPr>
          <p:cNvPr id="8" name="Text 6"/>
          <p:cNvSpPr txBox="1"/>
          <p:nvPr/>
        </p:nvSpPr>
        <p:spPr>
          <a:xfrm>
            <a:off x="6309360" y="1737360"/>
            <a:ext cx="5303520" cy="365760"/>
          </a:xfrm>
          <a:prstGeom prst="rect">
            <a:avLst/>
          </a:prstGeom>
          <a:noFill/>
          <a:ln/>
        </p:spPr>
        <p:txBody>
          <a:bodyPr wrap="square" lIns="0" tIns="0" rIns="0" bIns="0"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Deux besoins exprimés</a:t>
            </a:r>
            <a:endParaRPr lang="en-US" sz="2200" dirty="0"/>
          </a:p>
        </p:txBody>
      </p:sp>
      <p:sp>
        <p:nvSpPr>
          <p:cNvPr id="9" name="Shape 7"/>
          <p:cNvSpPr/>
          <p:nvPr/>
        </p:nvSpPr>
        <p:spPr>
          <a:xfrm>
            <a:off x="6309360" y="2240280"/>
            <a:ext cx="5303520" cy="1371600"/>
          </a:xfrm>
          <a:prstGeom prst="roundRect">
            <a:avLst>
              <a:gd name="adj" fmla="val 6667"/>
            </a:avLst>
          </a:prstGeom>
          <a:solidFill>
            <a:srgbClr val="F4F6FA"/>
          </a:solidFill>
          <a:ln w="12700">
            <a:solidFill>
              <a:srgbClr val="E9EEF5"/>
            </a:solidFill>
            <a:prstDash val="solid"/>
          </a:ln>
        </p:spPr>
        <p:txBody>
          <a:bodyPr/>
          <a:lstStyle/>
          <a:p>
            <a:endParaRPr lang="fr-FR"/>
          </a:p>
        </p:txBody>
      </p:sp>
      <p:sp>
        <p:nvSpPr>
          <p:cNvPr id="10" name="Shape 8"/>
          <p:cNvSpPr/>
          <p:nvPr/>
        </p:nvSpPr>
        <p:spPr>
          <a:xfrm>
            <a:off x="6583680" y="2651760"/>
            <a:ext cx="548640" cy="548640"/>
          </a:xfrm>
          <a:prstGeom prst="ellipse">
            <a:avLst/>
          </a:prstGeom>
          <a:solidFill>
            <a:srgbClr val="E8573F"/>
          </a:solidFill>
          <a:ln/>
        </p:spPr>
        <p:txBody>
          <a:bodyPr/>
          <a:lstStyle/>
          <a:p>
            <a:endParaRPr lang="fr-FR"/>
          </a:p>
        </p:txBody>
      </p:sp>
      <p:sp>
        <p:nvSpPr>
          <p:cNvPr id="11" name="Text 9"/>
          <p:cNvSpPr txBox="1"/>
          <p:nvPr/>
        </p:nvSpPr>
        <p:spPr>
          <a:xfrm>
            <a:off x="6583680" y="265176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2" name="Text 10"/>
          <p:cNvSpPr txBox="1"/>
          <p:nvPr/>
        </p:nvSpPr>
        <p:spPr>
          <a:xfrm>
            <a:off x="7360920" y="2496312"/>
            <a:ext cx="4114800" cy="365760"/>
          </a:xfrm>
          <a:prstGeom prst="rect">
            <a:avLst/>
          </a:prstGeom>
          <a:noFill/>
          <a:ln/>
        </p:spPr>
        <p:txBody>
          <a:bodyPr wrap="square" lIns="0" tIns="0" rIns="0" bIns="0" rtlCol="0" anchor="ctr"/>
          <a:lstStyle/>
          <a:p>
            <a:pPr marL="0" indent="0">
              <a:buNone/>
            </a:pPr>
            <a:r>
              <a:rPr lang="en-US" sz="1700" b="1" dirty="0">
                <a:solidFill>
                  <a:srgbClr val="1B2A4A"/>
                </a:solidFill>
                <a:latin typeface="Calibri" pitchFamily="34" charset="0"/>
                <a:ea typeface="Calibri" pitchFamily="34" charset="-122"/>
                <a:cs typeface="Calibri" pitchFamily="34" charset="-120"/>
              </a:rPr>
              <a:t>Être alerté d'une fraude</a:t>
            </a:r>
            <a:endParaRPr lang="en-US" sz="1700" dirty="0"/>
          </a:p>
        </p:txBody>
      </p:sp>
      <p:sp>
        <p:nvSpPr>
          <p:cNvPr id="13" name="Text 11"/>
          <p:cNvSpPr txBox="1"/>
          <p:nvPr/>
        </p:nvSpPr>
        <p:spPr>
          <a:xfrm>
            <a:off x="7360920" y="2898648"/>
            <a:ext cx="4114800" cy="5486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Une notification, dès qu'elle est détectée</a:t>
            </a:r>
            <a:endParaRPr lang="en-US" sz="1400" dirty="0"/>
          </a:p>
        </p:txBody>
      </p:sp>
      <p:sp>
        <p:nvSpPr>
          <p:cNvPr id="14" name="Shape 12"/>
          <p:cNvSpPr/>
          <p:nvPr/>
        </p:nvSpPr>
        <p:spPr>
          <a:xfrm>
            <a:off x="6309360" y="3794760"/>
            <a:ext cx="5303520" cy="1371600"/>
          </a:xfrm>
          <a:prstGeom prst="roundRect">
            <a:avLst>
              <a:gd name="adj" fmla="val 6667"/>
            </a:avLst>
          </a:prstGeom>
          <a:solidFill>
            <a:srgbClr val="F4F6FA"/>
          </a:solidFill>
          <a:ln w="12700">
            <a:solidFill>
              <a:srgbClr val="E9EEF5"/>
            </a:solidFill>
            <a:prstDash val="solid"/>
          </a:ln>
        </p:spPr>
        <p:txBody>
          <a:bodyPr/>
          <a:lstStyle/>
          <a:p>
            <a:endParaRPr lang="fr-FR"/>
          </a:p>
        </p:txBody>
      </p:sp>
      <p:sp>
        <p:nvSpPr>
          <p:cNvPr id="15" name="Shape 13"/>
          <p:cNvSpPr/>
          <p:nvPr/>
        </p:nvSpPr>
        <p:spPr>
          <a:xfrm>
            <a:off x="6583680" y="4206240"/>
            <a:ext cx="548640" cy="548640"/>
          </a:xfrm>
          <a:prstGeom prst="ellipse">
            <a:avLst/>
          </a:prstGeom>
          <a:solidFill>
            <a:srgbClr val="E8573F"/>
          </a:solidFill>
          <a:ln/>
        </p:spPr>
        <p:txBody>
          <a:bodyPr/>
          <a:lstStyle/>
          <a:p>
            <a:endParaRPr lang="fr-FR"/>
          </a:p>
        </p:txBody>
      </p:sp>
      <p:sp>
        <p:nvSpPr>
          <p:cNvPr id="16" name="Text 14"/>
          <p:cNvSpPr txBox="1"/>
          <p:nvPr/>
        </p:nvSpPr>
        <p:spPr>
          <a:xfrm>
            <a:off x="6583680" y="42062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7" name="Text 15"/>
          <p:cNvSpPr txBox="1"/>
          <p:nvPr/>
        </p:nvSpPr>
        <p:spPr>
          <a:xfrm>
            <a:off x="7360920" y="4050792"/>
            <a:ext cx="4114800" cy="365760"/>
          </a:xfrm>
          <a:prstGeom prst="rect">
            <a:avLst/>
          </a:prstGeom>
          <a:noFill/>
          <a:ln/>
        </p:spPr>
        <p:txBody>
          <a:bodyPr wrap="square" lIns="0" tIns="0" rIns="0" bIns="0" rtlCol="0" anchor="ctr"/>
          <a:lstStyle/>
          <a:p>
            <a:pPr marL="0" indent="0">
              <a:buNone/>
            </a:pPr>
            <a:r>
              <a:rPr lang="en-US" sz="1700" b="1" dirty="0">
                <a:solidFill>
                  <a:srgbClr val="1B2A4A"/>
                </a:solidFill>
                <a:latin typeface="Calibri" pitchFamily="34" charset="0"/>
                <a:ea typeface="Calibri" pitchFamily="34" charset="-122"/>
                <a:cs typeface="Calibri" pitchFamily="34" charset="-120"/>
              </a:rPr>
              <a:t>Recevoir le bilan du matin</a:t>
            </a:r>
            <a:endParaRPr lang="en-US" sz="1700" dirty="0"/>
          </a:p>
        </p:txBody>
      </p:sp>
      <p:sp>
        <p:nvSpPr>
          <p:cNvPr id="18" name="Text 16"/>
          <p:cNvSpPr txBox="1"/>
          <p:nvPr/>
        </p:nvSpPr>
        <p:spPr>
          <a:xfrm>
            <a:off x="7360920" y="4453128"/>
            <a:ext cx="4114800" cy="5486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Les paiements et fraudes de la veille</a:t>
            </a:r>
            <a:endParaRPr lang="en-US" sz="1400" dirty="0"/>
          </a:p>
        </p:txBody>
      </p:sp>
      <p:sp>
        <p:nvSpPr>
          <p:cNvPr id="20" name="Text 17"/>
          <p:cNvSpPr txBox="1"/>
          <p:nvPr/>
        </p:nvSpPr>
        <p:spPr>
          <a:xfrm>
            <a:off x="11292840" y="6355080"/>
            <a:ext cx="731520" cy="365760"/>
          </a:xfrm>
          <a:prstGeom prst="rect">
            <a:avLst/>
          </a:prstGeom>
          <a:noFill/>
          <a:ln/>
        </p:spPr>
        <p:txBody>
          <a:bodyPr wrap="square" lIns="0" tIns="0" rIns="0" bIns="0" rtlCol="0" anchor="ctr"/>
          <a:lstStyle/>
          <a:p>
            <a:pPr marL="0" indent="0" algn="r">
              <a:buNone/>
            </a:pPr>
            <a:r>
              <a:rPr lang="en-US" sz="1100" dirty="0">
                <a:solidFill>
                  <a:srgbClr val="9AA2B1"/>
                </a:solidFill>
                <a:latin typeface="Calibri" pitchFamily="34" charset="0"/>
                <a:ea typeface="Calibri" pitchFamily="34" charset="-122"/>
                <a:cs typeface="Calibri" pitchFamily="34" charset="-120"/>
              </a:rPr>
              <a:t>2 / 7</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371600"/>
          </a:xfrm>
          <a:prstGeom prst="rect">
            <a:avLst/>
          </a:prstGeom>
          <a:solidFill>
            <a:srgbClr val="1B2A4A"/>
          </a:solidFill>
          <a:ln/>
        </p:spPr>
        <p:txBody>
          <a:bodyPr/>
          <a:lstStyle/>
          <a:p>
            <a:endParaRPr lang="fr-FR"/>
          </a:p>
        </p:txBody>
      </p:sp>
      <p:sp>
        <p:nvSpPr>
          <p:cNvPr id="3" name="Text 1"/>
          <p:cNvSpPr txBox="1"/>
          <p:nvPr/>
        </p:nvSpPr>
        <p:spPr>
          <a:xfrm>
            <a:off x="548640" y="256032"/>
            <a:ext cx="10972800" cy="274320"/>
          </a:xfrm>
          <a:prstGeom prst="rect">
            <a:avLst/>
          </a:prstGeom>
          <a:noFill/>
          <a:ln/>
        </p:spPr>
        <p:txBody>
          <a:bodyPr wrap="square" lIns="0" tIns="0" rIns="0" bIns="0" rtlCol="0" anchor="ctr"/>
          <a:lstStyle/>
          <a:p>
            <a:pPr marL="0" indent="0">
              <a:buNone/>
            </a:pPr>
            <a:r>
              <a:rPr lang="en-US" sz="1300" b="1" kern="0" spc="200" dirty="0">
                <a:solidFill>
                  <a:srgbClr val="E8573F"/>
                </a:solidFill>
                <a:latin typeface="Calibri" pitchFamily="34" charset="0"/>
                <a:ea typeface="Calibri" pitchFamily="34" charset="-122"/>
                <a:cs typeface="Calibri" pitchFamily="34" charset="-120"/>
              </a:rPr>
              <a:t>L'ARCHITECTURE</a:t>
            </a:r>
            <a:endParaRPr lang="en-US" sz="1300" dirty="0"/>
          </a:p>
        </p:txBody>
      </p:sp>
      <p:sp>
        <p:nvSpPr>
          <p:cNvPr id="4" name="Text 2"/>
          <p:cNvSpPr txBox="1"/>
          <p:nvPr/>
        </p:nvSpPr>
        <p:spPr>
          <a:xfrm>
            <a:off x="548640" y="548640"/>
            <a:ext cx="1106424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Vue d'ensemble de l'infrastructure</a:t>
            </a:r>
            <a:endParaRPr lang="en-US" sz="3000" dirty="0"/>
          </a:p>
        </p:txBody>
      </p:sp>
      <p:pic>
        <p:nvPicPr>
          <p:cNvPr id="5" name="Image 0" descr="schema1.png"/>
          <p:cNvPicPr>
            <a:picLocks noChangeAspect="1"/>
          </p:cNvPicPr>
          <p:nvPr/>
        </p:nvPicPr>
        <p:blipFill>
          <a:blip r:embed="rId3"/>
          <a:stretch>
            <a:fillRect/>
          </a:stretch>
        </p:blipFill>
        <p:spPr>
          <a:xfrm>
            <a:off x="897578" y="1385575"/>
            <a:ext cx="10274923" cy="5330952"/>
          </a:xfrm>
          <a:prstGeom prst="rect">
            <a:avLst/>
          </a:prstGeom>
        </p:spPr>
      </p:pic>
      <p:sp>
        <p:nvSpPr>
          <p:cNvPr id="7" name="Text 3"/>
          <p:cNvSpPr txBox="1"/>
          <p:nvPr/>
        </p:nvSpPr>
        <p:spPr>
          <a:xfrm>
            <a:off x="11292840" y="6355080"/>
            <a:ext cx="731520" cy="365760"/>
          </a:xfrm>
          <a:prstGeom prst="rect">
            <a:avLst/>
          </a:prstGeom>
          <a:noFill/>
          <a:ln/>
        </p:spPr>
        <p:txBody>
          <a:bodyPr wrap="square" lIns="0" tIns="0" rIns="0" bIns="0" rtlCol="0" anchor="ctr"/>
          <a:lstStyle/>
          <a:p>
            <a:pPr marL="0" indent="0" algn="r">
              <a:buNone/>
            </a:pPr>
            <a:r>
              <a:rPr lang="en-US" sz="1100" dirty="0">
                <a:solidFill>
                  <a:srgbClr val="9AA2B1"/>
                </a:solidFill>
                <a:latin typeface="Calibri" pitchFamily="34" charset="0"/>
                <a:ea typeface="Calibri" pitchFamily="34" charset="-122"/>
                <a:cs typeface="Calibri" pitchFamily="34" charset="-120"/>
              </a:rPr>
              <a:t>3 / 7</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371600"/>
          </a:xfrm>
          <a:prstGeom prst="rect">
            <a:avLst/>
          </a:prstGeom>
          <a:solidFill>
            <a:srgbClr val="1B2A4A"/>
          </a:solidFill>
          <a:ln/>
        </p:spPr>
        <p:txBody>
          <a:bodyPr/>
          <a:lstStyle/>
          <a:p>
            <a:endParaRPr lang="fr-FR"/>
          </a:p>
        </p:txBody>
      </p:sp>
      <p:sp>
        <p:nvSpPr>
          <p:cNvPr id="3" name="Text 1"/>
          <p:cNvSpPr txBox="1"/>
          <p:nvPr/>
        </p:nvSpPr>
        <p:spPr>
          <a:xfrm>
            <a:off x="548640" y="256032"/>
            <a:ext cx="10972800" cy="274320"/>
          </a:xfrm>
          <a:prstGeom prst="rect">
            <a:avLst/>
          </a:prstGeom>
          <a:noFill/>
          <a:ln/>
        </p:spPr>
        <p:txBody>
          <a:bodyPr wrap="square" lIns="0" tIns="0" rIns="0" bIns="0" rtlCol="0" anchor="ctr"/>
          <a:lstStyle/>
          <a:p>
            <a:pPr marL="0" indent="0">
              <a:buNone/>
            </a:pPr>
            <a:r>
              <a:rPr lang="en-US" sz="1300" b="1" kern="0" spc="200" dirty="0">
                <a:solidFill>
                  <a:srgbClr val="E8573F"/>
                </a:solidFill>
                <a:latin typeface="Calibri" pitchFamily="34" charset="0"/>
                <a:ea typeface="Calibri" pitchFamily="34" charset="-122"/>
                <a:cs typeface="Calibri" pitchFamily="34" charset="-120"/>
              </a:rPr>
              <a:t>LE CŒUR DU PROJET</a:t>
            </a:r>
            <a:endParaRPr lang="en-US" sz="1300" dirty="0"/>
          </a:p>
        </p:txBody>
      </p:sp>
      <p:sp>
        <p:nvSpPr>
          <p:cNvPr id="4" name="Text 2"/>
          <p:cNvSpPr txBox="1"/>
          <p:nvPr/>
        </p:nvSpPr>
        <p:spPr>
          <a:xfrm>
            <a:off x="548640" y="548640"/>
            <a:ext cx="1106424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Le flux ETL, chaque minute</a:t>
            </a:r>
            <a:endParaRPr lang="en-US" sz="3000" dirty="0"/>
          </a:p>
        </p:txBody>
      </p:sp>
      <p:pic>
        <p:nvPicPr>
          <p:cNvPr id="5" name="Image 0" descr="schema2.png"/>
          <p:cNvPicPr>
            <a:picLocks noChangeAspect="1"/>
          </p:cNvPicPr>
          <p:nvPr/>
        </p:nvPicPr>
        <p:blipFill>
          <a:blip r:embed="rId3"/>
          <a:stretch>
            <a:fillRect/>
          </a:stretch>
        </p:blipFill>
        <p:spPr>
          <a:xfrm>
            <a:off x="3017520" y="1508760"/>
            <a:ext cx="5703786" cy="5212080"/>
          </a:xfrm>
          <a:prstGeom prst="rect">
            <a:avLst/>
          </a:prstGeom>
        </p:spPr>
      </p:pic>
      <p:sp>
        <p:nvSpPr>
          <p:cNvPr id="6" name="Text 3"/>
          <p:cNvSpPr txBox="1"/>
          <p:nvPr/>
        </p:nvSpPr>
        <p:spPr>
          <a:xfrm>
            <a:off x="548640" y="1828800"/>
            <a:ext cx="2286000"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Le processus ETL</a:t>
            </a:r>
            <a:endParaRPr lang="en-US" sz="1800" dirty="0"/>
          </a:p>
        </p:txBody>
      </p:sp>
      <p:sp>
        <p:nvSpPr>
          <p:cNvPr id="7" name="Shape 4"/>
          <p:cNvSpPr/>
          <p:nvPr/>
        </p:nvSpPr>
        <p:spPr>
          <a:xfrm>
            <a:off x="548640" y="2377440"/>
            <a:ext cx="457200" cy="457200"/>
          </a:xfrm>
          <a:prstGeom prst="roundRect">
            <a:avLst>
              <a:gd name="adj" fmla="val 12000"/>
            </a:avLst>
          </a:prstGeom>
          <a:solidFill>
            <a:srgbClr val="2E5A8C"/>
          </a:solidFill>
          <a:ln/>
        </p:spPr>
        <p:txBody>
          <a:bodyPr/>
          <a:lstStyle/>
          <a:p>
            <a:endParaRPr lang="fr-FR"/>
          </a:p>
        </p:txBody>
      </p:sp>
      <p:sp>
        <p:nvSpPr>
          <p:cNvPr id="8" name="Text 5"/>
          <p:cNvSpPr txBox="1"/>
          <p:nvPr/>
        </p:nvSpPr>
        <p:spPr>
          <a:xfrm>
            <a:off x="548640" y="23774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E</a:t>
            </a:r>
            <a:endParaRPr lang="en-US" sz="1800" dirty="0"/>
          </a:p>
        </p:txBody>
      </p:sp>
      <p:sp>
        <p:nvSpPr>
          <p:cNvPr id="9" name="Text 6"/>
          <p:cNvSpPr txBox="1"/>
          <p:nvPr/>
        </p:nvSpPr>
        <p:spPr>
          <a:xfrm>
            <a:off x="1143000" y="2414016"/>
            <a:ext cx="1737360" cy="38404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Extraire</a:t>
            </a:r>
            <a:endParaRPr lang="en-US" sz="1500" dirty="0"/>
          </a:p>
        </p:txBody>
      </p:sp>
      <p:sp>
        <p:nvSpPr>
          <p:cNvPr id="10" name="Shape 7"/>
          <p:cNvSpPr/>
          <p:nvPr/>
        </p:nvSpPr>
        <p:spPr>
          <a:xfrm>
            <a:off x="548640" y="2971800"/>
            <a:ext cx="457200" cy="457200"/>
          </a:xfrm>
          <a:prstGeom prst="roundRect">
            <a:avLst>
              <a:gd name="adj" fmla="val 12000"/>
            </a:avLst>
          </a:prstGeom>
          <a:solidFill>
            <a:srgbClr val="1D7A5E"/>
          </a:solidFill>
          <a:ln/>
        </p:spPr>
        <p:txBody>
          <a:bodyPr/>
          <a:lstStyle/>
          <a:p>
            <a:endParaRPr lang="fr-FR"/>
          </a:p>
        </p:txBody>
      </p:sp>
      <p:sp>
        <p:nvSpPr>
          <p:cNvPr id="11" name="Text 8"/>
          <p:cNvSpPr txBox="1"/>
          <p:nvPr/>
        </p:nvSpPr>
        <p:spPr>
          <a:xfrm>
            <a:off x="548640" y="29718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T</a:t>
            </a:r>
            <a:endParaRPr lang="en-US" sz="1800" dirty="0"/>
          </a:p>
        </p:txBody>
      </p:sp>
      <p:sp>
        <p:nvSpPr>
          <p:cNvPr id="12" name="Text 9"/>
          <p:cNvSpPr txBox="1"/>
          <p:nvPr/>
        </p:nvSpPr>
        <p:spPr>
          <a:xfrm>
            <a:off x="1143000" y="3008376"/>
            <a:ext cx="1737360" cy="38404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Transformer</a:t>
            </a:r>
            <a:endParaRPr lang="en-US" sz="1500" dirty="0"/>
          </a:p>
        </p:txBody>
      </p:sp>
      <p:sp>
        <p:nvSpPr>
          <p:cNvPr id="13" name="Shape 10"/>
          <p:cNvSpPr/>
          <p:nvPr/>
        </p:nvSpPr>
        <p:spPr>
          <a:xfrm>
            <a:off x="548640" y="3566160"/>
            <a:ext cx="457200" cy="457200"/>
          </a:xfrm>
          <a:prstGeom prst="roundRect">
            <a:avLst>
              <a:gd name="adj" fmla="val 12000"/>
            </a:avLst>
          </a:prstGeom>
          <a:solidFill>
            <a:srgbClr val="9A6B12"/>
          </a:solidFill>
          <a:ln/>
        </p:spPr>
        <p:txBody>
          <a:bodyPr/>
          <a:lstStyle/>
          <a:p>
            <a:endParaRPr lang="fr-FR"/>
          </a:p>
        </p:txBody>
      </p:sp>
      <p:sp>
        <p:nvSpPr>
          <p:cNvPr id="14" name="Text 11"/>
          <p:cNvSpPr txBox="1"/>
          <p:nvPr/>
        </p:nvSpPr>
        <p:spPr>
          <a:xfrm>
            <a:off x="548640" y="35661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L</a:t>
            </a:r>
            <a:endParaRPr lang="en-US" sz="1800" dirty="0"/>
          </a:p>
        </p:txBody>
      </p:sp>
      <p:sp>
        <p:nvSpPr>
          <p:cNvPr id="15" name="Text 12"/>
          <p:cNvSpPr txBox="1"/>
          <p:nvPr/>
        </p:nvSpPr>
        <p:spPr>
          <a:xfrm>
            <a:off x="1143000" y="3602736"/>
            <a:ext cx="1737360" cy="38404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Charger</a:t>
            </a:r>
            <a:endParaRPr lang="en-US" sz="1500" dirty="0"/>
          </a:p>
        </p:txBody>
      </p:sp>
      <p:sp>
        <p:nvSpPr>
          <p:cNvPr id="16" name="Text 13"/>
          <p:cNvSpPr txBox="1"/>
          <p:nvPr/>
        </p:nvSpPr>
        <p:spPr>
          <a:xfrm>
            <a:off x="548640" y="4389120"/>
            <a:ext cx="2377440" cy="1463040"/>
          </a:xfrm>
          <a:prstGeom prst="rect">
            <a:avLst/>
          </a:prstGeom>
          <a:noFill/>
          <a:ln/>
        </p:spPr>
        <p:txBody>
          <a:bodyPr wrap="square" lIns="0" tIns="0" rIns="0" bIns="0" rtlCol="0" anchor="ctr"/>
          <a:lstStyle/>
          <a:p>
            <a:pPr marL="0" indent="0">
              <a:lnSpc>
                <a:spcPts val="1900"/>
              </a:lnSpc>
              <a:buNone/>
            </a:pPr>
            <a:r>
              <a:rPr lang="en-US" sz="1300" i="1" dirty="0">
                <a:solidFill>
                  <a:srgbClr val="6B7280"/>
                </a:solidFill>
                <a:latin typeface="Calibri" pitchFamily="34" charset="0"/>
                <a:ea typeface="Calibri" pitchFamily="34" charset="-122"/>
                <a:cs typeface="Calibri" pitchFamily="34" charset="-120"/>
              </a:rPr>
              <a:t>Deux garde-fous : le contrôle qualité (quarantaine) et l'alerte en cas de fraude.</a:t>
            </a:r>
            <a:endParaRPr lang="en-US" sz="1300" dirty="0"/>
          </a:p>
        </p:txBody>
      </p:sp>
      <p:sp>
        <p:nvSpPr>
          <p:cNvPr id="18" name="Text 14"/>
          <p:cNvSpPr txBox="1"/>
          <p:nvPr/>
        </p:nvSpPr>
        <p:spPr>
          <a:xfrm>
            <a:off x="11292840" y="6355080"/>
            <a:ext cx="731520" cy="365760"/>
          </a:xfrm>
          <a:prstGeom prst="rect">
            <a:avLst/>
          </a:prstGeom>
          <a:noFill/>
          <a:ln/>
        </p:spPr>
        <p:txBody>
          <a:bodyPr wrap="square" lIns="0" tIns="0" rIns="0" bIns="0" rtlCol="0" anchor="ctr"/>
          <a:lstStyle/>
          <a:p>
            <a:pPr marL="0" indent="0" algn="r">
              <a:buNone/>
            </a:pPr>
            <a:r>
              <a:rPr lang="en-US" sz="1100" dirty="0">
                <a:solidFill>
                  <a:srgbClr val="9AA2B1"/>
                </a:solidFill>
                <a:latin typeface="Calibri" pitchFamily="34" charset="0"/>
                <a:ea typeface="Calibri" pitchFamily="34" charset="-122"/>
                <a:cs typeface="Calibri" pitchFamily="34" charset="-120"/>
              </a:rPr>
              <a:t>4 / 7</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371600"/>
          </a:xfrm>
          <a:prstGeom prst="rect">
            <a:avLst/>
          </a:prstGeom>
          <a:solidFill>
            <a:srgbClr val="1B2A4A"/>
          </a:solidFill>
          <a:ln/>
        </p:spPr>
        <p:txBody>
          <a:bodyPr/>
          <a:lstStyle/>
          <a:p>
            <a:endParaRPr lang="fr-FR"/>
          </a:p>
        </p:txBody>
      </p:sp>
      <p:sp>
        <p:nvSpPr>
          <p:cNvPr id="3" name="Text 1"/>
          <p:cNvSpPr txBox="1"/>
          <p:nvPr/>
        </p:nvSpPr>
        <p:spPr>
          <a:xfrm>
            <a:off x="548640" y="256032"/>
            <a:ext cx="10972800" cy="274320"/>
          </a:xfrm>
          <a:prstGeom prst="rect">
            <a:avLst/>
          </a:prstGeom>
          <a:noFill/>
          <a:ln/>
        </p:spPr>
        <p:txBody>
          <a:bodyPr wrap="square" lIns="0" tIns="0" rIns="0" bIns="0" rtlCol="0" anchor="ctr"/>
          <a:lstStyle/>
          <a:p>
            <a:pPr marL="0" indent="0">
              <a:buNone/>
            </a:pPr>
            <a:r>
              <a:rPr lang="en-US" sz="1300" b="1" kern="0" spc="200" dirty="0">
                <a:solidFill>
                  <a:srgbClr val="E8573F"/>
                </a:solidFill>
                <a:latin typeface="Calibri" pitchFamily="34" charset="0"/>
                <a:ea typeface="Calibri" pitchFamily="34" charset="-122"/>
                <a:cs typeface="Calibri" pitchFamily="34" charset="-120"/>
              </a:rPr>
              <a:t>LES DÉCISIONS</a:t>
            </a:r>
            <a:endParaRPr lang="en-US" sz="1300" dirty="0"/>
          </a:p>
        </p:txBody>
      </p:sp>
      <p:sp>
        <p:nvSpPr>
          <p:cNvPr id="4" name="Text 2"/>
          <p:cNvSpPr txBox="1"/>
          <p:nvPr/>
        </p:nvSpPr>
        <p:spPr>
          <a:xfrm>
            <a:off x="548640" y="548640"/>
            <a:ext cx="1106424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Choix techniques et sécurité</a:t>
            </a:r>
            <a:endParaRPr lang="en-US" sz="3000" dirty="0"/>
          </a:p>
        </p:txBody>
      </p:sp>
      <p:sp>
        <p:nvSpPr>
          <p:cNvPr id="5" name="Shape 3"/>
          <p:cNvSpPr/>
          <p:nvPr/>
        </p:nvSpPr>
        <p:spPr>
          <a:xfrm>
            <a:off x="548640" y="1828800"/>
            <a:ext cx="3429000" cy="2148840"/>
          </a:xfrm>
          <a:prstGeom prst="roundRect">
            <a:avLst>
              <a:gd name="adj" fmla="val 4255"/>
            </a:avLst>
          </a:prstGeom>
          <a:solidFill>
            <a:srgbClr val="F4F6FA"/>
          </a:solidFill>
          <a:ln w="12700">
            <a:solidFill>
              <a:srgbClr val="E9EEF5"/>
            </a:solidFill>
            <a:prstDash val="solid"/>
          </a:ln>
        </p:spPr>
        <p:txBody>
          <a:bodyPr/>
          <a:lstStyle/>
          <a:p>
            <a:endParaRPr lang="fr-FR"/>
          </a:p>
        </p:txBody>
      </p:sp>
      <p:sp>
        <p:nvSpPr>
          <p:cNvPr id="6" name="Shape 4"/>
          <p:cNvSpPr/>
          <p:nvPr/>
        </p:nvSpPr>
        <p:spPr>
          <a:xfrm>
            <a:off x="822960" y="2103120"/>
            <a:ext cx="457200" cy="457200"/>
          </a:xfrm>
          <a:prstGeom prst="ellipse">
            <a:avLst/>
          </a:prstGeom>
          <a:solidFill>
            <a:srgbClr val="1B2A4A"/>
          </a:solidFill>
          <a:ln/>
        </p:spPr>
        <p:txBody>
          <a:bodyPr/>
          <a:lstStyle/>
          <a:p>
            <a:endParaRPr lang="fr-FR"/>
          </a:p>
        </p:txBody>
      </p:sp>
      <p:sp>
        <p:nvSpPr>
          <p:cNvPr id="7" name="Text 5"/>
          <p:cNvSpPr txBox="1"/>
          <p:nvPr/>
        </p:nvSpPr>
        <p:spPr>
          <a:xfrm>
            <a:off x="822960" y="2697480"/>
            <a:ext cx="2880360" cy="6400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Tout en local, Docker</a:t>
            </a:r>
            <a:endParaRPr lang="en-US" sz="1600" dirty="0"/>
          </a:p>
        </p:txBody>
      </p:sp>
      <p:sp>
        <p:nvSpPr>
          <p:cNvPr id="8" name="Text 6"/>
          <p:cNvSpPr txBox="1"/>
          <p:nvPr/>
        </p:nvSpPr>
        <p:spPr>
          <a:xfrm>
            <a:off x="822960" y="3200400"/>
            <a:ext cx="2880360" cy="685800"/>
          </a:xfrm>
          <a:prstGeom prst="rect">
            <a:avLst/>
          </a:prstGeom>
          <a:noFill/>
          <a:ln/>
        </p:spPr>
        <p:txBody>
          <a:bodyPr wrap="square" lIns="0" tIns="0" rIns="0" bIns="0" rtlCol="0" anchor="ctr"/>
          <a:lstStyle/>
          <a:p>
            <a:pPr marL="0" indent="0">
              <a:lnSpc>
                <a:spcPts val="1800"/>
              </a:lnSpc>
              <a:buNone/>
            </a:pPr>
            <a:r>
              <a:rPr lang="en-US" sz="1300" dirty="0">
                <a:solidFill>
                  <a:srgbClr val="6B7280"/>
                </a:solidFill>
                <a:latin typeface="Calibri" pitchFamily="34" charset="0"/>
                <a:ea typeface="Calibri" pitchFamily="34" charset="-122"/>
                <a:cs typeface="Calibri" pitchFamily="34" charset="-120"/>
              </a:rPr>
              <a:t>Reproductible et gratuit. Le cloud reste une évolution possible.</a:t>
            </a:r>
            <a:endParaRPr lang="en-US" sz="1300" dirty="0"/>
          </a:p>
        </p:txBody>
      </p:sp>
      <p:sp>
        <p:nvSpPr>
          <p:cNvPr id="9" name="Shape 7"/>
          <p:cNvSpPr/>
          <p:nvPr/>
        </p:nvSpPr>
        <p:spPr>
          <a:xfrm>
            <a:off x="4343400" y="1828800"/>
            <a:ext cx="3429000" cy="2148840"/>
          </a:xfrm>
          <a:prstGeom prst="roundRect">
            <a:avLst>
              <a:gd name="adj" fmla="val 4255"/>
            </a:avLst>
          </a:prstGeom>
          <a:solidFill>
            <a:srgbClr val="F4F6FA"/>
          </a:solidFill>
          <a:ln w="12700">
            <a:solidFill>
              <a:srgbClr val="E9EEF5"/>
            </a:solidFill>
            <a:prstDash val="solid"/>
          </a:ln>
        </p:spPr>
        <p:txBody>
          <a:bodyPr/>
          <a:lstStyle/>
          <a:p>
            <a:endParaRPr lang="fr-FR"/>
          </a:p>
        </p:txBody>
      </p:sp>
      <p:sp>
        <p:nvSpPr>
          <p:cNvPr id="10" name="Shape 8"/>
          <p:cNvSpPr/>
          <p:nvPr/>
        </p:nvSpPr>
        <p:spPr>
          <a:xfrm>
            <a:off x="4617720" y="2103120"/>
            <a:ext cx="457200" cy="457200"/>
          </a:xfrm>
          <a:prstGeom prst="ellipse">
            <a:avLst/>
          </a:prstGeom>
          <a:solidFill>
            <a:srgbClr val="1B2A4A"/>
          </a:solidFill>
          <a:ln/>
        </p:spPr>
        <p:txBody>
          <a:bodyPr/>
          <a:lstStyle/>
          <a:p>
            <a:endParaRPr lang="fr-FR"/>
          </a:p>
        </p:txBody>
      </p:sp>
      <p:sp>
        <p:nvSpPr>
          <p:cNvPr id="11" name="Text 9"/>
          <p:cNvSpPr txBox="1"/>
          <p:nvPr/>
        </p:nvSpPr>
        <p:spPr>
          <a:xfrm>
            <a:off x="4617720" y="2697480"/>
            <a:ext cx="2880360" cy="6400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Bases isolées</a:t>
            </a:r>
            <a:endParaRPr lang="en-US" sz="1600" dirty="0"/>
          </a:p>
        </p:txBody>
      </p:sp>
      <p:sp>
        <p:nvSpPr>
          <p:cNvPr id="12" name="Text 10"/>
          <p:cNvSpPr txBox="1"/>
          <p:nvPr/>
        </p:nvSpPr>
        <p:spPr>
          <a:xfrm>
            <a:off x="4617720" y="3200400"/>
            <a:ext cx="2880360" cy="685800"/>
          </a:xfrm>
          <a:prstGeom prst="rect">
            <a:avLst/>
          </a:prstGeom>
          <a:noFill/>
          <a:ln/>
        </p:spPr>
        <p:txBody>
          <a:bodyPr wrap="square" lIns="0" tIns="0" rIns="0" bIns="0" rtlCol="0" anchor="ctr"/>
          <a:lstStyle/>
          <a:p>
            <a:pPr marL="0" indent="0">
              <a:lnSpc>
                <a:spcPts val="1800"/>
              </a:lnSpc>
              <a:buNone/>
            </a:pPr>
            <a:r>
              <a:rPr lang="en-US" sz="1300" dirty="0">
                <a:solidFill>
                  <a:srgbClr val="6B7280"/>
                </a:solidFill>
                <a:latin typeface="Calibri" pitchFamily="34" charset="0"/>
                <a:ea typeface="Calibri" pitchFamily="34" charset="-122"/>
                <a:cs typeface="Calibri" pitchFamily="34" charset="-120"/>
              </a:rPr>
              <a:t>Un compte par base, moindre privilège. Chaque service ne voit que ses données.</a:t>
            </a:r>
            <a:endParaRPr lang="en-US" sz="1300" dirty="0"/>
          </a:p>
        </p:txBody>
      </p:sp>
      <p:sp>
        <p:nvSpPr>
          <p:cNvPr id="13" name="Shape 11"/>
          <p:cNvSpPr/>
          <p:nvPr/>
        </p:nvSpPr>
        <p:spPr>
          <a:xfrm>
            <a:off x="8138160" y="1828800"/>
            <a:ext cx="3429000" cy="2148840"/>
          </a:xfrm>
          <a:prstGeom prst="roundRect">
            <a:avLst>
              <a:gd name="adj" fmla="val 4255"/>
            </a:avLst>
          </a:prstGeom>
          <a:solidFill>
            <a:srgbClr val="F4F6FA"/>
          </a:solidFill>
          <a:ln w="12700">
            <a:solidFill>
              <a:srgbClr val="E9EEF5"/>
            </a:solidFill>
            <a:prstDash val="solid"/>
          </a:ln>
        </p:spPr>
        <p:txBody>
          <a:bodyPr/>
          <a:lstStyle/>
          <a:p>
            <a:endParaRPr lang="fr-FR"/>
          </a:p>
        </p:txBody>
      </p:sp>
      <p:sp>
        <p:nvSpPr>
          <p:cNvPr id="14" name="Shape 12"/>
          <p:cNvSpPr/>
          <p:nvPr/>
        </p:nvSpPr>
        <p:spPr>
          <a:xfrm>
            <a:off x="8412480" y="2103120"/>
            <a:ext cx="457200" cy="457200"/>
          </a:xfrm>
          <a:prstGeom prst="ellipse">
            <a:avLst/>
          </a:prstGeom>
          <a:solidFill>
            <a:srgbClr val="1B2A4A"/>
          </a:solidFill>
          <a:ln/>
        </p:spPr>
        <p:txBody>
          <a:bodyPr/>
          <a:lstStyle/>
          <a:p>
            <a:endParaRPr lang="fr-FR"/>
          </a:p>
        </p:txBody>
      </p:sp>
      <p:sp>
        <p:nvSpPr>
          <p:cNvPr id="15" name="Text 13"/>
          <p:cNvSpPr txBox="1"/>
          <p:nvPr/>
        </p:nvSpPr>
        <p:spPr>
          <a:xfrm>
            <a:off x="8412480" y="2697480"/>
            <a:ext cx="2880360" cy="6400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Données personnelles écartées</a:t>
            </a:r>
            <a:endParaRPr lang="en-US" sz="1600" dirty="0"/>
          </a:p>
        </p:txBody>
      </p:sp>
      <p:sp>
        <p:nvSpPr>
          <p:cNvPr id="16" name="Text 14"/>
          <p:cNvSpPr txBox="1"/>
          <p:nvPr/>
        </p:nvSpPr>
        <p:spPr>
          <a:xfrm>
            <a:off x="8412480" y="3200400"/>
            <a:ext cx="2880360" cy="685800"/>
          </a:xfrm>
          <a:prstGeom prst="rect">
            <a:avLst/>
          </a:prstGeom>
          <a:noFill/>
          <a:ln/>
        </p:spPr>
        <p:txBody>
          <a:bodyPr wrap="square" lIns="0" tIns="0" rIns="0" bIns="0" rtlCol="0" anchor="ctr"/>
          <a:lstStyle/>
          <a:p>
            <a:pPr marL="0" indent="0">
              <a:lnSpc>
                <a:spcPts val="1800"/>
              </a:lnSpc>
              <a:buNone/>
            </a:pPr>
            <a:r>
              <a:rPr lang="en-US" sz="1300" dirty="0">
                <a:solidFill>
                  <a:srgbClr val="6B7280"/>
                </a:solidFill>
                <a:latin typeface="Calibri" pitchFamily="34" charset="0"/>
                <a:ea typeface="Calibri" pitchFamily="34" charset="-122"/>
                <a:cs typeface="Calibri" pitchFamily="34" charset="-120"/>
              </a:rPr>
              <a:t>Nom, adresse, carte retirés. Carte masquée. Conformité RGPD.</a:t>
            </a:r>
            <a:endParaRPr lang="en-US" sz="1300" dirty="0"/>
          </a:p>
        </p:txBody>
      </p:sp>
      <p:sp>
        <p:nvSpPr>
          <p:cNvPr id="17" name="Shape 15"/>
          <p:cNvSpPr/>
          <p:nvPr/>
        </p:nvSpPr>
        <p:spPr>
          <a:xfrm>
            <a:off x="548640" y="4206240"/>
            <a:ext cx="3429000" cy="2148840"/>
          </a:xfrm>
          <a:prstGeom prst="roundRect">
            <a:avLst>
              <a:gd name="adj" fmla="val 4255"/>
            </a:avLst>
          </a:prstGeom>
          <a:solidFill>
            <a:srgbClr val="F4F6FA"/>
          </a:solidFill>
          <a:ln w="12700">
            <a:solidFill>
              <a:srgbClr val="E9EEF5"/>
            </a:solidFill>
            <a:prstDash val="solid"/>
          </a:ln>
        </p:spPr>
        <p:txBody>
          <a:bodyPr/>
          <a:lstStyle/>
          <a:p>
            <a:endParaRPr lang="fr-FR"/>
          </a:p>
        </p:txBody>
      </p:sp>
      <p:sp>
        <p:nvSpPr>
          <p:cNvPr id="18" name="Shape 16"/>
          <p:cNvSpPr/>
          <p:nvPr/>
        </p:nvSpPr>
        <p:spPr>
          <a:xfrm>
            <a:off x="822960" y="4480560"/>
            <a:ext cx="457200" cy="457200"/>
          </a:xfrm>
          <a:prstGeom prst="ellipse">
            <a:avLst/>
          </a:prstGeom>
          <a:solidFill>
            <a:srgbClr val="1B2A4A"/>
          </a:solidFill>
          <a:ln/>
        </p:spPr>
        <p:txBody>
          <a:bodyPr/>
          <a:lstStyle/>
          <a:p>
            <a:endParaRPr lang="fr-FR"/>
          </a:p>
        </p:txBody>
      </p:sp>
      <p:sp>
        <p:nvSpPr>
          <p:cNvPr id="19" name="Text 17"/>
          <p:cNvSpPr txBox="1"/>
          <p:nvPr/>
        </p:nvSpPr>
        <p:spPr>
          <a:xfrm>
            <a:off x="822960" y="5074920"/>
            <a:ext cx="2880360" cy="6400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Contrôle qualité</a:t>
            </a:r>
            <a:endParaRPr lang="en-US" sz="1600" dirty="0"/>
          </a:p>
        </p:txBody>
      </p:sp>
      <p:sp>
        <p:nvSpPr>
          <p:cNvPr id="20" name="Text 18"/>
          <p:cNvSpPr txBox="1"/>
          <p:nvPr/>
        </p:nvSpPr>
        <p:spPr>
          <a:xfrm>
            <a:off x="822960" y="5577840"/>
            <a:ext cx="2880360" cy="685800"/>
          </a:xfrm>
          <a:prstGeom prst="rect">
            <a:avLst/>
          </a:prstGeom>
          <a:noFill/>
          <a:ln/>
        </p:spPr>
        <p:txBody>
          <a:bodyPr wrap="square" lIns="0" tIns="0" rIns="0" bIns="0" rtlCol="0" anchor="ctr"/>
          <a:lstStyle/>
          <a:p>
            <a:pPr marL="0" indent="0">
              <a:lnSpc>
                <a:spcPts val="1800"/>
              </a:lnSpc>
              <a:buNone/>
            </a:pPr>
            <a:r>
              <a:rPr lang="en-US" sz="1300" dirty="0">
                <a:solidFill>
                  <a:srgbClr val="6B7280"/>
                </a:solidFill>
                <a:latin typeface="Calibri" pitchFamily="34" charset="0"/>
                <a:ea typeface="Calibri" pitchFamily="34" charset="-122"/>
                <a:cs typeface="Calibri" pitchFamily="34" charset="-120"/>
              </a:rPr>
              <a:t>Les paiements douteux sont mis en quarantaine, jamais perdus.</a:t>
            </a:r>
            <a:endParaRPr lang="en-US" sz="1300" dirty="0"/>
          </a:p>
        </p:txBody>
      </p:sp>
      <p:sp>
        <p:nvSpPr>
          <p:cNvPr id="21" name="Shape 19"/>
          <p:cNvSpPr/>
          <p:nvPr/>
        </p:nvSpPr>
        <p:spPr>
          <a:xfrm>
            <a:off x="4343400" y="4206240"/>
            <a:ext cx="3429000" cy="2148840"/>
          </a:xfrm>
          <a:prstGeom prst="roundRect">
            <a:avLst>
              <a:gd name="adj" fmla="val 4255"/>
            </a:avLst>
          </a:prstGeom>
          <a:solidFill>
            <a:srgbClr val="F4F6FA"/>
          </a:solidFill>
          <a:ln w="12700">
            <a:solidFill>
              <a:srgbClr val="E9EEF5"/>
            </a:solidFill>
            <a:prstDash val="solid"/>
          </a:ln>
        </p:spPr>
        <p:txBody>
          <a:bodyPr/>
          <a:lstStyle/>
          <a:p>
            <a:endParaRPr lang="fr-FR"/>
          </a:p>
        </p:txBody>
      </p:sp>
      <p:sp>
        <p:nvSpPr>
          <p:cNvPr id="22" name="Shape 20"/>
          <p:cNvSpPr/>
          <p:nvPr/>
        </p:nvSpPr>
        <p:spPr>
          <a:xfrm>
            <a:off x="4617720" y="4480560"/>
            <a:ext cx="457200" cy="457200"/>
          </a:xfrm>
          <a:prstGeom prst="ellipse">
            <a:avLst/>
          </a:prstGeom>
          <a:solidFill>
            <a:srgbClr val="1B2A4A"/>
          </a:solidFill>
          <a:ln/>
        </p:spPr>
        <p:txBody>
          <a:bodyPr/>
          <a:lstStyle/>
          <a:p>
            <a:endParaRPr lang="fr-FR"/>
          </a:p>
        </p:txBody>
      </p:sp>
      <p:sp>
        <p:nvSpPr>
          <p:cNvPr id="23" name="Text 21"/>
          <p:cNvSpPr txBox="1"/>
          <p:nvPr/>
        </p:nvSpPr>
        <p:spPr>
          <a:xfrm>
            <a:off x="4617720" y="5074920"/>
            <a:ext cx="2880360" cy="6400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Surveillance</a:t>
            </a:r>
            <a:endParaRPr lang="en-US" sz="1600" dirty="0"/>
          </a:p>
        </p:txBody>
      </p:sp>
      <p:sp>
        <p:nvSpPr>
          <p:cNvPr id="24" name="Text 22"/>
          <p:cNvSpPr txBox="1"/>
          <p:nvPr/>
        </p:nvSpPr>
        <p:spPr>
          <a:xfrm>
            <a:off x="4617720" y="5577840"/>
            <a:ext cx="2880360" cy="685800"/>
          </a:xfrm>
          <a:prstGeom prst="rect">
            <a:avLst/>
          </a:prstGeom>
          <a:noFill/>
          <a:ln/>
        </p:spPr>
        <p:txBody>
          <a:bodyPr wrap="square" lIns="0" tIns="0" rIns="0" bIns="0" rtlCol="0" anchor="ctr"/>
          <a:lstStyle/>
          <a:p>
            <a:pPr marL="0" indent="0">
              <a:lnSpc>
                <a:spcPts val="1800"/>
              </a:lnSpc>
              <a:buNone/>
            </a:pPr>
            <a:r>
              <a:rPr lang="en-US" sz="1300" dirty="0">
                <a:solidFill>
                  <a:srgbClr val="6B7280"/>
                </a:solidFill>
                <a:latin typeface="Calibri" pitchFamily="34" charset="0"/>
                <a:ea typeface="Calibri" pitchFamily="34" charset="-122"/>
                <a:cs typeface="Calibri" pitchFamily="34" charset="-120"/>
              </a:rPr>
              <a:t>Chaque passage est tracé : volume, rejets, durée de traitement.</a:t>
            </a:r>
            <a:endParaRPr lang="en-US" sz="1300" dirty="0"/>
          </a:p>
        </p:txBody>
      </p:sp>
      <p:sp>
        <p:nvSpPr>
          <p:cNvPr id="25" name="Shape 23"/>
          <p:cNvSpPr/>
          <p:nvPr/>
        </p:nvSpPr>
        <p:spPr>
          <a:xfrm>
            <a:off x="8138160" y="4206240"/>
            <a:ext cx="3429000" cy="2148840"/>
          </a:xfrm>
          <a:prstGeom prst="roundRect">
            <a:avLst>
              <a:gd name="adj" fmla="val 4255"/>
            </a:avLst>
          </a:prstGeom>
          <a:solidFill>
            <a:srgbClr val="F4F6FA"/>
          </a:solidFill>
          <a:ln w="12700">
            <a:solidFill>
              <a:srgbClr val="E9EEF5"/>
            </a:solidFill>
            <a:prstDash val="solid"/>
          </a:ln>
        </p:spPr>
        <p:txBody>
          <a:bodyPr/>
          <a:lstStyle/>
          <a:p>
            <a:endParaRPr lang="fr-FR"/>
          </a:p>
        </p:txBody>
      </p:sp>
      <p:sp>
        <p:nvSpPr>
          <p:cNvPr id="26" name="Shape 24"/>
          <p:cNvSpPr/>
          <p:nvPr/>
        </p:nvSpPr>
        <p:spPr>
          <a:xfrm>
            <a:off x="8412480" y="4480560"/>
            <a:ext cx="457200" cy="457200"/>
          </a:xfrm>
          <a:prstGeom prst="ellipse">
            <a:avLst/>
          </a:prstGeom>
          <a:solidFill>
            <a:srgbClr val="1B2A4A"/>
          </a:solidFill>
          <a:ln/>
        </p:spPr>
        <p:txBody>
          <a:bodyPr/>
          <a:lstStyle/>
          <a:p>
            <a:endParaRPr lang="fr-FR"/>
          </a:p>
        </p:txBody>
      </p:sp>
      <p:sp>
        <p:nvSpPr>
          <p:cNvPr id="27" name="Text 25"/>
          <p:cNvSpPr txBox="1"/>
          <p:nvPr/>
        </p:nvSpPr>
        <p:spPr>
          <a:xfrm>
            <a:off x="8412480" y="5074920"/>
            <a:ext cx="2880360" cy="6400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Modèle versionné</a:t>
            </a:r>
            <a:endParaRPr lang="en-US" sz="1600" dirty="0"/>
          </a:p>
        </p:txBody>
      </p:sp>
      <p:sp>
        <p:nvSpPr>
          <p:cNvPr id="28" name="Text 26"/>
          <p:cNvSpPr txBox="1"/>
          <p:nvPr/>
        </p:nvSpPr>
        <p:spPr>
          <a:xfrm>
            <a:off x="8412480" y="5577840"/>
            <a:ext cx="2880360" cy="685800"/>
          </a:xfrm>
          <a:prstGeom prst="rect">
            <a:avLst/>
          </a:prstGeom>
          <a:noFill/>
          <a:ln/>
        </p:spPr>
        <p:txBody>
          <a:bodyPr wrap="square" lIns="0" tIns="0" rIns="0" bIns="0" rtlCol="0" anchor="ctr"/>
          <a:lstStyle/>
          <a:p>
            <a:pPr marL="0" indent="0">
              <a:lnSpc>
                <a:spcPts val="1800"/>
              </a:lnSpc>
              <a:buNone/>
            </a:pPr>
            <a:r>
              <a:rPr lang="en-US" sz="1300" dirty="0">
                <a:solidFill>
                  <a:srgbClr val="6B7280"/>
                </a:solidFill>
                <a:latin typeface="Calibri" pitchFamily="34" charset="0"/>
                <a:ea typeface="Calibri" pitchFamily="34" charset="-122"/>
                <a:cs typeface="Calibri" pitchFamily="34" charset="-120"/>
              </a:rPr>
              <a:t>Rangé dans MLflow, rechargé à la demande, réentraînable.</a:t>
            </a:r>
            <a:endParaRPr lang="en-US" sz="1300" dirty="0"/>
          </a:p>
        </p:txBody>
      </p:sp>
      <p:sp>
        <p:nvSpPr>
          <p:cNvPr id="30" name="Text 27"/>
          <p:cNvSpPr txBox="1"/>
          <p:nvPr/>
        </p:nvSpPr>
        <p:spPr>
          <a:xfrm>
            <a:off x="11292840" y="6355080"/>
            <a:ext cx="731520" cy="365760"/>
          </a:xfrm>
          <a:prstGeom prst="rect">
            <a:avLst/>
          </a:prstGeom>
          <a:noFill/>
          <a:ln/>
        </p:spPr>
        <p:txBody>
          <a:bodyPr wrap="square" lIns="0" tIns="0" rIns="0" bIns="0" rtlCol="0" anchor="ctr"/>
          <a:lstStyle/>
          <a:p>
            <a:pPr marL="0" indent="0" algn="r">
              <a:buNone/>
            </a:pPr>
            <a:r>
              <a:rPr lang="en-US" sz="1100" dirty="0">
                <a:solidFill>
                  <a:srgbClr val="9AA2B1"/>
                </a:solidFill>
                <a:latin typeface="Calibri" pitchFamily="34" charset="0"/>
                <a:ea typeface="Calibri" pitchFamily="34" charset="-122"/>
                <a:cs typeface="Calibri" pitchFamily="34" charset="-120"/>
              </a:rPr>
              <a:t>5 / 7</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371600"/>
          </a:xfrm>
          <a:prstGeom prst="rect">
            <a:avLst/>
          </a:prstGeom>
          <a:solidFill>
            <a:srgbClr val="1B2A4A"/>
          </a:solidFill>
          <a:ln/>
        </p:spPr>
        <p:txBody>
          <a:bodyPr/>
          <a:lstStyle/>
          <a:p>
            <a:endParaRPr lang="fr-FR"/>
          </a:p>
        </p:txBody>
      </p:sp>
      <p:sp>
        <p:nvSpPr>
          <p:cNvPr id="3" name="Text 1"/>
          <p:cNvSpPr txBox="1"/>
          <p:nvPr/>
        </p:nvSpPr>
        <p:spPr>
          <a:xfrm>
            <a:off x="548640" y="256032"/>
            <a:ext cx="10972800" cy="274320"/>
          </a:xfrm>
          <a:prstGeom prst="rect">
            <a:avLst/>
          </a:prstGeom>
          <a:noFill/>
          <a:ln/>
        </p:spPr>
        <p:txBody>
          <a:bodyPr wrap="square" lIns="0" tIns="0" rIns="0" bIns="0" rtlCol="0" anchor="ctr"/>
          <a:lstStyle/>
          <a:p>
            <a:pPr marL="0" indent="0">
              <a:buNone/>
            </a:pPr>
            <a:r>
              <a:rPr lang="en-US" sz="1300" b="1" kern="0" spc="200" dirty="0">
                <a:solidFill>
                  <a:srgbClr val="E8573F"/>
                </a:solidFill>
                <a:latin typeface="Calibri" pitchFamily="34" charset="0"/>
                <a:ea typeface="Calibri" pitchFamily="34" charset="-122"/>
                <a:cs typeface="Calibri" pitchFamily="34" charset="-120"/>
              </a:rPr>
              <a:t>LA PREUVE</a:t>
            </a:r>
            <a:endParaRPr lang="en-US" sz="1300" dirty="0"/>
          </a:p>
        </p:txBody>
      </p:sp>
      <p:sp>
        <p:nvSpPr>
          <p:cNvPr id="4" name="Text 2"/>
          <p:cNvSpPr txBox="1"/>
          <p:nvPr/>
        </p:nvSpPr>
        <p:spPr>
          <a:xfrm>
            <a:off x="548640" y="548640"/>
            <a:ext cx="1106424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Démonstration de l'infrastructure</a:t>
            </a:r>
            <a:endParaRPr lang="en-US" sz="3000" dirty="0"/>
          </a:p>
        </p:txBody>
      </p:sp>
      <p:pic>
        <p:nvPicPr>
          <p:cNvPr id="5" name="Image 0" descr="dashboard_preview.png"/>
          <p:cNvPicPr>
            <a:picLocks noChangeAspect="1"/>
          </p:cNvPicPr>
          <p:nvPr/>
        </p:nvPicPr>
        <p:blipFill>
          <a:blip r:embed="rId5"/>
          <a:stretch>
            <a:fillRect/>
          </a:stretch>
        </p:blipFill>
        <p:spPr>
          <a:xfrm>
            <a:off x="548640" y="1783080"/>
            <a:ext cx="6766560" cy="4507992"/>
          </a:xfrm>
          <a:prstGeom prst="rect">
            <a:avLst/>
          </a:prstGeom>
        </p:spPr>
      </p:pic>
      <p:sp>
        <p:nvSpPr>
          <p:cNvPr id="6" name="Text 3"/>
          <p:cNvSpPr txBox="1"/>
          <p:nvPr/>
        </p:nvSpPr>
        <p:spPr>
          <a:xfrm>
            <a:off x="548640" y="6355080"/>
            <a:ext cx="6766560" cy="36576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Le tableau de bord de monitoring, alimenté en direct par la base.</a:t>
            </a:r>
            <a:endParaRPr lang="en-US" sz="1200" dirty="0"/>
          </a:p>
        </p:txBody>
      </p:sp>
      <p:sp>
        <p:nvSpPr>
          <p:cNvPr id="7" name="Shape 4"/>
          <p:cNvSpPr/>
          <p:nvPr/>
        </p:nvSpPr>
        <p:spPr>
          <a:xfrm>
            <a:off x="7635240" y="1783080"/>
            <a:ext cx="4023360" cy="2743200"/>
          </a:xfrm>
          <a:prstGeom prst="roundRect">
            <a:avLst>
              <a:gd name="adj" fmla="val 4000"/>
            </a:avLst>
          </a:prstGeom>
          <a:solidFill>
            <a:srgbClr val="F4F6FA"/>
          </a:solidFill>
          <a:ln w="19050">
            <a:solidFill>
              <a:srgbClr val="E8573F"/>
            </a:solidFill>
            <a:prstDash val="dash"/>
          </a:ln>
        </p:spPr>
        <p:txBody>
          <a:bodyPr/>
          <a:lstStyle/>
          <a:p>
            <a:endParaRPr lang="fr-FR"/>
          </a:p>
        </p:txBody>
      </p:sp>
      <p:sp>
        <p:nvSpPr>
          <p:cNvPr id="8" name="Shape 5"/>
          <p:cNvSpPr/>
          <p:nvPr/>
        </p:nvSpPr>
        <p:spPr>
          <a:xfrm>
            <a:off x="9372600" y="2743200"/>
            <a:ext cx="548640" cy="548640"/>
          </a:xfrm>
          <a:prstGeom prst="ellipse">
            <a:avLst/>
          </a:prstGeom>
          <a:solidFill>
            <a:srgbClr val="E8573F"/>
          </a:solidFill>
          <a:ln/>
        </p:spPr>
        <p:txBody>
          <a:bodyPr/>
          <a:lstStyle/>
          <a:p>
            <a:endParaRPr lang="fr-FR"/>
          </a:p>
        </p:txBody>
      </p:sp>
      <p:sp>
        <p:nvSpPr>
          <p:cNvPr id="9" name="Text 6"/>
          <p:cNvSpPr txBox="1"/>
          <p:nvPr/>
        </p:nvSpPr>
        <p:spPr>
          <a:xfrm>
            <a:off x="9372600" y="2743200"/>
            <a:ext cx="548640" cy="54864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10" name="Text 7"/>
          <p:cNvSpPr txBox="1"/>
          <p:nvPr/>
        </p:nvSpPr>
        <p:spPr>
          <a:xfrm>
            <a:off x="7635240" y="3429000"/>
            <a:ext cx="402336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Emplacement vidéo</a:t>
            </a:r>
            <a:endParaRPr lang="en-US" sz="1400" dirty="0"/>
          </a:p>
        </p:txBody>
      </p:sp>
      <p:sp>
        <p:nvSpPr>
          <p:cNvPr id="11" name="Text 8"/>
          <p:cNvSpPr txBox="1"/>
          <p:nvPr/>
        </p:nvSpPr>
        <p:spPr>
          <a:xfrm>
            <a:off x="7635240" y="3749040"/>
            <a:ext cx="4023360" cy="320040"/>
          </a:xfrm>
          <a:prstGeom prst="rect">
            <a:avLst/>
          </a:prstGeom>
          <a:noFill/>
          <a:ln/>
        </p:spPr>
        <p:txBody>
          <a:bodyPr wrap="square" lIns="0" tIns="0" rIns="0" bIns="0"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(insérer demo_fraude.mp4 ici)</a:t>
            </a:r>
            <a:endParaRPr lang="en-US" sz="1100" dirty="0"/>
          </a:p>
        </p:txBody>
      </p:sp>
      <p:sp>
        <p:nvSpPr>
          <p:cNvPr id="12" name="Text 9"/>
          <p:cNvSpPr txBox="1"/>
          <p:nvPr/>
        </p:nvSpPr>
        <p:spPr>
          <a:xfrm>
            <a:off x="7620000" y="5295900"/>
            <a:ext cx="402336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Vidéo et code sur GitHub :</a:t>
            </a:r>
            <a:endParaRPr lang="en-US" sz="1300" dirty="0"/>
          </a:p>
        </p:txBody>
      </p:sp>
      <p:sp>
        <p:nvSpPr>
          <p:cNvPr id="13" name="Text 10"/>
          <p:cNvSpPr txBox="1"/>
          <p:nvPr/>
        </p:nvSpPr>
        <p:spPr>
          <a:xfrm>
            <a:off x="7620000" y="5783321"/>
            <a:ext cx="4023360" cy="365760"/>
          </a:xfrm>
          <a:prstGeom prst="rect">
            <a:avLst/>
          </a:prstGeom>
          <a:noFill/>
          <a:ln/>
        </p:spPr>
        <p:txBody>
          <a:bodyPr wrap="square" lIns="0" tIns="0" rIns="0" bIns="0" rtlCol="0" anchor="ctr"/>
          <a:lstStyle/>
          <a:p>
            <a:pPr marL="0" indent="0">
              <a:buNone/>
            </a:pPr>
            <a:r>
              <a:rPr lang="en-US" sz="1200" u="sng" dirty="0">
                <a:solidFill>
                  <a:srgbClr val="185FA5"/>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github.com/AichaFa/3-Projets_Lead</a:t>
            </a:r>
            <a:endParaRPr lang="en-US" sz="1200" dirty="0"/>
          </a:p>
        </p:txBody>
      </p:sp>
      <p:sp>
        <p:nvSpPr>
          <p:cNvPr id="15" name="Text 11"/>
          <p:cNvSpPr txBox="1"/>
          <p:nvPr/>
        </p:nvSpPr>
        <p:spPr>
          <a:xfrm>
            <a:off x="11292840" y="6355080"/>
            <a:ext cx="731520" cy="365760"/>
          </a:xfrm>
          <a:prstGeom prst="rect">
            <a:avLst/>
          </a:prstGeom>
          <a:noFill/>
          <a:ln/>
        </p:spPr>
        <p:txBody>
          <a:bodyPr wrap="square" lIns="0" tIns="0" rIns="0" bIns="0" rtlCol="0" anchor="ctr"/>
          <a:lstStyle/>
          <a:p>
            <a:pPr marL="0" indent="0" algn="r">
              <a:buNone/>
            </a:pPr>
            <a:r>
              <a:rPr lang="en-US" sz="1100" dirty="0">
                <a:solidFill>
                  <a:srgbClr val="9AA2B1"/>
                </a:solidFill>
                <a:latin typeface="Calibri" pitchFamily="34" charset="0"/>
                <a:ea typeface="Calibri" pitchFamily="34" charset="-122"/>
                <a:cs typeface="Calibri" pitchFamily="34" charset="-120"/>
              </a:rPr>
              <a:t>6 / 7</a:t>
            </a:r>
            <a:endParaRPr lang="en-US" sz="1100" dirty="0"/>
          </a:p>
        </p:txBody>
      </p:sp>
      <p:pic>
        <p:nvPicPr>
          <p:cNvPr id="16" name="demo_fraude">
            <a:hlinkClick r:id="" action="ppaction://media"/>
            <a:extLst>
              <a:ext uri="{FF2B5EF4-FFF2-40B4-BE49-F238E27FC236}">
                <a16:creationId xmlns:a16="http://schemas.microsoft.com/office/drawing/2014/main" id="{9FD4B31E-D331-3F10-F749-6A2DEE6C84CA}"/>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7635240" y="1729740"/>
            <a:ext cx="4247072" cy="3124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286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6"/>
                </p:tgtEl>
              </p:cMediaNode>
            </p:video>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6"/>
                                        </p:tgtEl>
                                      </p:cBhvr>
                                    </p:cmd>
                                  </p:childTnLst>
                                </p:cTn>
                              </p:par>
                            </p:childTnLst>
                          </p:cTn>
                        </p:par>
                      </p:childTnLst>
                    </p:cTn>
                  </p:par>
                </p:childTnLst>
              </p:cTn>
              <p:nextCondLst>
                <p:cond evt="onClick" delay="0">
                  <p:tgtEl>
                    <p:spTgt spid="16"/>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731520" y="640080"/>
            <a:ext cx="10058400" cy="365760"/>
          </a:xfrm>
          <a:prstGeom prst="rect">
            <a:avLst/>
          </a:prstGeom>
          <a:noFill/>
          <a:ln/>
        </p:spPr>
        <p:txBody>
          <a:bodyPr wrap="square" lIns="0" tIns="0" rIns="0" bIns="0" rtlCol="0" anchor="ctr"/>
          <a:lstStyle/>
          <a:p>
            <a:pPr marL="0" indent="0">
              <a:buNone/>
            </a:pPr>
            <a:r>
              <a:rPr lang="en-US" sz="1400" b="1" kern="0" spc="300" dirty="0">
                <a:solidFill>
                  <a:srgbClr val="E8573F"/>
                </a:solidFill>
                <a:latin typeface="Calibri" pitchFamily="34" charset="0"/>
                <a:ea typeface="Calibri" pitchFamily="34" charset="-122"/>
                <a:cs typeface="Calibri" pitchFamily="34" charset="-120"/>
              </a:rPr>
              <a:t>LE BILAN</a:t>
            </a:r>
            <a:endParaRPr lang="en-US" sz="1400" dirty="0"/>
          </a:p>
        </p:txBody>
      </p:sp>
      <p:sp>
        <p:nvSpPr>
          <p:cNvPr id="3" name="Text 1"/>
          <p:cNvSpPr txBox="1"/>
          <p:nvPr/>
        </p:nvSpPr>
        <p:spPr>
          <a:xfrm>
            <a:off x="731520" y="1005840"/>
            <a:ext cx="1069848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Résultats et pistes d'amélioration</a:t>
            </a:r>
            <a:endParaRPr lang="en-US" sz="3000" dirty="0"/>
          </a:p>
        </p:txBody>
      </p:sp>
      <p:sp>
        <p:nvSpPr>
          <p:cNvPr id="4" name="Text 2"/>
          <p:cNvSpPr txBox="1"/>
          <p:nvPr/>
        </p:nvSpPr>
        <p:spPr>
          <a:xfrm>
            <a:off x="731520" y="2103120"/>
            <a:ext cx="3291840" cy="914400"/>
          </a:xfrm>
          <a:prstGeom prst="rect">
            <a:avLst/>
          </a:prstGeom>
          <a:noFill/>
          <a:ln/>
        </p:spPr>
        <p:txBody>
          <a:bodyPr wrap="square" lIns="0" tIns="0" rIns="0" bIns="0" rtlCol="0" anchor="ctr"/>
          <a:lstStyle/>
          <a:p>
            <a:pPr marL="0" indent="0" algn="ctr">
              <a:buNone/>
            </a:pPr>
            <a:r>
              <a:rPr lang="en-US" sz="5400" b="1" dirty="0">
                <a:solidFill>
                  <a:srgbClr val="E8573F"/>
                </a:solidFill>
                <a:latin typeface="Cambria" pitchFamily="34" charset="0"/>
                <a:ea typeface="Cambria" pitchFamily="34" charset="-122"/>
                <a:cs typeface="Cambria" pitchFamily="34" charset="-120"/>
              </a:rPr>
              <a:t>96 %</a:t>
            </a:r>
            <a:endParaRPr lang="en-US" sz="5400" dirty="0"/>
          </a:p>
        </p:txBody>
      </p:sp>
      <p:sp>
        <p:nvSpPr>
          <p:cNvPr id="5" name="Text 3"/>
          <p:cNvSpPr txBox="1"/>
          <p:nvPr/>
        </p:nvSpPr>
        <p:spPr>
          <a:xfrm>
            <a:off x="731520" y="3063240"/>
            <a:ext cx="3291840" cy="548640"/>
          </a:xfrm>
          <a:prstGeom prst="rect">
            <a:avLst/>
          </a:prstGeom>
          <a:noFill/>
          <a:ln/>
        </p:spPr>
        <p:txBody>
          <a:bodyPr wrap="square" lIns="0" tIns="0" rIns="0" bIns="0" rtlCol="0" anchor="ctr"/>
          <a:lstStyle/>
          <a:p>
            <a:pPr marL="0" indent="0" algn="ctr">
              <a:buNone/>
            </a:pPr>
            <a:r>
              <a:rPr lang="en-US" sz="1500" dirty="0">
                <a:solidFill>
                  <a:srgbClr val="E9EEF5"/>
                </a:solidFill>
                <a:latin typeface="Calibri" pitchFamily="34" charset="0"/>
                <a:ea typeface="Calibri" pitchFamily="34" charset="-122"/>
                <a:cs typeface="Calibri" pitchFamily="34" charset="-120"/>
              </a:rPr>
              <a:t>Précision du modèle</a:t>
            </a:r>
            <a:endParaRPr lang="en-US" sz="1500" dirty="0"/>
          </a:p>
        </p:txBody>
      </p:sp>
      <p:sp>
        <p:nvSpPr>
          <p:cNvPr id="6" name="Text 4"/>
          <p:cNvSpPr txBox="1"/>
          <p:nvPr/>
        </p:nvSpPr>
        <p:spPr>
          <a:xfrm>
            <a:off x="4434840" y="2103120"/>
            <a:ext cx="3291840" cy="914400"/>
          </a:xfrm>
          <a:prstGeom prst="rect">
            <a:avLst/>
          </a:prstGeom>
          <a:noFill/>
          <a:ln/>
        </p:spPr>
        <p:txBody>
          <a:bodyPr wrap="square" lIns="0" tIns="0" rIns="0" bIns="0" rtlCol="0" anchor="ctr"/>
          <a:lstStyle/>
          <a:p>
            <a:pPr marL="0" indent="0" algn="ctr">
              <a:buNone/>
            </a:pPr>
            <a:r>
              <a:rPr lang="en-US" sz="5400" b="1" dirty="0">
                <a:solidFill>
                  <a:srgbClr val="E8573F"/>
                </a:solidFill>
                <a:latin typeface="Cambria" pitchFamily="34" charset="0"/>
                <a:ea typeface="Cambria" pitchFamily="34" charset="-122"/>
                <a:cs typeface="Cambria" pitchFamily="34" charset="-120"/>
              </a:rPr>
              <a:t>70 %</a:t>
            </a:r>
            <a:endParaRPr lang="en-US" sz="5400" dirty="0"/>
          </a:p>
        </p:txBody>
      </p:sp>
      <p:sp>
        <p:nvSpPr>
          <p:cNvPr id="7" name="Text 5"/>
          <p:cNvSpPr txBox="1"/>
          <p:nvPr/>
        </p:nvSpPr>
        <p:spPr>
          <a:xfrm>
            <a:off x="4434840" y="3063240"/>
            <a:ext cx="3291840" cy="548640"/>
          </a:xfrm>
          <a:prstGeom prst="rect">
            <a:avLst/>
          </a:prstGeom>
          <a:noFill/>
          <a:ln/>
        </p:spPr>
        <p:txBody>
          <a:bodyPr wrap="square" lIns="0" tIns="0" rIns="0" bIns="0" rtlCol="0" anchor="ctr"/>
          <a:lstStyle/>
          <a:p>
            <a:pPr marL="0" indent="0" algn="ctr">
              <a:buNone/>
            </a:pPr>
            <a:r>
              <a:rPr lang="en-US" sz="1500" dirty="0">
                <a:solidFill>
                  <a:srgbClr val="E9EEF5"/>
                </a:solidFill>
                <a:latin typeface="Calibri" pitchFamily="34" charset="0"/>
                <a:ea typeface="Calibri" pitchFamily="34" charset="-122"/>
                <a:cs typeface="Calibri" pitchFamily="34" charset="-120"/>
              </a:rPr>
              <a:t>Fraudes détectées (rappel)</a:t>
            </a:r>
            <a:endParaRPr lang="en-US" sz="1500" dirty="0"/>
          </a:p>
        </p:txBody>
      </p:sp>
      <p:sp>
        <p:nvSpPr>
          <p:cNvPr id="8" name="Text 6"/>
          <p:cNvSpPr txBox="1"/>
          <p:nvPr/>
        </p:nvSpPr>
        <p:spPr>
          <a:xfrm>
            <a:off x="8138160" y="2103120"/>
            <a:ext cx="3291840" cy="914400"/>
          </a:xfrm>
          <a:prstGeom prst="rect">
            <a:avLst/>
          </a:prstGeom>
          <a:noFill/>
          <a:ln/>
        </p:spPr>
        <p:txBody>
          <a:bodyPr wrap="square" lIns="0" tIns="0" rIns="0" bIns="0" rtlCol="0" anchor="ctr"/>
          <a:lstStyle/>
          <a:p>
            <a:pPr marL="0" indent="0" algn="ctr">
              <a:buNone/>
            </a:pPr>
            <a:r>
              <a:rPr lang="en-US" sz="5400" b="1" dirty="0">
                <a:solidFill>
                  <a:srgbClr val="E8573F"/>
                </a:solidFill>
                <a:latin typeface="Cambria" pitchFamily="34" charset="0"/>
                <a:ea typeface="Cambria" pitchFamily="34" charset="-122"/>
                <a:cs typeface="Cambria" pitchFamily="34" charset="-120"/>
              </a:rPr>
              <a:t>1/min</a:t>
            </a:r>
            <a:endParaRPr lang="en-US" sz="5400" dirty="0"/>
          </a:p>
        </p:txBody>
      </p:sp>
      <p:sp>
        <p:nvSpPr>
          <p:cNvPr id="9" name="Text 7"/>
          <p:cNvSpPr txBox="1"/>
          <p:nvPr/>
        </p:nvSpPr>
        <p:spPr>
          <a:xfrm>
            <a:off x="8138160" y="3063240"/>
            <a:ext cx="3291840" cy="548640"/>
          </a:xfrm>
          <a:prstGeom prst="rect">
            <a:avLst/>
          </a:prstGeom>
          <a:noFill/>
          <a:ln/>
        </p:spPr>
        <p:txBody>
          <a:bodyPr wrap="square" lIns="0" tIns="0" rIns="0" bIns="0" rtlCol="0" anchor="ctr"/>
          <a:lstStyle/>
          <a:p>
            <a:pPr marL="0" indent="0" algn="ctr">
              <a:buNone/>
            </a:pPr>
            <a:r>
              <a:rPr lang="en-US" sz="1500" dirty="0">
                <a:solidFill>
                  <a:srgbClr val="E9EEF5"/>
                </a:solidFill>
                <a:latin typeface="Calibri" pitchFamily="34" charset="0"/>
                <a:ea typeface="Calibri" pitchFamily="34" charset="-122"/>
                <a:cs typeface="Calibri" pitchFamily="34" charset="-120"/>
              </a:rPr>
              <a:t>Paiements traités, en continu</a:t>
            </a:r>
            <a:endParaRPr lang="en-US" sz="1500" dirty="0"/>
          </a:p>
        </p:txBody>
      </p:sp>
      <p:sp>
        <p:nvSpPr>
          <p:cNvPr id="10" name="Shape 8"/>
          <p:cNvSpPr/>
          <p:nvPr/>
        </p:nvSpPr>
        <p:spPr>
          <a:xfrm>
            <a:off x="777240" y="4114800"/>
            <a:ext cx="10607040" cy="0"/>
          </a:xfrm>
          <a:prstGeom prst="line">
            <a:avLst/>
          </a:prstGeom>
          <a:noFill/>
          <a:ln w="12700">
            <a:solidFill>
              <a:srgbClr val="3A4A6B"/>
            </a:solidFill>
            <a:prstDash val="solid"/>
          </a:ln>
        </p:spPr>
        <p:txBody>
          <a:bodyPr/>
          <a:lstStyle/>
          <a:p>
            <a:endParaRPr lang="fr-FR"/>
          </a:p>
        </p:txBody>
      </p:sp>
      <p:sp>
        <p:nvSpPr>
          <p:cNvPr id="11" name="Text 9"/>
          <p:cNvSpPr txBox="1"/>
          <p:nvPr/>
        </p:nvSpPr>
        <p:spPr>
          <a:xfrm>
            <a:off x="731520" y="4297680"/>
            <a:ext cx="100584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Pistes d'amélioration</a:t>
            </a:r>
            <a:endParaRPr lang="en-US" sz="1500" dirty="0"/>
          </a:p>
        </p:txBody>
      </p:sp>
      <p:sp>
        <p:nvSpPr>
          <p:cNvPr id="12" name="Text 10"/>
          <p:cNvSpPr txBox="1"/>
          <p:nvPr/>
        </p:nvSpPr>
        <p:spPr>
          <a:xfrm>
            <a:off x="914400" y="4709160"/>
            <a:ext cx="10332720" cy="1463040"/>
          </a:xfrm>
          <a:prstGeom prst="rect">
            <a:avLst/>
          </a:prstGeom>
          <a:noFill/>
          <a:ln/>
        </p:spPr>
        <p:txBody>
          <a:bodyPr wrap="square" lIns="0" tIns="0" rIns="0" bIns="0" rtlCol="0" anchor="ctr"/>
          <a:lstStyle/>
          <a:p>
            <a:pPr marL="342900" indent="-342900">
              <a:lnSpc>
                <a:spcPts val="2600"/>
              </a:lnSpc>
              <a:spcAft>
                <a:spcPts val="600"/>
              </a:spcAft>
              <a:buSzPct val="100000"/>
              <a:buChar char="•"/>
            </a:pPr>
            <a:r>
              <a:rPr lang="en-US" sz="1500" dirty="0">
                <a:solidFill>
                  <a:srgbClr val="E9EEF5"/>
                </a:solidFill>
                <a:latin typeface="Calibri" pitchFamily="34" charset="0"/>
                <a:ea typeface="Calibri" pitchFamily="34" charset="-122"/>
                <a:cs typeface="Calibri" pitchFamily="34" charset="-120"/>
              </a:rPr>
              <a:t>Mettre le modèle en cache pour accélérer le traitement</a:t>
            </a:r>
            <a:endParaRPr lang="en-US" sz="1500" dirty="0"/>
          </a:p>
          <a:p>
            <a:pPr marL="342900" indent="-342900">
              <a:lnSpc>
                <a:spcPts val="2600"/>
              </a:lnSpc>
              <a:spcAft>
                <a:spcPts val="600"/>
              </a:spcAft>
              <a:buSzPct val="100000"/>
              <a:buChar char="•"/>
            </a:pPr>
            <a:r>
              <a:rPr lang="en-US" sz="1500" dirty="0">
                <a:solidFill>
                  <a:srgbClr val="E9EEF5"/>
                </a:solidFill>
                <a:latin typeface="Calibri" pitchFamily="34" charset="0"/>
                <a:ea typeface="Calibri" pitchFamily="34" charset="-122"/>
                <a:cs typeface="Calibri" pitchFamily="34" charset="-120"/>
              </a:rPr>
              <a:t>Ajuster le seuil de décision pour attraper plus de fraudes</a:t>
            </a:r>
            <a:endParaRPr lang="en-US" sz="1500" dirty="0"/>
          </a:p>
          <a:p>
            <a:pPr marL="342900" indent="-342900">
              <a:lnSpc>
                <a:spcPts val="2600"/>
              </a:lnSpc>
              <a:spcAft>
                <a:spcPts val="600"/>
              </a:spcAft>
              <a:buSzPct val="100000"/>
              <a:buChar char="•"/>
            </a:pPr>
            <a:r>
              <a:rPr lang="en-US" sz="1500" dirty="0">
                <a:solidFill>
                  <a:srgbClr val="E9EEF5"/>
                </a:solidFill>
                <a:latin typeface="Calibri" pitchFamily="34" charset="0"/>
                <a:ea typeface="Calibri" pitchFamily="34" charset="-122"/>
                <a:cs typeface="Calibri" pitchFamily="34" charset="-120"/>
              </a:rPr>
              <a:t>Passer au cloud et au mode distribué si le volume augmente</a:t>
            </a:r>
            <a:endParaRPr lang="en-US" sz="1500" dirty="0"/>
          </a:p>
        </p:txBody>
      </p:sp>
      <p:sp>
        <p:nvSpPr>
          <p:cNvPr id="14" name="Text 11"/>
          <p:cNvSpPr txBox="1"/>
          <p:nvPr/>
        </p:nvSpPr>
        <p:spPr>
          <a:xfrm>
            <a:off x="11292840" y="6355080"/>
            <a:ext cx="731520" cy="365760"/>
          </a:xfrm>
          <a:prstGeom prst="rect">
            <a:avLst/>
          </a:prstGeom>
          <a:noFill/>
          <a:ln/>
        </p:spPr>
        <p:txBody>
          <a:bodyPr wrap="square" lIns="0" tIns="0" rIns="0" bIns="0" rtlCol="0" anchor="ctr"/>
          <a:lstStyle/>
          <a:p>
            <a:pPr marL="0" indent="0" algn="r">
              <a:buNone/>
            </a:pPr>
            <a:r>
              <a:rPr lang="en-US" sz="1100" dirty="0">
                <a:solidFill>
                  <a:srgbClr val="8A93A8"/>
                </a:solidFill>
                <a:latin typeface="Calibri" pitchFamily="34" charset="0"/>
                <a:ea typeface="Calibri" pitchFamily="34" charset="-122"/>
                <a:cs typeface="Calibri" pitchFamily="34" charset="-120"/>
              </a:rPr>
              <a:t>7 / 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696</Words>
  <Application>Microsoft Office PowerPoint</Application>
  <PresentationFormat>Grand écran</PresentationFormat>
  <Paragraphs>85</Paragraphs>
  <Slides>7</Slides>
  <Notes>7</Notes>
  <HiddenSlides>0</HiddenSlides>
  <MMClips>1</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7</vt:i4>
      </vt:variant>
    </vt:vector>
  </HeadingPairs>
  <TitlesOfParts>
    <vt:vector size="11"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Détection de fraude en temps réel</dc:title>
  <dc:subject>PptxGenJS Presentation</dc:subject>
  <dc:creator>Aïcha Fathellah</dc:creator>
  <cp:lastModifiedBy>Aicha FATHELLAH</cp:lastModifiedBy>
  <cp:revision>3</cp:revision>
  <dcterms:created xsi:type="dcterms:W3CDTF">2026-10-03T15:05:15Z</dcterms:created>
  <dcterms:modified xsi:type="dcterms:W3CDTF">2026-10-03T15:10:16Z</dcterms:modified>
</cp:coreProperties>
</file>